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Số thực thể trong train theo loại</a:t>
            </a:r>
          </a:p>
        </c:rich>
      </c:tx>
      <c:layout/>
      <c:overlay val="0"/>
    </c:title>
    <c:autoTitleDeleted val="0"/>
    <c:plotArea>
      <c:layout/>
      <c:barChart>
        <c:barDir val="bar"/>
        <c:grouping val="clustered"/>
        <c:varyColors val="0"/>
        <c:ser>
          <c:idx val="0"/>
          <c:order val="0"/>
          <c:tx>
            <c:strRef>
              <c:f>Sheet1!$B$1</c:f>
              <c:strCache>
                <c:ptCount val="1"/>
                <c:pt idx="0">
                  <c:v>train</c:v>
                </c:pt>
              </c:strCache>
            </c:strRef>
          </c:tx>
          <c:spPr>
            <a:solidFill>
              <a:srgbClr val="4C72B0"/>
            </a:solidFill>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Sheet1!$B$2:$B$19</c:f>
              <c:numCache>
                <c:formatCode>General</c:formatCode>
                <c:ptCount val="18"/>
                <c:pt idx="0">
                  <c:v>2975</c:v>
                </c:pt>
                <c:pt idx="1">
                  <c:v>1972</c:v>
                </c:pt>
                <c:pt idx="2">
                  <c:v>1127</c:v>
                </c:pt>
                <c:pt idx="3">
                  <c:v>822</c:v>
                </c:pt>
                <c:pt idx="4">
                  <c:v>740</c:v>
                </c:pt>
                <c:pt idx="5">
                  <c:v>698</c:v>
                </c:pt>
                <c:pt idx="6">
                  <c:v>547</c:v>
                </c:pt>
                <c:pt idx="7">
                  <c:v>456</c:v>
                </c:pt>
                <c:pt idx="8">
                  <c:v>384</c:v>
                </c:pt>
                <c:pt idx="9">
                  <c:v>373</c:v>
                </c:pt>
                <c:pt idx="10">
                  <c:v>343</c:v>
                </c:pt>
                <c:pt idx="11">
                  <c:v>327</c:v>
                </c:pt>
                <c:pt idx="12">
                  <c:v>292</c:v>
                </c:pt>
                <c:pt idx="13">
                  <c:v>257</c:v>
                </c:pt>
                <c:pt idx="14">
                  <c:v>210</c:v>
                </c:pt>
                <c:pt idx="15">
                  <c:v>200</c:v>
                </c:pt>
                <c:pt idx="16">
                  <c:v>19</c:v>
                </c:pt>
                <c:pt idx="17">
                  <c:v>5</c:v>
                </c:pt>
              </c:numCache>
            </c:numRef>
          </c:val>
        </c:ser>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C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Logistic Regression: F1 validation (%) theo C</a:t>
            </a:r>
          </a:p>
        </c:rich>
      </c:tx>
      <c:layout/>
      <c:overlay val="0"/>
    </c:title>
    <c:autoTitleDeleted val="0"/>
    <c:plotArea>
      <c:layout/>
      <c:barChart>
        <c:barDir val="col"/>
        <c:grouping val="clustered"/>
        <c:varyColors val="0"/>
        <c:ser>
          <c:idx val="0"/>
          <c:order val="0"/>
          <c:tx>
            <c:strRef>
              <c:f>Sheet1!$B$1</c:f>
              <c:strCache>
                <c:ptCount val="1"/>
                <c:pt idx="0">
                  <c:v>F1 validation</c:v>
                </c:pt>
              </c:strCache>
            </c:strRef>
          </c:tx>
          <c:spPr>
            <a:solidFill>
              <a:srgbClr val="4C72B0"/>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 = 0,1</c:v>
                  </c:pt>
                  <c:pt idx="1">
                    <c:v>C = 1</c:v>
                  </c:pt>
                  <c:pt idx="2">
                    <c:v>C = 10</c:v>
                  </c:pt>
                  <c:pt idx="3">
                    <c:v>C = 30</c:v>
                  </c:pt>
                </c:lvl>
              </c:multiLvlStrCache>
            </c:multiLvlStrRef>
          </c:cat>
          <c:val>
            <c:numRef>
              <c:f>Sheet1!$B$2:$B$5</c:f>
              <c:numCache>
                <c:formatCode>General</c:formatCode>
                <c:ptCount val="4"/>
                <c:pt idx="0">
                  <c:v>70.7</c:v>
                </c:pt>
                <c:pt idx="1">
                  <c:v>82.2</c:v>
                </c:pt>
                <c:pt idx="2">
                  <c:v>83.2</c:v>
                </c:pt>
                <c:pt idx="3">
                  <c:v>82.7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Linear SVM: F1 validation (%) theo C</a:t>
            </a:r>
          </a:p>
        </c:rich>
      </c:tx>
      <c:layout/>
      <c:overlay val="0"/>
    </c:title>
    <c:autoTitleDeleted val="0"/>
    <c:plotArea>
      <c:layout/>
      <c:barChart>
        <c:barDir val="col"/>
        <c:grouping val="clustered"/>
        <c:varyColors val="0"/>
        <c:ser>
          <c:idx val="0"/>
          <c:order val="0"/>
          <c:tx>
            <c:strRef>
              <c:f>Sheet1!$B$1</c:f>
              <c:strCache>
                <c:ptCount val="1"/>
                <c:pt idx="0">
                  <c:v>F1 validation</c:v>
                </c:pt>
              </c:strCache>
            </c:strRef>
          </c:tx>
          <c:spPr>
            <a:solidFill>
              <a:srgbClr val="DD8452"/>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C = 0,01</c:v>
                  </c:pt>
                  <c:pt idx="1">
                    <c:v>C = 0,1</c:v>
                  </c:pt>
                  <c:pt idx="2">
                    <c:v>C = 1</c:v>
                  </c:pt>
                  <c:pt idx="3">
                    <c:v>C = 3</c:v>
                  </c:pt>
                  <c:pt idx="4">
                    <c:v>C = 10</c:v>
                  </c:pt>
                </c:lvl>
              </c:multiLvlStrCache>
            </c:multiLvlStrRef>
          </c:cat>
          <c:val>
            <c:numRef>
              <c:f>Sheet1!$B$2:$B$6</c:f>
              <c:numCache>
                <c:formatCode>General</c:formatCode>
                <c:ptCount val="5"/>
                <c:pt idx="0">
                  <c:v>70.5</c:v>
                </c:pt>
                <c:pt idx="1">
                  <c:v>83.2</c:v>
                </c:pt>
                <c:pt idx="2">
                  <c:v>84.5</c:v>
                </c:pt>
                <c:pt idx="3">
                  <c:v>83.8</c:v>
                </c:pt>
                <c:pt idx="4">
                  <c:v>81.7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Lưới c1 × c2: F1 validation (%)</a:t>
            </a:r>
          </a:p>
        </c:rich>
      </c:tx>
      <c:layout/>
      <c:overlay val="0"/>
    </c:title>
    <c:autoTitleDeleted val="0"/>
    <c:plotArea>
      <c:layout/>
      <c:barChart>
        <c:barDir val="col"/>
        <c:grouping val="clustered"/>
        <c:varyColors val="0"/>
        <c:ser>
          <c:idx val="0"/>
          <c:order val="0"/>
          <c:tx>
            <c:strRef>
              <c:f>Sheet1!$B$1</c:f>
              <c:strCache>
                <c:ptCount val="1"/>
                <c:pt idx="0">
                  <c:v>c1 = 0,01</c:v>
                </c:pt>
              </c:strCache>
            </c:strRef>
          </c:tx>
          <c:spPr>
            <a:solidFill>
              <a:srgbClr val="4C72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c2 = 0,01</c:v>
                  </c:pt>
                  <c:pt idx="1">
                    <c:v>c2 = 0,1</c:v>
                  </c:pt>
                  <c:pt idx="2">
                    <c:v>c2 = 1</c:v>
                  </c:pt>
                </c:lvl>
              </c:multiLvlStrCache>
            </c:multiLvlStrRef>
          </c:cat>
          <c:val>
            <c:numRef>
              <c:f>Sheet1!$B$2:$B$4</c:f>
              <c:numCache>
                <c:formatCode>General</c:formatCode>
                <c:ptCount val="3"/>
                <c:pt idx="0">
                  <c:v>88.9</c:v>
                </c:pt>
                <c:pt idx="1">
                  <c:v>88.4</c:v>
                </c:pt>
                <c:pt idx="2">
                  <c:v>84.7</c:v>
                </c:pt>
              </c:numCache>
            </c:numRef>
          </c:val>
        </c:ser>
        <c:ser>
          <c:idx val="1"/>
          <c:order val="1"/>
          <c:tx>
            <c:strRef>
              <c:f>Sheet1!$C$1</c:f>
              <c:strCache>
                <c:ptCount val="1"/>
                <c:pt idx="0">
                  <c:v>c1 = 0,1</c:v>
                </c:pt>
              </c:strCache>
            </c:strRef>
          </c:tx>
          <c:spPr>
            <a:solidFill>
              <a:srgbClr val="DD84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c2 = 0,01</c:v>
                  </c:pt>
                  <c:pt idx="1">
                    <c:v>c2 = 0,1</c:v>
                  </c:pt>
                  <c:pt idx="2">
                    <c:v>c2 = 1</c:v>
                  </c:pt>
                </c:lvl>
              </c:multiLvlStrCache>
            </c:multiLvlStrRef>
          </c:cat>
          <c:val>
            <c:numRef>
              <c:f>Sheet1!$C$2:$C$4</c:f>
              <c:numCache>
                <c:formatCode>General</c:formatCode>
                <c:ptCount val="3"/>
                <c:pt idx="0">
                  <c:v>89.2</c:v>
                </c:pt>
                <c:pt idx="1">
                  <c:v>88.6</c:v>
                </c:pt>
                <c:pt idx="2">
                  <c:v>84.6</c:v>
                </c:pt>
              </c:numCache>
            </c:numRef>
          </c:val>
        </c:ser>
        <c:ser>
          <c:idx val="2"/>
          <c:order val="2"/>
          <c:tx>
            <c:strRef>
              <c:f>Sheet1!$D$1</c:f>
              <c:strCache>
                <c:ptCount val="1"/>
                <c:pt idx="0">
                  <c:v>c1 = 0,5</c:v>
                </c:pt>
              </c:strCache>
            </c:strRef>
          </c:tx>
          <c:spPr>
            <a:solidFill>
              <a:srgbClr val="55A86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c2 = 0,01</c:v>
                  </c:pt>
                  <c:pt idx="1">
                    <c:v>c2 = 0,1</c:v>
                  </c:pt>
                  <c:pt idx="2">
                    <c:v>c2 = 1</c:v>
                  </c:pt>
                </c:lvl>
              </c:multiLvlStrCache>
            </c:multiLvlStrRef>
          </c:cat>
          <c:val>
            <c:numRef>
              <c:f>Sheet1!$D$2:$D$4</c:f>
              <c:numCache>
                <c:formatCode>General</c:formatCode>
                <c:ptCount val="3"/>
                <c:pt idx="0">
                  <c:v>87.7</c:v>
                </c:pt>
                <c:pt idx="1">
                  <c:v>86.9</c:v>
                </c:pt>
                <c:pt idx="2">
                  <c:v>83.8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92"/>
          <c:min val="8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Đường cong học: F1 (%) theo số câu train</a:t>
            </a:r>
          </a:p>
        </c:rich>
      </c:tx>
      <c:layout/>
      <c:overlay val="0"/>
    </c:title>
    <c:autoTitleDeleted val="0"/>
    <c:plotArea>
      <c:layout/>
      <c:lineChart>
        <c:varyColors val="0"/>
        <c:ser>
          <c:idx val="0"/>
          <c:order val="0"/>
          <c:tx>
            <c:strRef>
              <c:f>Sheet1!$B$1</c:f>
              <c:strCache>
                <c:ptCount val="1"/>
                <c:pt idx="0">
                  <c:v>train</c:v>
                </c:pt>
              </c:strCache>
            </c:strRef>
          </c:tx>
          <c:spPr>
            <a:solidFill>
              <a:srgbClr val="4C72B0"/>
            </a:solidFill>
            <a:ln w="31750" cap="flat">
              <a:solidFill>
                <a:srgbClr val="4C72B0"/>
              </a:solidFill>
              <a:prstDash val="solid"/>
              <a:round/>
            </a:ln>
            <a:effectLst/>
          </c:spPr>
          <c:invertIfNegative val="0"/>
          <c:dLbls>
            <c:numFmt formatCode="#,##0" sourceLinked="0"/>
            <c:txPr>
              <a:bodyPr/>
              <a:lstStyle/>
              <a:p>
                <a:pPr>
                  <a:defRPr b="0" i="0" strike="noStrike" sz="850" u="none">
                    <a:solidFill>
                      <a:srgbClr val="000000"/>
                    </a:solidFill>
                    <a:latin typeface="Arial"/>
                  </a:defRPr>
                </a:pPr>
              </a:p>
            </c:txPr>
            <c:dLblPos val="t"/>
            <c:showLegendKey val="0"/>
            <c:showVal val="1"/>
            <c:showCatName val="0"/>
            <c:showSerName val="0"/>
            <c:showPercent val="0"/>
            <c:showBubbleSize val="0"/>
            <c:showLeaderLines val="0"/>
          </c:dLbls>
          <c:marker>
            <c:symbol val="circle"/>
            <c:size val="7"/>
            <c:spPr>
              <a:solidFill>
                <a:srgbClr val="4C72B0"/>
              </a:solidFill>
              <a:ln w="9525" cap="flat">
                <a:solidFill>
                  <a:srgbClr val="4C72B0"/>
                </a:solidFill>
                <a:prstDash val="solid"/>
                <a:round/>
              </a:ln>
              <a:effectLst/>
            </c:spPr>
          </c:marker>
          <c:cat>
            <c:multiLvlStrRef>
              <c:f>Sheet1!$A$2:$A$6</c:f>
              <c:multiLvlStrCache>
                <c:ptCount val="5"/>
                <c:lvl>
                  <c:pt idx="0">
                    <c:v>461</c:v>
                  </c:pt>
                  <c:pt idx="1">
                    <c:v>1.154</c:v>
                  </c:pt>
                  <c:pt idx="2">
                    <c:v>2.308</c:v>
                  </c:pt>
                  <c:pt idx="3">
                    <c:v>3.462</c:v>
                  </c:pt>
                  <c:pt idx="4">
                    <c:v>4.616</c:v>
                  </c:pt>
                </c:lvl>
              </c:multiLvlStrCache>
            </c:multiLvlStrRef>
          </c:cat>
          <c:val>
            <c:numRef>
              <c:f>Sheet1!$B$2:$B$6</c:f>
              <c:numCache>
                <c:formatCode>General</c:formatCode>
                <c:ptCount val="5"/>
                <c:pt idx="0">
                  <c:v>100</c:v>
                </c:pt>
                <c:pt idx="1">
                  <c:v>100</c:v>
                </c:pt>
                <c:pt idx="2">
                  <c:v>100</c:v>
                </c:pt>
                <c:pt idx="3">
                  <c:v>100</c:v>
                </c:pt>
                <c:pt idx="4">
                  <c:v>100</c:v>
                </c:pt>
              </c:numCache>
            </c:numRef>
          </c:val>
          <c:smooth val="0"/>
        </c:ser>
        <c:ser>
          <c:idx val="1"/>
          <c:order val="1"/>
          <c:tx>
            <c:strRef>
              <c:f>Sheet1!$C$1</c:f>
              <c:strCache>
                <c:ptCount val="1"/>
                <c:pt idx="0">
                  <c:v>validation</c:v>
                </c:pt>
              </c:strCache>
            </c:strRef>
          </c:tx>
          <c:spPr>
            <a:solidFill>
              <a:srgbClr val="DD8452"/>
            </a:solidFill>
            <a:ln w="31750" cap="flat">
              <a:solidFill>
                <a:srgbClr val="DD8452"/>
              </a:solidFill>
              <a:prstDash val="solid"/>
              <a:round/>
            </a:ln>
            <a:effectLst/>
          </c:spPr>
          <c:invertIfNegative val="0"/>
          <c:dLbls>
            <c:numFmt formatCode="#,##0" sourceLinked="0"/>
            <c:txPr>
              <a:bodyPr/>
              <a:lstStyle/>
              <a:p>
                <a:pPr>
                  <a:defRPr b="0" i="0" strike="noStrike" sz="850" u="none">
                    <a:solidFill>
                      <a:srgbClr val="000000"/>
                    </a:solidFill>
                    <a:latin typeface="Arial"/>
                  </a:defRPr>
                </a:pPr>
              </a:p>
            </c:txPr>
            <c:dLblPos val="t"/>
            <c:showLegendKey val="0"/>
            <c:showVal val="1"/>
            <c:showCatName val="0"/>
            <c:showSerName val="0"/>
            <c:showPercent val="0"/>
            <c:showBubbleSize val="0"/>
            <c:showLeaderLines val="0"/>
          </c:dLbls>
          <c:marker>
            <c:symbol val="circle"/>
            <c:size val="7"/>
            <c:spPr>
              <a:solidFill>
                <a:srgbClr val="DD8452"/>
              </a:solidFill>
              <a:ln w="9525" cap="flat">
                <a:solidFill>
                  <a:srgbClr val="DD8452"/>
                </a:solidFill>
                <a:prstDash val="solid"/>
                <a:round/>
              </a:ln>
              <a:effectLst/>
            </c:spPr>
          </c:marker>
          <c:cat>
            <c:multiLvlStrRef>
              <c:f>Sheet1!$A$2:$A$6</c:f>
              <c:multiLvlStrCache>
                <c:ptCount val="5"/>
                <c:lvl>
                  <c:pt idx="0">
                    <c:v>461</c:v>
                  </c:pt>
                  <c:pt idx="1">
                    <c:v>1.154</c:v>
                  </c:pt>
                  <c:pt idx="2">
                    <c:v>2.308</c:v>
                  </c:pt>
                  <c:pt idx="3">
                    <c:v>3.462</c:v>
                  </c:pt>
                  <c:pt idx="4">
                    <c:v>4.616</c:v>
                  </c:pt>
                </c:lvl>
              </c:multiLvlStrCache>
            </c:multiLvlStrRef>
          </c:cat>
          <c:val>
            <c:numRef>
              <c:f>Sheet1!$C$2:$C$6</c:f>
              <c:numCache>
                <c:formatCode>General</c:formatCode>
                <c:ptCount val="5"/>
                <c:pt idx="0">
                  <c:v>70.3</c:v>
                </c:pt>
                <c:pt idx="1">
                  <c:v>79.2</c:v>
                </c:pt>
                <c:pt idx="2">
                  <c:v>84.2</c:v>
                </c:pt>
                <c:pt idx="3">
                  <c:v>86.8</c:v>
                </c:pt>
                <c:pt idx="4">
                  <c:v>89.2</c:v>
                </c:pt>
              </c:numCache>
            </c:numRef>
          </c:val>
          <c:smooth val="0"/>
        </c:ser>
        <c:ser>
          <c:idx val="2"/>
          <c:order val="2"/>
          <c:tx>
            <c:strRef>
              <c:f>Sheet1!$D$1</c:f>
              <c:strCache>
                <c:ptCount val="1"/>
                <c:pt idx="0">
                  <c:v>test</c:v>
                </c:pt>
              </c:strCache>
            </c:strRef>
          </c:tx>
          <c:spPr>
            <a:solidFill>
              <a:srgbClr val="55A868"/>
            </a:solidFill>
            <a:ln w="31750" cap="flat">
              <a:solidFill>
                <a:srgbClr val="55A868"/>
              </a:solidFill>
              <a:prstDash val="solid"/>
              <a:round/>
            </a:ln>
            <a:effectLst/>
          </c:spPr>
          <c:invertIfNegative val="0"/>
          <c:dLbls>
            <c:numFmt formatCode="#,##0" sourceLinked="0"/>
            <c:txPr>
              <a:bodyPr/>
              <a:lstStyle/>
              <a:p>
                <a:pPr>
                  <a:defRPr b="0" i="0" strike="noStrike" sz="850" u="none">
                    <a:solidFill>
                      <a:srgbClr val="000000"/>
                    </a:solidFill>
                    <a:latin typeface="Arial"/>
                  </a:defRPr>
                </a:pPr>
              </a:p>
            </c:txPr>
            <c:dLblPos val="t"/>
            <c:showLegendKey val="0"/>
            <c:showVal val="1"/>
            <c:showCatName val="0"/>
            <c:showSerName val="0"/>
            <c:showPercent val="0"/>
            <c:showBubbleSize val="0"/>
            <c:showLeaderLines val="0"/>
          </c:dLbls>
          <c:marker>
            <c:symbol val="circle"/>
            <c:size val="7"/>
            <c:spPr>
              <a:solidFill>
                <a:srgbClr val="55A868"/>
              </a:solidFill>
              <a:ln w="9525" cap="flat">
                <a:solidFill>
                  <a:srgbClr val="55A868"/>
                </a:solidFill>
                <a:prstDash val="solid"/>
                <a:round/>
              </a:ln>
              <a:effectLst/>
            </c:spPr>
          </c:marker>
          <c:cat>
            <c:multiLvlStrRef>
              <c:f>Sheet1!$A$2:$A$6</c:f>
              <c:multiLvlStrCache>
                <c:ptCount val="5"/>
                <c:lvl>
                  <c:pt idx="0">
                    <c:v>461</c:v>
                  </c:pt>
                  <c:pt idx="1">
                    <c:v>1.154</c:v>
                  </c:pt>
                  <c:pt idx="2">
                    <c:v>2.308</c:v>
                  </c:pt>
                  <c:pt idx="3">
                    <c:v>3.462</c:v>
                  </c:pt>
                  <c:pt idx="4">
                    <c:v>4.616</c:v>
                  </c:pt>
                </c:lvl>
              </c:multiLvlStrCache>
            </c:multiLvlStrRef>
          </c:cat>
          <c:val>
            <c:numRef>
              <c:f>Sheet1!$D$2:$D$6</c:f>
              <c:numCache>
                <c:formatCode>General</c:formatCode>
                <c:ptCount val="5"/>
                <c:pt idx="0">
                  <c:v>41.1</c:v>
                </c:pt>
                <c:pt idx="1">
                  <c:v>47.8</c:v>
                </c:pt>
                <c:pt idx="2">
                  <c:v>56.9</c:v>
                </c:pt>
                <c:pt idx="3">
                  <c:v>62.4</c:v>
                </c:pt>
                <c:pt idx="4">
                  <c:v>63.8</c:v>
                </c:pt>
              </c:numCache>
            </c:numRef>
          </c:val>
          <c:smooth val="0"/>
        </c:ser>
        <c:dLbls>
          <c:numFmt formatCode="#,##0" sourceLinked="0"/>
          <c:txPr>
            <a:bodyPr/>
            <a:lstStyle/>
            <a:p>
              <a:pPr>
                <a:defRPr b="0" i="0" strike="noStrike" sz="85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3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ViHealthBERT: F1 (%) theo epoch</a:t>
            </a:r>
          </a:p>
        </c:rich>
      </c:tx>
      <c:layout/>
      <c:overlay val="0"/>
    </c:title>
    <c:autoTitleDeleted val="0"/>
    <c:plotArea>
      <c:layout/>
      <c:lineChart>
        <c:varyColors val="0"/>
        <c:ser>
          <c:idx val="0"/>
          <c:order val="0"/>
          <c:tx>
            <c:strRef>
              <c:f>Sheet1!$B$1</c:f>
              <c:strCache>
                <c:ptCount val="1"/>
                <c:pt idx="0">
                  <c:v>train</c:v>
                </c:pt>
              </c:strCache>
            </c:strRef>
          </c:tx>
          <c:spPr>
            <a:solidFill>
              <a:srgbClr val="4C72B0"/>
            </a:solidFill>
            <a:ln w="31750" cap="flat">
              <a:solidFill>
                <a:srgbClr val="4C72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C72B0"/>
              </a:solidFill>
              <a:ln w="9525" cap="flat">
                <a:solidFill>
                  <a:srgbClr val="4C72B0"/>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60</c:v>
                </c:pt>
                <c:pt idx="1">
                  <c:v>81.4</c:v>
                </c:pt>
                <c:pt idx="2">
                  <c:v>87.3</c:v>
                </c:pt>
                <c:pt idx="3">
                  <c:v>91.6</c:v>
                </c:pt>
                <c:pt idx="4">
                  <c:v>93.9</c:v>
                </c:pt>
                <c:pt idx="5">
                  <c:v>95.2</c:v>
                </c:pt>
                <c:pt idx="6">
                  <c:v>96.5</c:v>
                </c:pt>
                <c:pt idx="7">
                  <c:v>96.8</c:v>
                </c:pt>
              </c:numCache>
            </c:numRef>
          </c:val>
          <c:smooth val="0"/>
        </c:ser>
        <c:ser>
          <c:idx val="1"/>
          <c:order val="1"/>
          <c:tx>
            <c:strRef>
              <c:f>Sheet1!$C$1</c:f>
              <c:strCache>
                <c:ptCount val="1"/>
                <c:pt idx="0">
                  <c:v>validation</c:v>
                </c:pt>
              </c:strCache>
            </c:strRef>
          </c:tx>
          <c:spPr>
            <a:solidFill>
              <a:srgbClr val="DD8452"/>
            </a:solidFill>
            <a:ln w="31750" cap="flat">
              <a:solidFill>
                <a:srgbClr val="DD84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D8452"/>
              </a:solidFill>
              <a:ln w="9525" cap="flat">
                <a:solidFill>
                  <a:srgbClr val="DD8452"/>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58.5</c:v>
                </c:pt>
                <c:pt idx="1">
                  <c:v>75.7</c:v>
                </c:pt>
                <c:pt idx="2">
                  <c:v>81.2</c:v>
                </c:pt>
                <c:pt idx="3">
                  <c:v>83</c:v>
                </c:pt>
                <c:pt idx="4">
                  <c:v>84.4</c:v>
                </c:pt>
                <c:pt idx="5">
                  <c:v>84.2</c:v>
                </c:pt>
                <c:pt idx="6">
                  <c:v>85.2</c:v>
                </c:pt>
                <c:pt idx="7">
                  <c:v>85.1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ViHealthBERT: loss theo epoch</a:t>
            </a:r>
          </a:p>
        </c:rich>
      </c:tx>
      <c:layout/>
      <c:overlay val="0"/>
    </c:title>
    <c:autoTitleDeleted val="0"/>
    <c:plotArea>
      <c:layout/>
      <c:lineChart>
        <c:varyColors val="0"/>
        <c:ser>
          <c:idx val="0"/>
          <c:order val="0"/>
          <c:tx>
            <c:strRef>
              <c:f>Sheet1!$B$1</c:f>
              <c:strCache>
                <c:ptCount val="1"/>
                <c:pt idx="0">
                  <c:v>train</c:v>
                </c:pt>
              </c:strCache>
            </c:strRef>
          </c:tx>
          <c:spPr>
            <a:solidFill>
              <a:srgbClr val="4C72B0"/>
            </a:solidFill>
            <a:ln w="31750" cap="flat">
              <a:solidFill>
                <a:srgbClr val="4C72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C72B0"/>
              </a:solidFill>
              <a:ln w="9525" cap="flat">
                <a:solidFill>
                  <a:srgbClr val="4C72B0"/>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0.451</c:v>
                </c:pt>
                <c:pt idx="1">
                  <c:v>0.201</c:v>
                </c:pt>
                <c:pt idx="2">
                  <c:v>0.127</c:v>
                </c:pt>
                <c:pt idx="3">
                  <c:v>0.082</c:v>
                </c:pt>
                <c:pt idx="4">
                  <c:v>0.056</c:v>
                </c:pt>
                <c:pt idx="5">
                  <c:v>0.045</c:v>
                </c:pt>
                <c:pt idx="6">
                  <c:v>0.034</c:v>
                </c:pt>
                <c:pt idx="7">
                  <c:v>0.032</c:v>
                </c:pt>
              </c:numCache>
            </c:numRef>
          </c:val>
          <c:smooth val="0"/>
        </c:ser>
        <c:ser>
          <c:idx val="1"/>
          <c:order val="1"/>
          <c:tx>
            <c:strRef>
              <c:f>Sheet1!$C$1</c:f>
              <c:strCache>
                <c:ptCount val="1"/>
                <c:pt idx="0">
                  <c:v>validation</c:v>
                </c:pt>
              </c:strCache>
            </c:strRef>
          </c:tx>
          <c:spPr>
            <a:solidFill>
              <a:srgbClr val="DD8452"/>
            </a:solidFill>
            <a:ln w="31750" cap="flat">
              <a:solidFill>
                <a:srgbClr val="DD84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D8452"/>
              </a:solidFill>
              <a:ln w="9525" cap="flat">
                <a:solidFill>
                  <a:srgbClr val="DD8452"/>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0.47</c:v>
                </c:pt>
                <c:pt idx="1">
                  <c:v>0.257</c:v>
                </c:pt>
                <c:pt idx="2">
                  <c:v>0.201</c:v>
                </c:pt>
                <c:pt idx="3">
                  <c:v>0.184</c:v>
                </c:pt>
                <c:pt idx="4">
                  <c:v>0.179</c:v>
                </c:pt>
                <c:pt idx="5">
                  <c:v>0.182</c:v>
                </c:pt>
                <c:pt idx="6">
                  <c:v>0.178</c:v>
                </c:pt>
                <c:pt idx="7">
                  <c:v>0.182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EC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Micro F1 test (%) trên cùng checkpoint</a:t>
            </a:r>
          </a:p>
        </c:rich>
      </c:tx>
      <c:layout/>
      <c:overlay val="0"/>
    </c:title>
    <c:autoTitleDeleted val="0"/>
    <c:plotArea>
      <c:layout/>
      <c:barChart>
        <c:barDir val="col"/>
        <c:grouping val="clustered"/>
        <c:varyColors val="0"/>
        <c:ser>
          <c:idx val="0"/>
          <c:order val="0"/>
          <c:tx>
            <c:strRef>
              <c:f>Sheet1!$B$1</c:f>
              <c:strCache>
                <c:ptCount val="1"/>
                <c:pt idx="0">
                  <c:v>Chấm cũ (có "_")</c:v>
                </c:pt>
              </c:strCache>
            </c:strRef>
          </c:tx>
          <c:spPr>
            <a:solidFill>
              <a:srgbClr val="A8B5C0"/>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XLM-R</c:v>
                  </c:pt>
                  <c:pt idx="1">
                    <c:v>PhoBERT</c:v>
                  </c:pt>
                  <c:pt idx="2">
                    <c:v>ViHealthBERT</c:v>
                  </c:pt>
                </c:lvl>
              </c:multiLvlStrCache>
            </c:multiLvlStrRef>
          </c:cat>
          <c:val>
            <c:numRef>
              <c:f>Sheet1!$B$2:$B$4</c:f>
              <c:numCache>
                <c:formatCode>General</c:formatCode>
                <c:ptCount val="3"/>
                <c:pt idx="0">
                  <c:v>56.8</c:v>
                </c:pt>
                <c:pt idx="1">
                  <c:v>60.9</c:v>
                </c:pt>
                <c:pt idx="2">
                  <c:v>61.3</c:v>
                </c:pt>
              </c:numCache>
            </c:numRef>
          </c:val>
        </c:ser>
        <c:ser>
          <c:idx val="1"/>
          <c:order val="1"/>
          <c:tx>
            <c:strRef>
              <c:f>Sheet1!$C$1</c:f>
              <c:strCache>
                <c:ptCount val="1"/>
                <c:pt idx="0">
                  <c:v>Chấm đúng (18 loại thật)</c:v>
                </c:pt>
              </c:strCache>
            </c:strRef>
          </c:tx>
          <c:spPr>
            <a:solidFill>
              <a:srgbClr val="E4572E"/>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XLM-R</c:v>
                  </c:pt>
                  <c:pt idx="1">
                    <c:v>PhoBERT</c:v>
                  </c:pt>
                  <c:pt idx="2">
                    <c:v>ViHealthBERT</c:v>
                  </c:pt>
                </c:lvl>
              </c:multiLvlStrCache>
            </c:multiLvlStrRef>
          </c:cat>
          <c:val>
            <c:numRef>
              <c:f>Sheet1!$C$2:$C$4</c:f>
              <c:numCache>
                <c:formatCode>General</c:formatCode>
                <c:ptCount val="3"/>
                <c:pt idx="0">
                  <c:v>58.6</c:v>
                </c:pt>
                <c:pt idx="1">
                  <c:v>62.4</c:v>
                </c:pt>
                <c:pt idx="2">
                  <c:v>62.7</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66"/>
          <c:min val="5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F1 (%): validation vs test</a:t>
            </a:r>
          </a:p>
        </c:rich>
      </c:tx>
      <c:layout/>
      <c:overlay val="0"/>
    </c:title>
    <c:autoTitleDeleted val="0"/>
    <c:plotArea>
      <c:layout/>
      <c:barChart>
        <c:barDir val="col"/>
        <c:grouping val="clustered"/>
        <c:varyColors val="0"/>
        <c:ser>
          <c:idx val="0"/>
          <c:order val="0"/>
          <c:tx>
            <c:strRef>
              <c:f>Sheet1!$B$1</c:f>
              <c:strCache>
                <c:ptCount val="1"/>
                <c:pt idx="0">
                  <c:v>validation</c:v>
                </c:pt>
              </c:strCache>
            </c:strRef>
          </c:tx>
          <c:spPr>
            <a:solidFill>
              <a:srgbClr val="A8B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Sheet1!$B$2:$B$7</c:f>
              <c:numCache>
                <c:formatCode>General</c:formatCode>
                <c:ptCount val="6"/>
                <c:pt idx="0">
                  <c:v>83.2</c:v>
                </c:pt>
                <c:pt idx="1">
                  <c:v>84.5</c:v>
                </c:pt>
                <c:pt idx="2">
                  <c:v>89.2</c:v>
                </c:pt>
                <c:pt idx="3">
                  <c:v>79.9</c:v>
                </c:pt>
                <c:pt idx="4">
                  <c:v>85.2</c:v>
                </c:pt>
                <c:pt idx="5">
                  <c:v>85.2</c:v>
                </c:pt>
              </c:numCache>
            </c:numRef>
          </c:val>
        </c:ser>
        <c:ser>
          <c:idx val="1"/>
          <c:order val="1"/>
          <c:tx>
            <c:strRef>
              <c:f>Sheet1!$C$1</c:f>
              <c:strCache>
                <c:ptCount val="1"/>
                <c:pt idx="0">
                  <c:v>test</c:v>
                </c:pt>
              </c:strCache>
            </c:strRef>
          </c:tx>
          <c:spPr>
            <a:solidFill>
              <a:srgbClr val="0F2A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Sheet1!$C$2:$C$7</c:f>
              <c:numCache>
                <c:formatCode>General</c:formatCode>
                <c:ptCount val="6"/>
                <c:pt idx="0">
                  <c:v>56.2</c:v>
                </c:pt>
                <c:pt idx="1">
                  <c:v>58.1</c:v>
                </c:pt>
                <c:pt idx="2">
                  <c:v>63.8</c:v>
                </c:pt>
                <c:pt idx="3">
                  <c:v>58.6</c:v>
                </c:pt>
                <c:pt idx="4">
                  <c:v>62.4</c:v>
                </c:pt>
                <c:pt idx="5">
                  <c:v>62.7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00000"/>
          <a:lstStyle/>
          <a:p>
            <a:pPr>
              <a:defRPr sz="85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ViHealthBERT − PhoBERT theo loại (điểm)</a:t>
            </a:r>
          </a:p>
        </c:rich>
      </c:tx>
      <c:layout/>
      <c:overlay val="0"/>
    </c:title>
    <c:autoTitleDeleted val="0"/>
    <c:plotArea>
      <c:layout/>
      <c:barChart>
        <c:barDir val="bar"/>
        <c:grouping val="clustered"/>
        <c:varyColors val="0"/>
        <c:ser>
          <c:idx val="0"/>
          <c:order val="0"/>
          <c:tx>
            <c:strRef>
              <c:f>Sheet1!$B$1</c:f>
              <c:strCache>
                <c:ptCount val="1"/>
                <c:pt idx="0">
                  <c:v>Δ F1 (điểm)</c:v>
                </c:pt>
              </c:strCache>
            </c:strRef>
          </c:tx>
          <c:spPr>
            <a:solidFill>
              <a:srgbClr val="2A9D8F"/>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MEDDEVICETECHNIQUE</c:v>
                  </c:pt>
                  <c:pt idx="1">
                    <c:v>DISEASESYMTOM</c:v>
                  </c:pt>
                  <c:pt idx="2">
                    <c:v>PERSONALCARE</c:v>
                  </c:pt>
                  <c:pt idx="3">
                    <c:v>SURGERY</c:v>
                  </c:pt>
                  <c:pt idx="4">
                    <c:v>TREATMENT</c:v>
                  </c:pt>
                  <c:pt idx="5">
                    <c:v>GENDER</c:v>
                  </c:pt>
                  <c:pt idx="6">
                    <c:v>LOCATION</c:v>
                  </c:pt>
                </c:lvl>
              </c:multiLvlStrCache>
            </c:multiLvlStrRef>
          </c:cat>
          <c:val>
            <c:numRef>
              <c:f>Sheet1!$B$2:$B$8</c:f>
              <c:numCache>
                <c:formatCode>General</c:formatCode>
                <c:ptCount val="7"/>
                <c:pt idx="0">
                  <c:v>4.9</c:v>
                </c:pt>
                <c:pt idx="1">
                  <c:v>4.7</c:v>
                </c:pt>
                <c:pt idx="2">
                  <c:v>-2.7</c:v>
                </c:pt>
                <c:pt idx="3">
                  <c:v>-3.2</c:v>
                </c:pt>
                <c:pt idx="4">
                  <c:v>-3.7</c:v>
                </c:pt>
                <c:pt idx="5">
                  <c:v>-5.8</c:v>
                </c:pt>
                <c:pt idx="6">
                  <c:v>-7.2</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C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Recall trên test (%)</a:t>
            </a:r>
          </a:p>
        </c:rich>
      </c:tx>
      <c:layout/>
      <c:overlay val="0"/>
    </c:title>
    <c:autoTitleDeleted val="0"/>
    <c:plotArea>
      <c:layout/>
      <c:barChart>
        <c:barDir val="col"/>
        <c:grouping val="clustered"/>
        <c:varyColors val="0"/>
        <c:ser>
          <c:idx val="0"/>
          <c:order val="0"/>
          <c:tx>
            <c:strRef>
              <c:f>Sheet1!$B$1</c:f>
              <c:strCache>
                <c:ptCount val="1"/>
                <c:pt idx="0">
                  <c:v>Đã gặp trong train</c:v>
                </c:pt>
              </c:strCache>
            </c:strRef>
          </c:tx>
          <c:spPr>
            <a:solidFill>
              <a:srgbClr val="4C72B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Sheet1!$B$2:$B$7</c:f>
              <c:numCache>
                <c:formatCode>General</c:formatCode>
                <c:ptCount val="6"/>
                <c:pt idx="0">
                  <c:v>81.2</c:v>
                </c:pt>
                <c:pt idx="1">
                  <c:v>87.1</c:v>
                </c:pt>
                <c:pt idx="2">
                  <c:v>83.2</c:v>
                </c:pt>
                <c:pt idx="3">
                  <c:v>77.3</c:v>
                </c:pt>
                <c:pt idx="4">
                  <c:v>84.3</c:v>
                </c:pt>
                <c:pt idx="5">
                  <c:v>83.9</c:v>
                </c:pt>
              </c:numCache>
            </c:numRef>
          </c:val>
        </c:ser>
        <c:ser>
          <c:idx val="1"/>
          <c:order val="1"/>
          <c:tx>
            <c:strRef>
              <c:f>Sheet1!$C$1</c:f>
              <c:strCache>
                <c:ptCount val="1"/>
                <c:pt idx="0">
                  <c:v>Chưa gặp trong train</c:v>
                </c:pt>
              </c:strCache>
            </c:strRef>
          </c:tx>
          <c:spPr>
            <a:solidFill>
              <a:srgbClr val="E4572E"/>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Sheet1!$C$2:$C$7</c:f>
              <c:numCache>
                <c:formatCode>General</c:formatCode>
                <c:ptCount val="6"/>
                <c:pt idx="0">
                  <c:v>4.9</c:v>
                </c:pt>
                <c:pt idx="1">
                  <c:v>5.4</c:v>
                </c:pt>
                <c:pt idx="2">
                  <c:v>13.9</c:v>
                </c:pt>
                <c:pt idx="3">
                  <c:v>41.2</c:v>
                </c:pt>
                <c:pt idx="4">
                  <c:v>35.6</c:v>
                </c:pt>
                <c:pt idx="5">
                  <c:v>41.9</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F1 test (%) theo loại, trung bình 3 seed</a:t>
            </a:r>
          </a:p>
        </c:rich>
      </c:tx>
      <c:layout/>
      <c:overlay val="0"/>
    </c:title>
    <c:autoTitleDeleted val="0"/>
    <c:plotArea>
      <c:layout/>
      <c:barChart>
        <c:barDir val="col"/>
        <c:grouping val="clustered"/>
        <c:varyColors val="0"/>
        <c:ser>
          <c:idx val="0"/>
          <c:order val="0"/>
          <c:tx>
            <c:strRef>
              <c:f>Sheet1!$B$1</c:f>
              <c:strCache>
                <c:ptCount val="1"/>
                <c:pt idx="0">
                  <c:v>PhoBERT</c:v>
                </c:pt>
              </c:strCache>
            </c:strRef>
          </c:tx>
          <c:spPr>
            <a:solidFill>
              <a:srgbClr val="9DB8D9"/>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LOCATION</c:v>
                  </c:pt>
                  <c:pt idx="1">
                    <c:v>DATETIME</c:v>
                  </c:pt>
                  <c:pt idx="2">
                    <c:v>ORGANIZATION</c:v>
                  </c:pt>
                </c:lvl>
              </c:multiLvlStrCache>
            </c:multiLvlStrRef>
          </c:cat>
          <c:val>
            <c:numRef>
              <c:f>Sheet1!$B$2:$B$4</c:f>
              <c:numCache>
                <c:formatCode>General</c:formatCode>
                <c:ptCount val="3"/>
                <c:pt idx="0">
                  <c:v>69.5</c:v>
                </c:pt>
                <c:pt idx="1">
                  <c:v>73.6</c:v>
                </c:pt>
                <c:pt idx="2">
                  <c:v>0.7</c:v>
                </c:pt>
              </c:numCache>
            </c:numRef>
          </c:val>
        </c:ser>
        <c:ser>
          <c:idx val="1"/>
          <c:order val="1"/>
          <c:tx>
            <c:strRef>
              <c:f>Sheet1!$C$1</c:f>
              <c:strCache>
                <c:ptCount val="1"/>
                <c:pt idx="0">
                  <c:v>PhoBERT + Vi-Ner</c:v>
                </c:pt>
              </c:strCache>
            </c:strRef>
          </c:tx>
          <c:spPr>
            <a:solidFill>
              <a:srgbClr val="4C72B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LOCATION</c:v>
                  </c:pt>
                  <c:pt idx="1">
                    <c:v>DATETIME</c:v>
                  </c:pt>
                  <c:pt idx="2">
                    <c:v>ORGANIZATION</c:v>
                  </c:pt>
                </c:lvl>
              </c:multiLvlStrCache>
            </c:multiLvlStrRef>
          </c:cat>
          <c:val>
            <c:numRef>
              <c:f>Sheet1!$C$2:$C$4</c:f>
              <c:numCache>
                <c:formatCode>General</c:formatCode>
                <c:ptCount val="3"/>
                <c:pt idx="0">
                  <c:v>74.9</c:v>
                </c:pt>
                <c:pt idx="1">
                  <c:v>70.8</c:v>
                </c:pt>
                <c:pt idx="2">
                  <c:v>0</c:v>
                </c:pt>
              </c:numCache>
            </c:numRef>
          </c:val>
        </c:ser>
        <c:ser>
          <c:idx val="2"/>
          <c:order val="2"/>
          <c:tx>
            <c:strRef>
              <c:f>Sheet1!$D$1</c:f>
              <c:strCache>
                <c:ptCount val="1"/>
                <c:pt idx="0">
                  <c:v>ViHealthBERT</c:v>
                </c:pt>
              </c:strCache>
            </c:strRef>
          </c:tx>
          <c:spPr>
            <a:solidFill>
              <a:srgbClr val="A8DCD4"/>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LOCATION</c:v>
                  </c:pt>
                  <c:pt idx="1">
                    <c:v>DATETIME</c:v>
                  </c:pt>
                  <c:pt idx="2">
                    <c:v>ORGANIZATION</c:v>
                  </c:pt>
                </c:lvl>
              </c:multiLvlStrCache>
            </c:multiLvlStrRef>
          </c:cat>
          <c:val>
            <c:numRef>
              <c:f>Sheet1!$D$2:$D$4</c:f>
              <c:numCache>
                <c:formatCode>General</c:formatCode>
                <c:ptCount val="3"/>
                <c:pt idx="0">
                  <c:v>66.8</c:v>
                </c:pt>
                <c:pt idx="1">
                  <c:v>74.3</c:v>
                </c:pt>
                <c:pt idx="2">
                  <c:v>0.7</c:v>
                </c:pt>
              </c:numCache>
            </c:numRef>
          </c:val>
        </c:ser>
        <c:ser>
          <c:idx val="3"/>
          <c:order val="3"/>
          <c:tx>
            <c:strRef>
              <c:f>Sheet1!$E$1</c:f>
              <c:strCache>
                <c:ptCount val="1"/>
                <c:pt idx="0">
                  <c:v>ViHealthBERT + Vi-Ner</c:v>
                </c:pt>
              </c:strCache>
            </c:strRef>
          </c:tx>
          <c:spPr>
            <a:solidFill>
              <a:srgbClr val="2A9D8F"/>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LOCATION</c:v>
                  </c:pt>
                  <c:pt idx="1">
                    <c:v>DATETIME</c:v>
                  </c:pt>
                  <c:pt idx="2">
                    <c:v>ORGANIZATION</c:v>
                  </c:pt>
                </c:lvl>
              </c:multiLvlStrCache>
            </c:multiLvlStrRef>
          </c:cat>
          <c:val>
            <c:numRef>
              <c:f>Sheet1!$E$2:$E$4</c:f>
              <c:numCache>
                <c:formatCode>General</c:formatCode>
                <c:ptCount val="3"/>
                <c:pt idx="0">
                  <c:v>72.3</c:v>
                </c:pt>
                <c:pt idx="1">
                  <c:v>70.7</c:v>
                </c:pt>
                <c:pt idx="2">
                  <c:v>3.1</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Entity micro F1 (%) của PhoBERT demo, 3.437 câu PhoWhisper</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0F2A3D"/>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ASR thô</c:v>
                  </c:pt>
                  <c:pt idx="1">
                    <c:v>ASR thô + chuẩn hoá</c:v>
                  </c:pt>
                  <c:pt idx="2">
                    <c:v>Đã sửa</c:v>
                  </c:pt>
                  <c:pt idx="3">
                    <c:v>Đã sửa + chuẩn hoá</c:v>
                  </c:pt>
                  <c:pt idx="4">
                    <c:v>Transcript chuẩn</c:v>
                  </c:pt>
                </c:lvl>
              </c:multiLvlStrCache>
            </c:multiLvlStrRef>
          </c:cat>
          <c:val>
            <c:numRef>
              <c:f>Sheet1!$B$2:$B$6</c:f>
              <c:numCache>
                <c:formatCode>General</c:formatCode>
                <c:ptCount val="5"/>
                <c:pt idx="0">
                  <c:v>50.43</c:v>
                </c:pt>
                <c:pt idx="1">
                  <c:v>51.78</c:v>
                </c:pt>
                <c:pt idx="2">
                  <c:v>50.45</c:v>
                </c:pt>
                <c:pt idx="3">
                  <c:v>51.83</c:v>
                </c:pt>
                <c:pt idx="4">
                  <c:v>62.45</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66"/>
          <c:min val="4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và các bạn. Nhóm 8 trình bày đồ án môn Máy học: nhận dạng thực thể y tế trong hội thoại tiếng Việt trên bộ dữ liệu VietMed-NER. Bài trình bày kể lại đúng những gì nhóm đã huấn luyện và đo được, theo năm chương: dữ liệu và các phát hiện từ EDA, các mô hình từ cổ điển đến Transformer, kết quả sau khi sửa một lỗi chấm điểm mà nhóm tự phát hiện, những hướng đã thử nhưng không cải thiện, và cuối cùng là phía nhận dạng tiếng nói trong hệ thống demo. Mọi con số trên slide đều được đọc trực tiếp từ các file kết quả trong kho mã. Thời gian: 40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là nhận dạng thực thể có tên trong transcript hội thoại y tế. Mỗi âm tiết được gán một nhãn theo sơ đồ BIO; bộ dữ liệu có 18 loại thực thể, tức 37 nhãn. Ví dụ "rong huyết" và "rong kinh" là thực thể bệnh – triệu chứng. VietMed-NER có 4.616 câu train, 1.154 câu validation và 3.497 câu test. Điểm quan trọng: đây là lời nói được phiên âm, không phải văn bản viết. Toàn bộ dữ liệu viết thường, không có dấu câu, có từ đệm như "ạ", "vâng", số được đọc thành chữ, và có nhiều từ ngoại lai như tên thuốc, phần lớn nằm ngay trong thực thể. Vì vậy các mô hình dựa vào chữ hoa hay dấu câu sẽ không có tín hiệu đó. Dữ liệu sạch về mặt kỹ thuật: không có câu rỗng hay lệch độ dài.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hiện đầu tiên từ EDA là mất cân bằng. 78,5% token mang nhãn O, nên một mô hình đoán toàn O đã đạt accuracy khoảng 79%; vì vậy accuracy vô nghĩa và nhóm dùng F1 mức thực thể. Giữa các loại, DISEASESYMTOM có 2.975 thực thể train, gấp 595 lần TRANSPORTATION chỉ có 5. Hai lớp hiếm là ORGANIZATION và TRANSPORTATION. Với lớp hiếm, số trên tập test rất nhạy: một thực thể TRANSPORTATION đúng hay sai làm recall của lớp đó thay đổi 3,7 điểm. Nhóm ghi nhận điều này để không kết luận gì về lớp hiếm ở phần kết quả.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hiện thứ hai quyết định cả câu chuyện: tập test lệch miền so với train. Nhóm đối chiếu từng câu với bộ VietMed gốc và thấy train và validation được chia ngẫu nhiên từ cùng một nguồn, còn test là các bản ghi khác hẳn: chủ đề bệnh khác theo mã ICD-10, và hình thức ghi âm là podcast, talkshow thay vì tư vấn, điện thoại. Hệ quả: chỉ 6,7% thực thể validation chưa gặp trong train, nhưng ở test là 30,7%. Biểu đồ bên trái cho thấy tỉ lệ này đặc biệt cao ở thiết bị – kỹ thuật và phẫu thuật. Nhóm cũng kiểm tra trùng lặp: không có câu test nào trùng train, nên test không bị rò rỉ. Từ đây nhóm dự đoán: mô hình nào dựa vào ghi nhớ sẽ tụt mạnh trên test. Thời gian: 1 phút 10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nối mỗi phát hiện với một quyết định cụ thể. Vì nhãn O áp đảo, nhóm dùng F1 mức thực thể theo seqeval strict. Vì mất cân bằng, nhóm cân nhắc class weight nhưng không dùng: lớp hiếm chỉ có vài mẫu, nhân trọng số hàng trăm lần sẽ khiến mô hình học thuộc vài chuỗi; và để so sánh công bằng, cả sáu mô hình dùng cùng hàm mục tiêu. Vì lệch miền, nhóm báo cáo riêng khả năng nhận ra thực thể đã gặp và chưa gặp. Các lỗi nhãn nhỏ được giữ nguyên để không thay đổi tập test chính thức. Độ dài câu ngắn nên giới hạn 256 subword không cắt câu nào. Luật chơi chung: mọi lựa chọn dựa trên validation, test chỉ chấm một lần, và chênh lệch giữa hai mô hình được kiểm định bằng paired bootstrap. Thời gian: 1 phút 10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huấn luyện sáu mô hình thuộc hai họ. Họ cổ điển gồm Logistic Regression và Linear SVM phân loại từng âm tiết độc lập, và CRF giải mã cả chuỗi; cả ba dùng chung bộ đặc trưng thủ công như âm tiết, tiền tố, hậu tố và cửa sổ hai âm tiết mỗi bên. Họ Transformer gồm XLM-RoBERTa đa ngôn ngữ, dùng checkpoint do tác giả bộ dữ liệu công bố, PhoBERT pretrain trên tiếng Việt và ViHealthBERT pretrain thêm trên văn bản y tế; hai mô hình sau do nhóm tự fine-tune. Cột phải là cấu hình được chọn theo validation. Tất cả được chấm cùng thước đo seqeval strict và so sánh theo cặp bằng bootstrap.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mô hình đầu phân loại từng âm tiết độc lập. Biểu đồ dò hệ số C trên validation minh hoạ rõ đánh đổi bias – variance: C nhỏ là regularization mạnh, mô hình underfit, chỉ 70,5 đến 70,7%; C quá lớn thì SVM bắt đầu overfit và giảm lại. Cấu hình tốt nhất đạt khoảng 83 đến 85% trên validation. Trên test, SVM hơn Logistic Regression 1,87 điểm, khoảng tin cậy không chứa 0. Nhưng cả hai có một điểm yếu cấu trúc: không biết nhãn của âm tiết bên cạnh, nên sinh ra hơn một nghìn lần chuyển nhãn vô lý như I- đứng sau O, và gần như không nhận ra thực thể chưa gặp. Đó là lý do chuyển sang CRF.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CRF học thêm xác suất chuyển giữa các nhãn liền kề và giải mã cả câu cùng lúc. Lưới c1, c2 bên trái cho thấy regularization L2 mạnh, c2 bằng 1, làm giảm điểm rõ rệt; cấu hình tốt nhất là c1 = 0,1, c2 = 0,01. Với cùng đặc trưng, F1 test tăng 5,70 điểm so với SVM lên 63,80%, và cuối cùng đây là mô hình cao nhất trong cả sáu. Số chuyển nhãn vô lý giảm từ hơn một nghìn xuống 9. Nhưng đường cong học bên phải cho thấy train F1 gần 100% ở mọi cỡ dữ liệu: CRF ghi nhớ. Khi tách thực thể test, nó nhận ra 83% thực thể đã gặp nhưng chỉ 14% thực thể mới. Đường test vẫn còn đi lên, nên thêm dữ liệu cùng loại có thể còn giúp. Thời gian: 1 phút 10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hai Transformer do nhóm fine-tune, nhóm dò 18 cấu hình gồm learning rate, số epoch và weight decay. Hình cho thấy F1 validation tăng đều theo learning rate và số epoch: với learning rate 5e-6 và 4 epoch, PhoBERT chỉ đạt 29,5%, tức mô hình chưa học đủ, underfitting. Cấu hình tốt nhất nằm ở góc biên của lưới, nên có thể lưới chưa đủ rộng; đây là một hạn chế nhóm ghi nhận. Một lưu ý trung thực: các số trong hình được chấm trước khi nhóm phát hiện lỗi nhãn "0" mà em sẽ trình bày ngay sau đây, nên chỉ dùng để đọc xu hướng. Sau khi chấm lại đúng, PhoBERT đạt 62,42% và ViHealthBERT 62,74% trên test.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trả lời câu hỏi overfit hay underfit, nhóm huấn luyện lại ViHealthBERT và chấm cả train lẫn validation sau mỗi epoch. Ở epoch 1, cả hai đều thấp, khoảng 60% và 59%: underfitting. Từ epoch 2 đến 5, hai đường cùng tăng nhanh. Từ epoch 5 trở đi, train loss tiếp tục giảm còn validation loss đi ngang, train F1 lên 96,8% trong khi validation dừng quanh 85%: overfitting nhẹ. Tuy nhiên khoảng cách giữa validation và test, 21 đến 27 điểm, lớn hơn nhiều khoảng cách train – validation. Vì vậy nguyên nhân chính làm giảm điểm test không phải overfit mà là lệch miền đã thấy ở EDA.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nhóm muốn nhấn mạnh nhất về quy trình. Bộ dữ liệu ghi nhãn "ngoài thực thể" bằng ký tự số không, chứ không phải chữ O. Thư viện seqeval không nhận ra điều đó, nên coi mỗi đoạn số không là một thực thể giả thuộc loại gạch dưới, và cộng cả vào micro F1. Trên test có 6.772 thực thể giả như vậy, gần bằng số thực thể thật. Kết quả là các số cũ, ví dụ PhoBERT 60,90% và ViHealthBERT 61,28%, đều bị lệch. Sau khi đổi số không thành O và chấm lại trên cùng checkpoint, cả ba Transformer đều tăng 1,5 đến 1,8 điểm. Quan trọng hơn là kết luận: số cũ nói ViHealthBERT hơn PhoBERT 0,37 điểm; số đúng là 0,32 điểm với khoảng tin cậy từ −0,41 đến +1,04, chứa 0, tức hai mô hình ngang nhau. Bài học: phải kiểm tra tập nhãn trước khi tin vào thước đo. Thời gian: 1 phút 15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kết quả cuối cùng sau khi chấm đúng. CRF đạt F1 test cao nhất, 63,80%, chủ yếu nhờ precision cao nhất: nó ít đoán thừa. Ba Transformer có recall cao hơn nhưng precision thấp hơn nhiều, tức nhận ra nhiều thực thể hơn nhưng cũng đoán thừa và cắt sai ranh giới. Biểu đồ bên phải cho thấy một điều chung cho tất cả: F1 validation từ 80 đến 89%, nhưng xuống còn 56 đến 64% trên test. Khoảng cách 21 đến 27 điểm này xuất hiện ở mọi mô hình, nên nó đến từ dữ liệu, cụ thể là lệch miền, chứ không phải từ việc chọn mô hình. Cột khoảng tin cậy cho thấy chênh lệch nhỏ giữa các Transformer cần được kiểm định, là nội dung slide tiếp theo.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biết chênh lệch có thật hay không, nhóm dùng paired bootstrap trên tập test. CRF hơn cả PhoBERT và ViHealthBERT, và khoảng tin cậy không chứa 0, nên đó là khác biệt thật, dù chỉ khoảng một điểm. Giữa ViHealthBERT và PhoBERT, chênh lệch 0,32 điểm với khoảng tin cậy chứa 0: không kết luận được mô hình nào tốt hơn. Kết quả chạy lại ba seed với cách chấm đúng củng cố điều này: PhoBERT 62,98 ± 0,33 và ViHealthBERT 62,88 ± 0,12, chênh lệch nhỏ hơn độ dao động giữa các seed. Biểu đồ bên phải cho thấy pretrain y tế giúp một số loại nhưng làm giảm loại khác, nên tổng thể bù trừ nhau.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CRF thắng mà vẫn đáng lo? Nhóm tách thực thể test theo việc đã xuất hiện trong train hay chưa. Với thực thể đã gặp, sáu mô hình khá gần nhau, từ 77 đến 87%. Với thực thể chưa gặp, ba mô hình cổ điển chỉ nhận ra 5 đến 14%, trong khi ba Transformer nhận ra 36 đến 42%, gần gấp ba CRF. Nhưng vì khoảng 69% thực thể test là thực thể đã gặp, lợi thế ghi nhớ vẫn đủ để CRF dẫn đầu F1 tổng. Kết luận thực tế: nếu dữ liệu sử dụng lặp lại thuật ngữ như lúc huấn luyện thì CRF là lựa chọn rẻ và chính xác; nếu gặp chủ đề bệnh mới thì Transformer an toàn hơn.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nhiệt thể hiện F1 theo từng loại thực thể của sáu mô hình. Nghề nghiệp, thuốc – hoá chất, ngày giờ đạt cao ở mọi mô hình. Ngược lại, thiết bị – kỹ thuật, dự phòng, tổ chức thấp ở tất cả. Thiết bị – kỹ thuật khó vì 74% thực thể test của nó chưa gặp trong train. Với dự phòng, train có 343 mẫu nhưng test chỉ có 18, nên điểm dao động mạnh. Với hai lớp hiếm, ORGANIZATION và TRANSPORTATION, PhoBERT và ViHealthBERT đạt F1 cao nhất chỉ 0%; nhưng vì train chỉ có 19 và 5 mẫu, nhóm không rút ra kết luận nào về mô hình từ hai lớp này.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phân loại lỗi ở mức thực thể thành năm nhóm: khớp chính xác, lệch ranh giới, sai loại, bỏ sót và đoán thừa. Transformer bỏ sót ít hơn nhiều so với CRF, nhưng đoán thừa gần gấp đôi. Số thực thể bị sai loại rất ít ở mọi mô hình, nên vấn đề chính không phải nhầm loại mà là xác định ranh giới và đoán thừa. Confusion matrix bên trái của ViHealthBERT, chuẩn hoá theo hàng, cho thấy nhầm lẫn lớn nhất là giữa thực thể và nhãn O, và giữa các loại gần nghĩa như bệnh và cơ quan. Đây chính là loại lỗi mà lớp CRF xử lý tốt, nên hướng tự nhiên tiếp theo là BERT-CRF; nhóm chưa thực hiện hướng này. Thời gian: 50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EDA, nhóm thấy ORGANIZATION và LOCATION rất ít mẫu, trong khi bộ Vi-Ner có hàng nghìn mẫu cho các loại này. Nhóm thử fine-tune hai bước: học Vi-Ner trước, sau khi viết thường và bỏ dấu câu cho giống lời nói, rồi thay đầu phân loại và học VietMed-NER. Mỗi nhánh chạy ba seed với cùng siêu tham số và cách chấm đúng. Kết quả: F1 tổng không tăng, PhoBERT gần như đứng yên còn ViHealthBERT giảm 0,55 điểm. Theo loại, LOCATION tăng 5,4 đến 5,5 điểm nhưng DATETIME giảm 2,8 đến 3,6 điểm; ORGANIZATION thay đổi trong phạm vi nhiễu vì chỉ có 19 mẫu train. Thêm vào đó, Vi-Ner chưa rõ nguồn gốc và giấy phép. Vì vậy nhóm không thay checkpoint của demo.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thứ hai là sửa lỗi transcript của ASR trước khi đưa vào NER. Thử zero-shot với mô hình sửa lỗi tiếng Việt có sẵn trên 100 câu test: WER còn tăng nhẹ, từ 22,07% lên 22,25%, chỉ 1 câu tốt lên và 6 câu xấu đi. Khi đưa transcript chuẩn vào, mô hình vẫn sửa 21 trên 100 câu vốn đã đúng. Nhóm tiếp tục fine-tune bằng LoRA trên dữ liệu VietMed: train loss giảm đều nhưng WER trên dev tăng ngay sau epoch 1, một ví dụ overfitting điển hình, nên early stopping chọn epoch 1 ở cả ba seed. Ngay cả checkpoint tốt nhất vẫn sửa nhầm 22 đến 28% transcript chuẩn trên dev. Kết luận: sửa tự động có thể ghi đè nội dung đúng.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thứ ba đo trực tiếp điều quan trọng: sửa lỗi có giúp NER không. Nhóm chạy cùng checkpoint PhoBERT của demo trên bốn phiên bản transcript PhoWhisper của 3.437 câu test. Ban đầu có vẻ sửa lỗi giúp tăng F1, nhưng khi thêm nhánh đối chứng chỉ viết thường và bỏ dấu câu, phần tăng gần như biến mất: sửa lỗi chỉ thêm 0,054 điểm, tương đương 3 thực thể. Toàn bộ phần tăng 1,35 điểm đến từ chuẩn hoá, chủ yếu là bỏ dấu chấm ở cuối câu mà PhoWhisper luôn thêm vào. Với Whisper-small mà demo dùng, transcript vốn không có dấu câu, nên chuẩn hoá cũng không thay đổi gì. Vì vậy nhóm không đưa mô hình sửa lỗi vào demo. Lưu ý: các số này đo trên PhoWhisper, không phải pipeline Whisper-small của demo. Thời gian: 1 phút 10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thực tế nhận transcript do ASR sinh ra. Nhóm dùng transcript có sẵn: PhoWhisper-medium trên toàn bộ 3.437 câu nói test, và Whisper-small của demo trên 500 câu đầu. PhoWhisper có WER 23,9% và giữ nguyên 78,5% thực thể vàng. Trên cùng 500 câu, Whisper-small kém hơn: WER 25,3% và chỉ 61,4% thực thể còn nguyên; thiết bị – kỹ thuật và phẫu thuật mất nhiều nhất. Phân tích lỗi cho thấy sai dấu chỉ chiếm 2,4% lỗi, còn hơn một nửa là chèn hoặc xoá từ ở hai đầu câu, tức lỗi cắt đoạn âm thanh, thứ mà mô hình văn bản không sửa được. Đó cũng là lý do sửa lỗi văn bản không giúp NER.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rút ra năm bài học. Thứ nhất, phải kiểm tra tập nhãn trước khi tin vào thước đo; một ký tự số không thay cho chữ O đã làm lệch mọi con số Transformer. Thứ hai, EDA quyết định cách đánh giá: phát hiện lệch miền khiến nhóm tách riêng thực thể đã gặp và chưa gặp. Thứ ba, luôn cần nhánh đối chứng: phần tăng tưởng là của mô hình sửa lỗi hoá ra là của việc bỏ dấu chấm cuối câu. Thứ tư, chênh lệch nhỏ phải được kiểm định bằng bootstrap và nhiều seed. Thứ năm, mô hình đơn giản như CRF vẫn rất mạnh khi dữ liệu lặp lại thuật ngữ. Về giới hạn: lớp hiếm quá ít mẫu, lưới dò siêu tham số chưa được chạy lại sau khi sửa lỗi chấm điểm, Vi-Ner chưa rõ giấy phép, thí nghiệm sửa lỗi chưa đo trên pipeline Whisper-small đầy đủ, và nhóm chưa thử BERT-CRF. Thời gian: 1 phút 10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trên tập test lệch miền của VietMed-NER, CRF đạt F1 strict cao nhất với 63,80%. PhoBERT và ViHealthBERT ngang nhau sau khi sửa lỗi chấm điểm và kiểm định thống kê. Transformer, đặc biệt ViHealthBERT, nhận ra thực thể chưa gặp tốt hơn nhiều, gần 42%. Các hướng thử thêm, học Vi-Ner trước và sửa lỗi transcript trước NER, không cải thiện F1 tổng nên không được đưa vào demo. Thông điệp chính: nút thắt nằm ở dữ liệu, gồm lệch miền, lớp hiếm và ranh giới nhãn, hơn là ở việc chọn mô hình. Cảm ơn Thầy và các bạn đã lắng nghe; nhóm sẵn sàng trả lời câu hỏi. Thời gian: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D"/>
        </a:solidFill>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roundRect">
            <a:avLst>
              <a:gd name="adj" fmla="val 8421"/>
            </a:avLst>
          </a:prstGeom>
          <a:solidFill>
            <a:srgbClr val="FFFFFF"/>
          </a:solidFill>
          <a:ln w="12700">
            <a:solidFill>
              <a:srgbClr val="FFFFFF"/>
            </a:solidFill>
            <a:prstDash val="solid"/>
          </a:ln>
        </p:spPr>
      </p:sp>
      <p:pic>
        <p:nvPicPr>
          <p:cNvPr id="3" name="Image 0" descr="Logo UIT">    </p:cNvPr>
          <p:cNvPicPr>
            <a:picLocks noChangeAspect="1"/>
          </p:cNvPicPr>
          <p:nvPr/>
        </p:nvPicPr>
        <p:blipFill>
          <a:blip r:embed="rId1"/>
          <a:stretch>
            <a:fillRect/>
          </a:stretch>
        </p:blipFill>
        <p:spPr>
          <a:xfrm>
            <a:off x="685800" y="548640"/>
            <a:ext cx="777240" cy="777240"/>
          </a:xfrm>
          <a:prstGeom prst="rect">
            <a:avLst/>
          </a:prstGeom>
        </p:spPr>
      </p:pic>
      <p:sp>
        <p:nvSpPr>
          <p:cNvPr id="4" name="Text 1"/>
          <p:cNvSpPr txBox="1"/>
          <p:nvPr/>
        </p:nvSpPr>
        <p:spPr>
          <a:xfrm>
            <a:off x="1691640" y="566928"/>
            <a:ext cx="548640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TRƯỜNG ĐẠI HỌC CÔNG NGHỆ THÔNG TIN</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ĐẠI HỌC QUỐC GIA TP. HỒ CHÍ MINH</a:t>
            </a:r>
            <a:endParaRPr lang="en-US" sz="1300" dirty="0"/>
          </a:p>
        </p:txBody>
      </p:sp>
      <p:sp>
        <p:nvSpPr>
          <p:cNvPr id="5" name="Text 2"/>
          <p:cNvSpPr txBox="1"/>
          <p:nvPr/>
        </p:nvSpPr>
        <p:spPr>
          <a:xfrm>
            <a:off x="640080" y="1691640"/>
            <a:ext cx="7315200" cy="21031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Huấn luyện NER y tế</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cho hội thoại tiếng Việt</a:t>
            </a:r>
            <a:endParaRPr lang="en-US" sz="3600" dirty="0"/>
          </a:p>
        </p:txBody>
      </p:sp>
      <p:sp>
        <p:nvSpPr>
          <p:cNvPr id="6" name="Text 3"/>
          <p:cNvSpPr txBox="1"/>
          <p:nvPr/>
        </p:nvSpPr>
        <p:spPr>
          <a:xfrm>
            <a:off x="640080" y="3840480"/>
            <a:ext cx="6949440" cy="914400"/>
          </a:xfrm>
          <a:prstGeom prst="rect">
            <a:avLst/>
          </a:prstGeom>
          <a:noFill/>
          <a:ln/>
        </p:spPr>
        <p:txBody>
          <a:bodyPr wrap="square" lIns="0" tIns="0" rIns="0" bIns="0" rtlCol="0" anchor="t"/>
          <a:lstStyle/>
          <a:p>
            <a:pPr indent="0" marL="0">
              <a:buNone/>
            </a:pPr>
            <a:r>
              <a:rPr lang="en-US" sz="1700" dirty="0">
                <a:solidFill>
                  <a:srgbClr val="9FD8CF"/>
                </a:solidFill>
                <a:latin typeface="Calibri" pitchFamily="34" charset="0"/>
                <a:ea typeface="Calibri" pitchFamily="34" charset="-122"/>
                <a:cs typeface="Calibri" pitchFamily="34" charset="-120"/>
              </a:rPr>
              <a:t>Câu chuyện thật của VietMed-NER: dữ liệu dẫn đến quyết định gì, mô hình nào thắng, lỗi chấm điểm nhóm tìm ra, và những gì đã thử mà không giúp</a:t>
            </a:r>
            <a:endParaRPr lang="en-US" sz="1700" dirty="0"/>
          </a:p>
        </p:txBody>
      </p:sp>
      <p:sp>
        <p:nvSpPr>
          <p:cNvPr id="7" name="Text 4"/>
          <p:cNvSpPr txBox="1"/>
          <p:nvPr/>
        </p:nvSpPr>
        <p:spPr>
          <a:xfrm>
            <a:off x="640080" y="4937760"/>
            <a:ext cx="6400800" cy="1097280"/>
          </a:xfrm>
          <a:prstGeom prst="rect">
            <a:avLst/>
          </a:prstGeom>
          <a:noFill/>
          <a:ln/>
        </p:spPr>
        <p:txBody>
          <a:bodyPr wrap="square" lIns="0" tIns="0" rIns="0" bIns="0" rtlCol="0" anchor="ctr"/>
          <a:lstStyle/>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Môn học: Máy học</a:t>
            </a:r>
            <a:endParaRPr lang="en-US" sz="1600" dirty="0"/>
          </a:p>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Giảng viên hướng dẫn: Đặng Văn Thìn</a:t>
            </a:r>
            <a:endParaRPr lang="en-US" sz="1600" dirty="0"/>
          </a:p>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Nhóm thực hiện: Nhóm 8</a:t>
            </a:r>
            <a:endParaRPr lang="en-US" sz="1600" dirty="0"/>
          </a:p>
        </p:txBody>
      </p:sp>
      <p:sp>
        <p:nvSpPr>
          <p:cNvPr id="8" name="Shape 5"/>
          <p:cNvSpPr/>
          <p:nvPr/>
        </p:nvSpPr>
        <p:spPr>
          <a:xfrm>
            <a:off x="8412480" y="1737360"/>
            <a:ext cx="3108960" cy="640080"/>
          </a:xfrm>
          <a:prstGeom prst="roundRect">
            <a:avLst>
              <a:gd name="adj" fmla="val 11429"/>
            </a:avLst>
          </a:prstGeom>
          <a:solidFill>
            <a:srgbClr val="2F5A76"/>
          </a:solidFill>
          <a:ln w="12700">
            <a:solidFill>
              <a:srgbClr val="2F5A76"/>
            </a:solidFill>
            <a:prstDash val="solid"/>
          </a:ln>
        </p:spPr>
      </p:sp>
      <p:sp>
        <p:nvSpPr>
          <p:cNvPr id="9" name="Text 6"/>
          <p:cNvSpPr txBox="1"/>
          <p:nvPr/>
        </p:nvSpPr>
        <p:spPr>
          <a:xfrm>
            <a:off x="8595360" y="1737360"/>
            <a:ext cx="2834640" cy="6400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 Dữ liệu</a:t>
            </a:r>
            <a:endParaRPr lang="en-US" sz="1700" dirty="0"/>
          </a:p>
        </p:txBody>
      </p:sp>
      <p:sp>
        <p:nvSpPr>
          <p:cNvPr id="10" name="Shape 7"/>
          <p:cNvSpPr/>
          <p:nvPr/>
        </p:nvSpPr>
        <p:spPr>
          <a:xfrm>
            <a:off x="8412480" y="2542032"/>
            <a:ext cx="3108960" cy="640080"/>
          </a:xfrm>
          <a:prstGeom prst="roundRect">
            <a:avLst>
              <a:gd name="adj" fmla="val 11429"/>
            </a:avLst>
          </a:prstGeom>
          <a:solidFill>
            <a:srgbClr val="2F5A76"/>
          </a:solidFill>
          <a:ln w="12700">
            <a:solidFill>
              <a:srgbClr val="2F5A76"/>
            </a:solidFill>
            <a:prstDash val="solid"/>
          </a:ln>
        </p:spPr>
      </p:sp>
      <p:sp>
        <p:nvSpPr>
          <p:cNvPr id="11" name="Text 8"/>
          <p:cNvSpPr txBox="1"/>
          <p:nvPr/>
        </p:nvSpPr>
        <p:spPr>
          <a:xfrm>
            <a:off x="8595360" y="2542032"/>
            <a:ext cx="2834640" cy="6400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 Mô hình</a:t>
            </a:r>
            <a:endParaRPr lang="en-US" sz="1700" dirty="0"/>
          </a:p>
        </p:txBody>
      </p:sp>
      <p:sp>
        <p:nvSpPr>
          <p:cNvPr id="12" name="Shape 9"/>
          <p:cNvSpPr/>
          <p:nvPr/>
        </p:nvSpPr>
        <p:spPr>
          <a:xfrm>
            <a:off x="8412480" y="3346704"/>
            <a:ext cx="3108960" cy="640080"/>
          </a:xfrm>
          <a:prstGeom prst="roundRect">
            <a:avLst>
              <a:gd name="adj" fmla="val 11429"/>
            </a:avLst>
          </a:prstGeom>
          <a:solidFill>
            <a:srgbClr val="E4572E"/>
          </a:solidFill>
          <a:ln w="12700">
            <a:solidFill>
              <a:srgbClr val="E4572E"/>
            </a:solidFill>
            <a:prstDash val="solid"/>
          </a:ln>
        </p:spPr>
      </p:sp>
      <p:sp>
        <p:nvSpPr>
          <p:cNvPr id="13" name="Text 10"/>
          <p:cNvSpPr txBox="1"/>
          <p:nvPr/>
        </p:nvSpPr>
        <p:spPr>
          <a:xfrm>
            <a:off x="8595360" y="3346704"/>
            <a:ext cx="2834640" cy="6400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3. Kết quả</a:t>
            </a:r>
            <a:endParaRPr lang="en-US" sz="1700" dirty="0"/>
          </a:p>
        </p:txBody>
      </p:sp>
      <p:sp>
        <p:nvSpPr>
          <p:cNvPr id="14" name="Shape 11"/>
          <p:cNvSpPr/>
          <p:nvPr/>
        </p:nvSpPr>
        <p:spPr>
          <a:xfrm>
            <a:off x="8412480" y="4151376"/>
            <a:ext cx="3108960" cy="640080"/>
          </a:xfrm>
          <a:prstGeom prst="roundRect">
            <a:avLst>
              <a:gd name="adj" fmla="val 11429"/>
            </a:avLst>
          </a:prstGeom>
          <a:solidFill>
            <a:srgbClr val="2F5A76"/>
          </a:solidFill>
          <a:ln w="12700">
            <a:solidFill>
              <a:srgbClr val="2F5A76"/>
            </a:solidFill>
            <a:prstDash val="solid"/>
          </a:ln>
        </p:spPr>
      </p:sp>
      <p:sp>
        <p:nvSpPr>
          <p:cNvPr id="15" name="Text 12"/>
          <p:cNvSpPr txBox="1"/>
          <p:nvPr/>
        </p:nvSpPr>
        <p:spPr>
          <a:xfrm>
            <a:off x="8595360" y="4151376"/>
            <a:ext cx="2834640" cy="6400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4. Thử thêm</a:t>
            </a:r>
            <a:endParaRPr lang="en-US" sz="1700" dirty="0"/>
          </a:p>
        </p:txBody>
      </p:sp>
      <p:sp>
        <p:nvSpPr>
          <p:cNvPr id="16" name="Shape 13"/>
          <p:cNvSpPr/>
          <p:nvPr/>
        </p:nvSpPr>
        <p:spPr>
          <a:xfrm>
            <a:off x="8412480" y="4956048"/>
            <a:ext cx="3108960" cy="640080"/>
          </a:xfrm>
          <a:prstGeom prst="roundRect">
            <a:avLst>
              <a:gd name="adj" fmla="val 11429"/>
            </a:avLst>
          </a:prstGeom>
          <a:solidFill>
            <a:srgbClr val="2F5A76"/>
          </a:solidFill>
          <a:ln w="12700">
            <a:solidFill>
              <a:srgbClr val="2F5A76"/>
            </a:solidFill>
            <a:prstDash val="solid"/>
          </a:ln>
        </p:spPr>
      </p:sp>
      <p:sp>
        <p:nvSpPr>
          <p:cNvPr id="17" name="Text 14"/>
          <p:cNvSpPr txBox="1"/>
          <p:nvPr/>
        </p:nvSpPr>
        <p:spPr>
          <a:xfrm>
            <a:off x="8595360" y="4956048"/>
            <a:ext cx="2834640" cy="6400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5. Hệ thống</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Bài toán: gán nhãn từng âm tiết trong lời nói y khoa</a:t>
            </a:r>
            <a:endParaRPr lang="en-US" sz="2300" dirty="0"/>
          </a:p>
        </p:txBody>
      </p:sp>
      <p:sp>
        <p:nvSpPr>
          <p:cNvPr id="3" name="Shape 1"/>
          <p:cNvSpPr/>
          <p:nvPr/>
        </p:nvSpPr>
        <p:spPr>
          <a:xfrm>
            <a:off x="8275320" y="384048"/>
            <a:ext cx="649224" cy="73152"/>
          </a:xfrm>
          <a:prstGeom prst="rect">
            <a:avLst/>
          </a:prstGeom>
          <a:solidFill>
            <a:srgbClr val="E4572E"/>
          </a:solidFill>
          <a:ln w="12700">
            <a:solidFill>
              <a:srgbClr val="E4572E"/>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DDE5EB"/>
          </a:solidFill>
          <a:ln w="12700">
            <a:solidFill>
              <a:srgbClr val="DDE5EB"/>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 / 22</a:t>
            </a:r>
            <a:endParaRPr lang="en-US" sz="1000" dirty="0"/>
          </a:p>
        </p:txBody>
      </p:sp>
      <p:sp>
        <p:nvSpPr>
          <p:cNvPr id="14" name="Shape 12"/>
          <p:cNvSpPr/>
          <p:nvPr/>
        </p:nvSpPr>
        <p:spPr>
          <a:xfrm>
            <a:off x="548640" y="1234440"/>
            <a:ext cx="5394960" cy="2148840"/>
          </a:xfrm>
          <a:prstGeom prst="roundRect">
            <a:avLst>
              <a:gd name="adj" fmla="val 3404"/>
            </a:avLst>
          </a:prstGeom>
          <a:solidFill>
            <a:srgbClr val="EEF4F7"/>
          </a:solidFill>
          <a:ln w="12700">
            <a:solidFill>
              <a:srgbClr val="EEF4F7"/>
            </a:solidFill>
            <a:prstDash val="solid"/>
          </a:ln>
        </p:spPr>
      </p:sp>
      <p:sp>
        <p:nvSpPr>
          <p:cNvPr id="15" name="Text 13"/>
          <p:cNvSpPr txBox="1"/>
          <p:nvPr/>
        </p:nvSpPr>
        <p:spPr>
          <a:xfrm>
            <a:off x="749808" y="1353312"/>
            <a:ext cx="502920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Gán nhãn chuỗi theo sơ đồ BIO</a:t>
            </a:r>
            <a:endParaRPr lang="en-US" sz="1700" dirty="0"/>
          </a:p>
        </p:txBody>
      </p:sp>
      <p:sp>
        <p:nvSpPr>
          <p:cNvPr id="16" name="Shape 14"/>
          <p:cNvSpPr/>
          <p:nvPr/>
        </p:nvSpPr>
        <p:spPr>
          <a:xfrm>
            <a:off x="749808" y="1828800"/>
            <a:ext cx="658368" cy="777240"/>
          </a:xfrm>
          <a:prstGeom prst="roundRect">
            <a:avLst>
              <a:gd name="adj" fmla="val 8333"/>
            </a:avLst>
          </a:prstGeom>
          <a:solidFill>
            <a:srgbClr val="FCE9E3"/>
          </a:solidFill>
          <a:ln w="12700">
            <a:solidFill>
              <a:srgbClr val="E4572E"/>
            </a:solidFill>
            <a:prstDash val="solid"/>
          </a:ln>
        </p:spPr>
      </p:sp>
      <p:sp>
        <p:nvSpPr>
          <p:cNvPr id="17" name="Text 15"/>
          <p:cNvSpPr txBox="1"/>
          <p:nvPr/>
        </p:nvSpPr>
        <p:spPr>
          <a:xfrm>
            <a:off x="749808"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rong</a:t>
            </a:r>
            <a:endParaRPr lang="en-US" sz="1400" dirty="0"/>
          </a:p>
        </p:txBody>
      </p:sp>
      <p:sp>
        <p:nvSpPr>
          <p:cNvPr id="18" name="Text 16"/>
          <p:cNvSpPr txBox="1"/>
          <p:nvPr/>
        </p:nvSpPr>
        <p:spPr>
          <a:xfrm>
            <a:off x="749808"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B-DISEASE…</a:t>
            </a:r>
            <a:endParaRPr lang="en-US" sz="700" dirty="0"/>
          </a:p>
        </p:txBody>
      </p:sp>
      <p:sp>
        <p:nvSpPr>
          <p:cNvPr id="19" name="Shape 17"/>
          <p:cNvSpPr/>
          <p:nvPr/>
        </p:nvSpPr>
        <p:spPr>
          <a:xfrm>
            <a:off x="1472184" y="1828800"/>
            <a:ext cx="658368" cy="777240"/>
          </a:xfrm>
          <a:prstGeom prst="roundRect">
            <a:avLst>
              <a:gd name="adj" fmla="val 8333"/>
            </a:avLst>
          </a:prstGeom>
          <a:solidFill>
            <a:srgbClr val="FCE9E3"/>
          </a:solidFill>
          <a:ln w="12700">
            <a:solidFill>
              <a:srgbClr val="E4572E"/>
            </a:solidFill>
            <a:prstDash val="solid"/>
          </a:ln>
        </p:spPr>
      </p:sp>
      <p:sp>
        <p:nvSpPr>
          <p:cNvPr id="20" name="Text 18"/>
          <p:cNvSpPr txBox="1"/>
          <p:nvPr/>
        </p:nvSpPr>
        <p:spPr>
          <a:xfrm>
            <a:off x="1472184"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huyết</a:t>
            </a:r>
            <a:endParaRPr lang="en-US" sz="1400" dirty="0"/>
          </a:p>
        </p:txBody>
      </p:sp>
      <p:sp>
        <p:nvSpPr>
          <p:cNvPr id="21" name="Text 19"/>
          <p:cNvSpPr txBox="1"/>
          <p:nvPr/>
        </p:nvSpPr>
        <p:spPr>
          <a:xfrm>
            <a:off x="1472184"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I-DISEASE…</a:t>
            </a:r>
            <a:endParaRPr lang="en-US" sz="700" dirty="0"/>
          </a:p>
        </p:txBody>
      </p:sp>
      <p:sp>
        <p:nvSpPr>
          <p:cNvPr id="22" name="Shape 20"/>
          <p:cNvSpPr/>
          <p:nvPr/>
        </p:nvSpPr>
        <p:spPr>
          <a:xfrm>
            <a:off x="2194560" y="1828800"/>
            <a:ext cx="658368" cy="777240"/>
          </a:xfrm>
          <a:prstGeom prst="roundRect">
            <a:avLst>
              <a:gd name="adj" fmla="val 8333"/>
            </a:avLst>
          </a:prstGeom>
          <a:solidFill>
            <a:srgbClr val="FFFFFF"/>
          </a:solidFill>
          <a:ln w="12700">
            <a:solidFill>
              <a:srgbClr val="D5DEE5"/>
            </a:solidFill>
            <a:prstDash val="solid"/>
          </a:ln>
        </p:spPr>
      </p:sp>
      <p:sp>
        <p:nvSpPr>
          <p:cNvPr id="23" name="Text 21"/>
          <p:cNvSpPr txBox="1"/>
          <p:nvPr/>
        </p:nvSpPr>
        <p:spPr>
          <a:xfrm>
            <a:off x="2194560"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như</a:t>
            </a:r>
            <a:endParaRPr lang="en-US" sz="1400" dirty="0"/>
          </a:p>
        </p:txBody>
      </p:sp>
      <p:sp>
        <p:nvSpPr>
          <p:cNvPr id="24" name="Text 22"/>
          <p:cNvSpPr txBox="1"/>
          <p:nvPr/>
        </p:nvSpPr>
        <p:spPr>
          <a:xfrm>
            <a:off x="2194560" y="2258568"/>
            <a:ext cx="658368" cy="274320"/>
          </a:xfrm>
          <a:prstGeom prst="rect">
            <a:avLst/>
          </a:prstGeom>
          <a:noFill/>
          <a:ln/>
        </p:spPr>
        <p:txBody>
          <a:bodyPr wrap="square" lIns="0" tIns="0" rIns="0" bIns="0" rtlCol="0" anchor="ctr"/>
          <a:lstStyle/>
          <a:p>
            <a:pPr algn="ctr" indent="0" marL="0">
              <a:buNone/>
            </a:pPr>
            <a:r>
              <a:rPr lang="en-US" sz="700" dirty="0">
                <a:solidFill>
                  <a:srgbClr val="5B6B7A"/>
                </a:solidFill>
                <a:latin typeface="Calibri" pitchFamily="34" charset="0"/>
                <a:ea typeface="Calibri" pitchFamily="34" charset="-122"/>
                <a:cs typeface="Calibri" pitchFamily="34" charset="-120"/>
              </a:rPr>
              <a:t>O</a:t>
            </a:r>
            <a:endParaRPr lang="en-US" sz="700" dirty="0"/>
          </a:p>
        </p:txBody>
      </p:sp>
      <p:sp>
        <p:nvSpPr>
          <p:cNvPr id="25" name="Shape 23"/>
          <p:cNvSpPr/>
          <p:nvPr/>
        </p:nvSpPr>
        <p:spPr>
          <a:xfrm>
            <a:off x="2916936" y="1828800"/>
            <a:ext cx="658368" cy="777240"/>
          </a:xfrm>
          <a:prstGeom prst="roundRect">
            <a:avLst>
              <a:gd name="adj" fmla="val 8333"/>
            </a:avLst>
          </a:prstGeom>
          <a:solidFill>
            <a:srgbClr val="FFFFFF"/>
          </a:solidFill>
          <a:ln w="12700">
            <a:solidFill>
              <a:srgbClr val="D5DEE5"/>
            </a:solidFill>
            <a:prstDash val="solid"/>
          </a:ln>
        </p:spPr>
      </p:sp>
      <p:sp>
        <p:nvSpPr>
          <p:cNvPr id="26" name="Text 24"/>
          <p:cNvSpPr txBox="1"/>
          <p:nvPr/>
        </p:nvSpPr>
        <p:spPr>
          <a:xfrm>
            <a:off x="2916936"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vậy</a:t>
            </a:r>
            <a:endParaRPr lang="en-US" sz="1400" dirty="0"/>
          </a:p>
        </p:txBody>
      </p:sp>
      <p:sp>
        <p:nvSpPr>
          <p:cNvPr id="27" name="Text 25"/>
          <p:cNvSpPr txBox="1"/>
          <p:nvPr/>
        </p:nvSpPr>
        <p:spPr>
          <a:xfrm>
            <a:off x="2916936" y="2258568"/>
            <a:ext cx="658368" cy="274320"/>
          </a:xfrm>
          <a:prstGeom prst="rect">
            <a:avLst/>
          </a:prstGeom>
          <a:noFill/>
          <a:ln/>
        </p:spPr>
        <p:txBody>
          <a:bodyPr wrap="square" lIns="0" tIns="0" rIns="0" bIns="0" rtlCol="0" anchor="ctr"/>
          <a:lstStyle/>
          <a:p>
            <a:pPr algn="ctr" indent="0" marL="0">
              <a:buNone/>
            </a:pPr>
            <a:r>
              <a:rPr lang="en-US" sz="700" dirty="0">
                <a:solidFill>
                  <a:srgbClr val="5B6B7A"/>
                </a:solidFill>
                <a:latin typeface="Calibri" pitchFamily="34" charset="0"/>
                <a:ea typeface="Calibri" pitchFamily="34" charset="-122"/>
                <a:cs typeface="Calibri" pitchFamily="34" charset="-120"/>
              </a:rPr>
              <a:t>O</a:t>
            </a:r>
            <a:endParaRPr lang="en-US" sz="700" dirty="0"/>
          </a:p>
        </p:txBody>
      </p:sp>
      <p:sp>
        <p:nvSpPr>
          <p:cNvPr id="28" name="Shape 26"/>
          <p:cNvSpPr/>
          <p:nvPr/>
        </p:nvSpPr>
        <p:spPr>
          <a:xfrm>
            <a:off x="3639312" y="1828800"/>
            <a:ext cx="658368" cy="777240"/>
          </a:xfrm>
          <a:prstGeom prst="roundRect">
            <a:avLst>
              <a:gd name="adj" fmla="val 8333"/>
            </a:avLst>
          </a:prstGeom>
          <a:solidFill>
            <a:srgbClr val="FFFFFF"/>
          </a:solidFill>
          <a:ln w="12700">
            <a:solidFill>
              <a:srgbClr val="D5DEE5"/>
            </a:solidFill>
            <a:prstDash val="solid"/>
          </a:ln>
        </p:spPr>
      </p:sp>
      <p:sp>
        <p:nvSpPr>
          <p:cNvPr id="29" name="Text 27"/>
          <p:cNvSpPr txBox="1"/>
          <p:nvPr/>
        </p:nvSpPr>
        <p:spPr>
          <a:xfrm>
            <a:off x="3639312"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a:t>
            </a:r>
            <a:endParaRPr lang="en-US" sz="1400" dirty="0"/>
          </a:p>
        </p:txBody>
      </p:sp>
      <p:sp>
        <p:nvSpPr>
          <p:cNvPr id="30" name="Text 28"/>
          <p:cNvSpPr txBox="1"/>
          <p:nvPr/>
        </p:nvSpPr>
        <p:spPr>
          <a:xfrm>
            <a:off x="3639312" y="2258568"/>
            <a:ext cx="658368" cy="274320"/>
          </a:xfrm>
          <a:prstGeom prst="rect">
            <a:avLst/>
          </a:prstGeom>
          <a:noFill/>
          <a:ln/>
        </p:spPr>
        <p:txBody>
          <a:bodyPr wrap="square" lIns="0" tIns="0" rIns="0" bIns="0" rtlCol="0" anchor="ctr"/>
          <a:lstStyle/>
          <a:p>
            <a:pPr algn="ctr" indent="0" marL="0">
              <a:buNone/>
            </a:pPr>
            <a:r>
              <a:rPr lang="en-US" sz="700" dirty="0">
                <a:solidFill>
                  <a:srgbClr val="5B6B7A"/>
                </a:solidFill>
                <a:latin typeface="Calibri" pitchFamily="34" charset="0"/>
                <a:ea typeface="Calibri" pitchFamily="34" charset="-122"/>
                <a:cs typeface="Calibri" pitchFamily="34" charset="-120"/>
              </a:rPr>
              <a:t>O</a:t>
            </a:r>
            <a:endParaRPr lang="en-US" sz="700" dirty="0"/>
          </a:p>
        </p:txBody>
      </p:sp>
      <p:sp>
        <p:nvSpPr>
          <p:cNvPr id="31" name="Shape 29"/>
          <p:cNvSpPr/>
          <p:nvPr/>
        </p:nvSpPr>
        <p:spPr>
          <a:xfrm>
            <a:off x="4361688" y="1828800"/>
            <a:ext cx="658368" cy="777240"/>
          </a:xfrm>
          <a:prstGeom prst="roundRect">
            <a:avLst>
              <a:gd name="adj" fmla="val 8333"/>
            </a:avLst>
          </a:prstGeom>
          <a:solidFill>
            <a:srgbClr val="FCE9E3"/>
          </a:solidFill>
          <a:ln w="12700">
            <a:solidFill>
              <a:srgbClr val="E4572E"/>
            </a:solidFill>
            <a:prstDash val="solid"/>
          </a:ln>
        </p:spPr>
      </p:sp>
      <p:sp>
        <p:nvSpPr>
          <p:cNvPr id="32" name="Text 30"/>
          <p:cNvSpPr txBox="1"/>
          <p:nvPr/>
        </p:nvSpPr>
        <p:spPr>
          <a:xfrm>
            <a:off x="4361688"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rong</a:t>
            </a:r>
            <a:endParaRPr lang="en-US" sz="1400" dirty="0"/>
          </a:p>
        </p:txBody>
      </p:sp>
      <p:sp>
        <p:nvSpPr>
          <p:cNvPr id="33" name="Text 31"/>
          <p:cNvSpPr txBox="1"/>
          <p:nvPr/>
        </p:nvSpPr>
        <p:spPr>
          <a:xfrm>
            <a:off x="4361688"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B-DISEASE…</a:t>
            </a:r>
            <a:endParaRPr lang="en-US" sz="700" dirty="0"/>
          </a:p>
        </p:txBody>
      </p:sp>
      <p:sp>
        <p:nvSpPr>
          <p:cNvPr id="34" name="Shape 32"/>
          <p:cNvSpPr/>
          <p:nvPr/>
        </p:nvSpPr>
        <p:spPr>
          <a:xfrm>
            <a:off x="5084064" y="1828800"/>
            <a:ext cx="658368" cy="777240"/>
          </a:xfrm>
          <a:prstGeom prst="roundRect">
            <a:avLst>
              <a:gd name="adj" fmla="val 8333"/>
            </a:avLst>
          </a:prstGeom>
          <a:solidFill>
            <a:srgbClr val="FCE9E3"/>
          </a:solidFill>
          <a:ln w="12700">
            <a:solidFill>
              <a:srgbClr val="E4572E"/>
            </a:solidFill>
            <a:prstDash val="solid"/>
          </a:ln>
        </p:spPr>
      </p:sp>
      <p:sp>
        <p:nvSpPr>
          <p:cNvPr id="35" name="Text 33"/>
          <p:cNvSpPr txBox="1"/>
          <p:nvPr/>
        </p:nvSpPr>
        <p:spPr>
          <a:xfrm>
            <a:off x="5084064"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kinh</a:t>
            </a:r>
            <a:endParaRPr lang="en-US" sz="1400" dirty="0"/>
          </a:p>
        </p:txBody>
      </p:sp>
      <p:sp>
        <p:nvSpPr>
          <p:cNvPr id="36" name="Text 34"/>
          <p:cNvSpPr txBox="1"/>
          <p:nvPr/>
        </p:nvSpPr>
        <p:spPr>
          <a:xfrm>
            <a:off x="5084064"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I-DISEASE…</a:t>
            </a:r>
            <a:endParaRPr lang="en-US" sz="700" dirty="0"/>
          </a:p>
        </p:txBody>
      </p:sp>
      <p:sp>
        <p:nvSpPr>
          <p:cNvPr id="37" name="Text 35"/>
          <p:cNvSpPr txBox="1"/>
          <p:nvPr/>
        </p:nvSpPr>
        <p:spPr>
          <a:xfrm>
            <a:off x="749808" y="2743200"/>
            <a:ext cx="5029200" cy="594360"/>
          </a:xfrm>
          <a:prstGeom prst="rect">
            <a:avLst/>
          </a:prstGeom>
          <a:noFill/>
          <a:ln/>
        </p:spPr>
        <p:txBody>
          <a:bodyPr wrap="square" lIns="0" tIns="0" rIns="0" bIns="0" rtlCol="0" anchor="t"/>
          <a:lstStyle/>
          <a:p>
            <a:pPr algn="l" indent="0" marL="0">
              <a:buNone/>
            </a:pPr>
            <a:r>
              <a:rPr lang="en-US" sz="1350" b="1" dirty="0">
                <a:solidFill>
                  <a:srgbClr val="1B2733"/>
                </a:solidFill>
                <a:latin typeface="Calibri" pitchFamily="34" charset="0"/>
                <a:ea typeface="Calibri" pitchFamily="34" charset="-122"/>
                <a:cs typeface="Calibri" pitchFamily="34" charset="-120"/>
              </a:rPr>
              <a:t>B-X</a:t>
            </a:r>
            <a:r>
              <a:rPr lang="en-US" sz="1350" dirty="0">
                <a:solidFill>
                  <a:srgbClr val="1B2733"/>
                </a:solidFill>
                <a:latin typeface="Calibri" pitchFamily="34" charset="0"/>
                <a:ea typeface="Calibri" pitchFamily="34" charset="-122"/>
                <a:cs typeface="Calibri" pitchFamily="34" charset="-120"/>
              </a:rPr>
              <a:t> mở đầu thực thể loại X, </a:t>
            </a:r>
            <a:r>
              <a:rPr lang="en-US" sz="1350" b="1" dirty="0">
                <a:solidFill>
                  <a:srgbClr val="1B2733"/>
                </a:solidFill>
                <a:latin typeface="Calibri" pitchFamily="34" charset="0"/>
                <a:ea typeface="Calibri" pitchFamily="34" charset="-122"/>
                <a:cs typeface="Calibri" pitchFamily="34" charset="-120"/>
              </a:rPr>
              <a:t>I-X</a:t>
            </a:r>
            <a:r>
              <a:rPr lang="en-US" sz="1350" dirty="0">
                <a:solidFill>
                  <a:srgbClr val="1B2733"/>
                </a:solidFill>
                <a:latin typeface="Calibri" pitchFamily="34" charset="0"/>
                <a:ea typeface="Calibri" pitchFamily="34" charset="-122"/>
                <a:cs typeface="Calibri" pitchFamily="34" charset="-120"/>
              </a:rPr>
              <a:t> nối tiếp, </a:t>
            </a:r>
            <a:r>
              <a:rPr lang="en-US" sz="1350" b="1" dirty="0">
                <a:solidFill>
                  <a:srgbClr val="1B2733"/>
                </a:solidFill>
                <a:latin typeface="Calibri" pitchFamily="34" charset="0"/>
                <a:ea typeface="Calibri" pitchFamily="34" charset="-122"/>
                <a:cs typeface="Calibri" pitchFamily="34" charset="-120"/>
              </a:rPr>
              <a:t>O</a:t>
            </a:r>
            <a:r>
              <a:rPr lang="en-US" sz="1350" dirty="0">
                <a:solidFill>
                  <a:srgbClr val="1B2733"/>
                </a:solidFill>
                <a:latin typeface="Calibri" pitchFamily="34" charset="0"/>
                <a:ea typeface="Calibri" pitchFamily="34" charset="-122"/>
                <a:cs typeface="Calibri" pitchFamily="34" charset="-120"/>
              </a:rPr>
              <a:t> ngoài thực thể. </a:t>
            </a:r>
            <a:r>
              <a:rPr lang="en-US" sz="1350" b="1" dirty="0">
                <a:solidFill>
                  <a:srgbClr val="1B2733"/>
                </a:solidFill>
                <a:latin typeface="Calibri" pitchFamily="34" charset="0"/>
                <a:ea typeface="Calibri" pitchFamily="34" charset="-122"/>
                <a:cs typeface="Calibri" pitchFamily="34" charset="-120"/>
              </a:rPr>
              <a:t>18 loại → 37 nhãn.</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5394960" cy="914400"/>
        </p:xfrm>
        <a:graphic>
          <a:graphicData uri="http://schemas.openxmlformats.org/drawingml/2006/table">
            <a:tbl>
              <a:tblPr/>
              <a:tblGrid>
                <a:gridCol w="1280160"/>
                <a:gridCol w="1005840"/>
                <a:gridCol w="1097280"/>
                <a:gridCol w="1097280"/>
                <a:gridCol w="91440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Tập</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câu</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token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thực thể</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Độ dài TB</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4.616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111.267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11.747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24,1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validation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1.154</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27.657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2.889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3.497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77.675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8.338</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22,2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bl>
          </a:graphicData>
        </a:graphic>
      </p:graphicFrame>
      <p:sp>
        <p:nvSpPr>
          <p:cNvPr id="39" name="Text 36"/>
          <p:cNvSpPr txBox="1"/>
          <p:nvPr/>
        </p:nvSpPr>
        <p:spPr>
          <a:xfrm>
            <a:off x="548640" y="5303520"/>
            <a:ext cx="5394960" cy="548640"/>
          </a:xfrm>
          <a:prstGeom prst="rect">
            <a:avLst/>
          </a:prstGeom>
          <a:noFill/>
          <a:ln/>
        </p:spPr>
        <p:txBody>
          <a:bodyPr wrap="square" lIns="0" tIns="0" rIns="0" bIns="0" rtlCol="0" anchor="t"/>
          <a:lstStyle/>
          <a:p>
            <a:pPr algn="l" indent="0" marL="0">
              <a:buNone/>
            </a:pPr>
            <a:r>
              <a:rPr lang="en-US" sz="1200" i="1" dirty="0">
                <a:solidFill>
                  <a:srgbClr val="5B6B7A"/>
                </a:solidFill>
                <a:latin typeface="Calibri" pitchFamily="34" charset="0"/>
                <a:ea typeface="Calibri" pitchFamily="34" charset="-122"/>
                <a:cs typeface="Calibri" pitchFamily="34" charset="-120"/>
              </a:rPr>
              <a:t>leduckhai/VietMed-NER: transcript hội thoại y tế thật, gán nhãn thủ công.</a:t>
            </a:r>
            <a:endParaRPr lang="en-US" sz="1200" dirty="0"/>
          </a:p>
        </p:txBody>
      </p:sp>
      <p:sp>
        <p:nvSpPr>
          <p:cNvPr id="40" name="Shape 37"/>
          <p:cNvSpPr/>
          <p:nvPr/>
        </p:nvSpPr>
        <p:spPr>
          <a:xfrm>
            <a:off x="6263640" y="1234440"/>
            <a:ext cx="5394960" cy="4846320"/>
          </a:xfrm>
          <a:prstGeom prst="roundRect">
            <a:avLst>
              <a:gd name="adj" fmla="val 1509"/>
            </a:avLst>
          </a:prstGeom>
          <a:solidFill>
            <a:srgbClr val="EEF4F7"/>
          </a:solidFill>
          <a:ln w="12700">
            <a:solidFill>
              <a:srgbClr val="EEF4F7"/>
            </a:solidFill>
            <a:prstDash val="solid"/>
          </a:ln>
        </p:spPr>
      </p:sp>
      <p:sp>
        <p:nvSpPr>
          <p:cNvPr id="41" name="Text 38"/>
          <p:cNvSpPr txBox="1"/>
          <p:nvPr/>
        </p:nvSpPr>
        <p:spPr>
          <a:xfrm>
            <a:off x="6464808" y="1353312"/>
            <a:ext cx="502920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Văn bản nói, không phải văn bản viết</a:t>
            </a:r>
            <a:endParaRPr lang="en-US" sz="1700" dirty="0"/>
          </a:p>
        </p:txBody>
      </p:sp>
      <p:sp>
        <p:nvSpPr>
          <p:cNvPr id="42" name="Text 39"/>
          <p:cNvSpPr txBox="1"/>
          <p:nvPr/>
        </p:nvSpPr>
        <p:spPr>
          <a:xfrm>
            <a:off x="6464808" y="1783080"/>
            <a:ext cx="5029200" cy="4206240"/>
          </a:xfrm>
          <a:prstGeom prst="rect">
            <a:avLst/>
          </a:prstGeom>
          <a:noFill/>
          <a:ln/>
        </p:spPr>
        <p:txBody>
          <a:bodyPr wrap="square" lIns="635" tIns="635" rIns="635" bIns="635" rtlCol="0" anchor="t"/>
          <a:lstStyle/>
          <a:p>
            <a:pPr marL="203200" indent="-203200">
              <a:spcAft>
                <a:spcPts val="600"/>
              </a:spcAft>
              <a:buSzPct val="100000"/>
              <a:buChar char="•"/>
            </a:pPr>
            <a:r>
              <a:rPr lang="en-US" sz="1550" b="1" dirty="0">
                <a:solidFill>
                  <a:srgbClr val="1B2733"/>
                </a:solidFill>
                <a:latin typeface="Calibri" pitchFamily="34" charset="0"/>
                <a:ea typeface="Calibri" pitchFamily="34" charset="-122"/>
                <a:cs typeface="Calibri" pitchFamily="34" charset="-120"/>
              </a:rPr>
              <a:t>Toàn chữ thường, không dấu câu:</a:t>
            </a:r>
            <a:r>
              <a:rPr lang="en-US" sz="1550" dirty="0">
                <a:solidFill>
                  <a:srgbClr val="1B2733"/>
                </a:solidFill>
                <a:latin typeface="Calibri" pitchFamily="34" charset="0"/>
                <a:ea typeface="Calibri" pitchFamily="34" charset="-122"/>
                <a:cs typeface="Calibri" pitchFamily="34" charset="-120"/>
              </a:rPr>
              <a:t> 0 / 0 / 0 token chữ hoa và 0 / 0 / 0 token dấu câu (train / val / test)</a:t>
            </a:r>
            <a:endParaRPr lang="en-US" sz="1550" dirty="0"/>
          </a:p>
          <a:p>
            <a:pPr marL="203200" indent="-203200">
              <a:spcAft>
                <a:spcPts val="600"/>
              </a:spcAft>
              <a:buSzPct val="100000"/>
              <a:buChar char="•"/>
            </a:pPr>
            <a:r>
              <a:rPr lang="en-US" sz="1550" b="1" dirty="0">
                <a:solidFill>
                  <a:srgbClr val="1B2733"/>
                </a:solidFill>
                <a:latin typeface="Calibri" pitchFamily="34" charset="0"/>
                <a:ea typeface="Calibri" pitchFamily="34" charset="-122"/>
                <a:cs typeface="Calibri" pitchFamily="34" charset="-120"/>
              </a:rPr>
              <a:t>Từ đệm hội thoại:</a:t>
            </a:r>
            <a:r>
              <a:rPr lang="en-US" sz="1550" dirty="0">
                <a:solidFill>
                  <a:srgbClr val="1B2733"/>
                </a:solidFill>
                <a:latin typeface="Calibri" pitchFamily="34" charset="0"/>
                <a:ea typeface="Calibri" pitchFamily="34" charset="-122"/>
                <a:cs typeface="Calibri" pitchFamily="34" charset="-120"/>
              </a:rPr>
              <a:t> 7,3% câu train có "ạ", "vâng", "dạ"…</a:t>
            </a:r>
            <a:endParaRPr lang="en-US" sz="1550" dirty="0"/>
          </a:p>
          <a:p>
            <a:pPr marL="203200" indent="-203200">
              <a:spcAft>
                <a:spcPts val="600"/>
              </a:spcAft>
              <a:buSzPct val="100000"/>
              <a:buChar char="•"/>
            </a:pPr>
            <a:r>
              <a:rPr lang="en-US" sz="1550" b="1" dirty="0">
                <a:solidFill>
                  <a:srgbClr val="1B2733"/>
                </a:solidFill>
                <a:latin typeface="Calibri" pitchFamily="34" charset="0"/>
                <a:ea typeface="Calibri" pitchFamily="34" charset="-122"/>
                <a:cs typeface="Calibri" pitchFamily="34" charset="-120"/>
              </a:rPr>
              <a:t>Số viết bằng chữ:</a:t>
            </a:r>
            <a:r>
              <a:rPr lang="en-US" sz="1550" dirty="0">
                <a:solidFill>
                  <a:srgbClr val="1B2733"/>
                </a:solidFill>
                <a:latin typeface="Calibri" pitchFamily="34" charset="0"/>
                <a:ea typeface="Calibri" pitchFamily="34" charset="-122"/>
                <a:cs typeface="Calibri" pitchFamily="34" charset="-120"/>
              </a:rPr>
              <a:t> 4,0 cụm số / 100 câu train, 75% nằm trong thực thể</a:t>
            </a:r>
            <a:endParaRPr lang="en-US" sz="1550" dirty="0"/>
          </a:p>
          <a:p>
            <a:pPr marL="203200" indent="-203200">
              <a:spcAft>
                <a:spcPts val="600"/>
              </a:spcAft>
              <a:buSzPct val="100000"/>
              <a:buChar char="•"/>
            </a:pPr>
            <a:r>
              <a:rPr lang="en-US" sz="1550" b="1" dirty="0">
                <a:solidFill>
                  <a:srgbClr val="1B2733"/>
                </a:solidFill>
                <a:latin typeface="Calibri" pitchFamily="34" charset="0"/>
                <a:ea typeface="Calibri" pitchFamily="34" charset="-122"/>
                <a:cs typeface="Calibri" pitchFamily="34" charset="-120"/>
              </a:rPr>
              <a:t>Từ ngoại lai:</a:t>
            </a:r>
            <a:r>
              <a:rPr lang="en-US" sz="1550" dirty="0">
                <a:solidFill>
                  <a:srgbClr val="1B2733"/>
                </a:solidFill>
                <a:latin typeface="Calibri" pitchFamily="34" charset="0"/>
                <a:ea typeface="Calibri" pitchFamily="34" charset="-122"/>
                <a:cs typeface="Calibri" pitchFamily="34" charset="-120"/>
              </a:rPr>
              <a:t> 0,9% token test ("parkinson", "vitamin"…), 93% nằm trong thực thể</a:t>
            </a:r>
            <a:endParaRPr lang="en-US" sz="1550" dirty="0"/>
          </a:p>
          <a:p>
            <a:pPr marL="203200" indent="-203200">
              <a:spcAft>
                <a:spcPts val="600"/>
              </a:spcAft>
              <a:buSzPct val="100000"/>
              <a:buChar char="•"/>
            </a:pPr>
            <a:r>
              <a:rPr lang="en-US" sz="1550" b="1" dirty="0">
                <a:solidFill>
                  <a:srgbClr val="1B2733"/>
                </a:solidFill>
                <a:latin typeface="Calibri" pitchFamily="34" charset="0"/>
                <a:ea typeface="Calibri" pitchFamily="34" charset="-122"/>
                <a:cs typeface="Calibri" pitchFamily="34" charset="-120"/>
              </a:rPr>
              <a:t>Không có</a:t>
            </a:r>
            <a:r>
              <a:rPr lang="en-US" sz="1550" dirty="0">
                <a:solidFill>
                  <a:srgbClr val="1B2733"/>
                </a:solidFill>
                <a:latin typeface="Calibri" pitchFamily="34" charset="0"/>
                <a:ea typeface="Calibri" pitchFamily="34" charset="-122"/>
                <a:cs typeface="Calibri" pitchFamily="34" charset="-120"/>
              </a:rPr>
              <a:t> câu rỗng, token rỗng hay lệch độ dài âm tiết–nhãn ở cả ba tập</a:t>
            </a:r>
            <a:endParaRPr lang="en-US" sz="1550" dirty="0"/>
          </a:p>
        </p:txBody>
      </p:sp>
      <p:sp>
        <p:nvSpPr>
          <p:cNvPr id="43" name="Text 40"/>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do_an_may_hoc/results/eda.json, data_quality.json, eda_detail.json (text_noise)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Phát hiện 1: lớp lớn nhất gấp 595 lần lớp nhỏ nhất</a:t>
            </a:r>
            <a:endParaRPr lang="en-US" sz="2300" dirty="0"/>
          </a:p>
        </p:txBody>
      </p:sp>
      <p:sp>
        <p:nvSpPr>
          <p:cNvPr id="3" name="Shape 1"/>
          <p:cNvSpPr/>
          <p:nvPr/>
        </p:nvSpPr>
        <p:spPr>
          <a:xfrm>
            <a:off x="8275320" y="384048"/>
            <a:ext cx="649224" cy="73152"/>
          </a:xfrm>
          <a:prstGeom prst="rect">
            <a:avLst/>
          </a:prstGeom>
          <a:solidFill>
            <a:srgbClr val="E4572E"/>
          </a:solidFill>
          <a:ln w="12700">
            <a:solidFill>
              <a:srgbClr val="E4572E"/>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DDE5EB"/>
          </a:solidFill>
          <a:ln w="12700">
            <a:solidFill>
              <a:srgbClr val="DDE5EB"/>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 / 22</a:t>
            </a:r>
            <a:endParaRPr lang="en-US" sz="1000" dirty="0"/>
          </a:p>
        </p:txBody>
      </p:sp>
      <p:graphicFrame>
        <p:nvGraphicFramePr>
          <p:cNvPr id="14" name="Chart 0" descr=""/>
          <p:cNvGraphicFramePr/>
          <p:nvPr/>
        </p:nvGraphicFramePr>
        <p:xfrm>
          <a:off x="457200" y="1143000"/>
          <a:ext cx="6949440" cy="51663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7680960" y="1188720"/>
            <a:ext cx="3977640" cy="1097280"/>
          </a:xfrm>
          <a:prstGeom prst="roundRect">
            <a:avLst>
              <a:gd name="adj" fmla="val 6667"/>
            </a:avLst>
          </a:prstGeom>
          <a:solidFill>
            <a:srgbClr val="EEF4F7"/>
          </a:solidFill>
          <a:ln w="12700">
            <a:solidFill>
              <a:srgbClr val="EEF4F7"/>
            </a:solidFill>
            <a:prstDash val="solid"/>
          </a:ln>
        </p:spPr>
      </p:sp>
      <p:sp>
        <p:nvSpPr>
          <p:cNvPr id="16" name="Text 13"/>
          <p:cNvSpPr txBox="1"/>
          <p:nvPr/>
        </p:nvSpPr>
        <p:spPr>
          <a:xfrm>
            <a:off x="7845552" y="1261872"/>
            <a:ext cx="3648456" cy="570586"/>
          </a:xfrm>
          <a:prstGeom prst="rect">
            <a:avLst/>
          </a:prstGeom>
          <a:noFill/>
          <a:ln/>
        </p:spPr>
        <p:txBody>
          <a:bodyPr wrap="square" lIns="0" tIns="0" rIns="0" bIns="0" rtlCol="0" anchor="ctr"/>
          <a:lstStyle/>
          <a:p>
            <a:pPr indent="0" marL="0">
              <a:buNone/>
            </a:pPr>
            <a:r>
              <a:rPr lang="en-US" sz="2400" b="1" dirty="0">
                <a:solidFill>
                  <a:srgbClr val="2A9D8F"/>
                </a:solidFill>
                <a:latin typeface="Cambria" pitchFamily="34" charset="0"/>
                <a:ea typeface="Cambria" pitchFamily="34" charset="-122"/>
                <a:cs typeface="Cambria" pitchFamily="34" charset="-120"/>
              </a:rPr>
              <a:t>78,5%</a:t>
            </a:r>
            <a:endParaRPr lang="en-US" sz="2400" dirty="0"/>
          </a:p>
        </p:txBody>
      </p:sp>
      <p:sp>
        <p:nvSpPr>
          <p:cNvPr id="17" name="Text 14"/>
          <p:cNvSpPr txBox="1"/>
          <p:nvPr/>
        </p:nvSpPr>
        <p:spPr>
          <a:xfrm>
            <a:off x="7845552" y="1847088"/>
            <a:ext cx="3648456" cy="395021"/>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token train mang nhãn O; đoán toàn O đã đạt accuracy 78,8% trên test</a:t>
            </a:r>
            <a:endParaRPr lang="en-US" sz="1100" dirty="0"/>
          </a:p>
        </p:txBody>
      </p:sp>
      <p:sp>
        <p:nvSpPr>
          <p:cNvPr id="18" name="Shape 15"/>
          <p:cNvSpPr/>
          <p:nvPr/>
        </p:nvSpPr>
        <p:spPr>
          <a:xfrm>
            <a:off x="7680960" y="2423160"/>
            <a:ext cx="3977640" cy="1097280"/>
          </a:xfrm>
          <a:prstGeom prst="roundRect">
            <a:avLst>
              <a:gd name="adj" fmla="val 6667"/>
            </a:avLst>
          </a:prstGeom>
          <a:solidFill>
            <a:srgbClr val="EEF4F7"/>
          </a:solidFill>
          <a:ln w="12700">
            <a:solidFill>
              <a:srgbClr val="EEF4F7"/>
            </a:solidFill>
            <a:prstDash val="solid"/>
          </a:ln>
        </p:spPr>
      </p:sp>
      <p:sp>
        <p:nvSpPr>
          <p:cNvPr id="19" name="Text 16"/>
          <p:cNvSpPr txBox="1"/>
          <p:nvPr/>
        </p:nvSpPr>
        <p:spPr>
          <a:xfrm>
            <a:off x="7845552" y="2496312"/>
            <a:ext cx="3648456" cy="570586"/>
          </a:xfrm>
          <a:prstGeom prst="rect">
            <a:avLst/>
          </a:prstGeom>
          <a:noFill/>
          <a:ln/>
        </p:spPr>
        <p:txBody>
          <a:bodyPr wrap="square" lIns="0" tIns="0" rIns="0" bIns="0" rtlCol="0" anchor="ctr"/>
          <a:lstStyle/>
          <a:p>
            <a:pPr indent="0" marL="0">
              <a:buNone/>
            </a:pPr>
            <a:r>
              <a:rPr lang="en-US" sz="2400" b="1" dirty="0">
                <a:solidFill>
                  <a:srgbClr val="E9A23B"/>
                </a:solidFill>
                <a:latin typeface="Cambria" pitchFamily="34" charset="0"/>
                <a:ea typeface="Cambria" pitchFamily="34" charset="-122"/>
                <a:cs typeface="Cambria" pitchFamily="34" charset="-120"/>
              </a:rPr>
              <a:t>595×</a:t>
            </a:r>
            <a:endParaRPr lang="en-US" sz="2400" dirty="0"/>
          </a:p>
        </p:txBody>
      </p:sp>
      <p:sp>
        <p:nvSpPr>
          <p:cNvPr id="20" name="Text 17"/>
          <p:cNvSpPr txBox="1"/>
          <p:nvPr/>
        </p:nvSpPr>
        <p:spPr>
          <a:xfrm>
            <a:off x="7845552" y="3081528"/>
            <a:ext cx="3648456" cy="395021"/>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DISEASESYMTOM 2.975 so với TRANSPORTATION 5 thực thể train</a:t>
            </a:r>
            <a:endParaRPr lang="en-US" sz="1100" dirty="0"/>
          </a:p>
        </p:txBody>
      </p:sp>
      <p:sp>
        <p:nvSpPr>
          <p:cNvPr id="21" name="Shape 18"/>
          <p:cNvSpPr/>
          <p:nvPr/>
        </p:nvSpPr>
        <p:spPr>
          <a:xfrm>
            <a:off x="7680960" y="3657600"/>
            <a:ext cx="3977640" cy="2651760"/>
          </a:xfrm>
          <a:prstGeom prst="roundRect">
            <a:avLst>
              <a:gd name="adj" fmla="val 2759"/>
            </a:avLst>
          </a:prstGeom>
          <a:solidFill>
            <a:srgbClr val="FCE9E3"/>
          </a:solidFill>
          <a:ln w="12700">
            <a:solidFill>
              <a:srgbClr val="FCE9E3"/>
            </a:solidFill>
            <a:prstDash val="solid"/>
          </a:ln>
        </p:spPr>
      </p:sp>
      <p:sp>
        <p:nvSpPr>
          <p:cNvPr id="22" name="Text 19"/>
          <p:cNvSpPr txBox="1"/>
          <p:nvPr/>
        </p:nvSpPr>
        <p:spPr>
          <a:xfrm>
            <a:off x="7863840" y="3749040"/>
            <a:ext cx="3657600" cy="365760"/>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Lớp hiếm: kết quả không đáng tin</a:t>
            </a:r>
            <a:endParaRPr lang="en-US" sz="1500" dirty="0"/>
          </a:p>
        </p:txBody>
      </p:sp>
      <p:sp>
        <p:nvSpPr>
          <p:cNvPr id="23" name="Text 20"/>
          <p:cNvSpPr txBox="1"/>
          <p:nvPr/>
        </p:nvSpPr>
        <p:spPr>
          <a:xfrm>
            <a:off x="7863840" y="4160520"/>
            <a:ext cx="3657600" cy="2103120"/>
          </a:xfrm>
          <a:prstGeom prst="rect">
            <a:avLst/>
          </a:prstGeom>
          <a:noFill/>
          <a:ln/>
        </p:spPr>
        <p:txBody>
          <a:bodyPr wrap="square" lIns="635" tIns="635" rIns="635" bIns="635" rtlCol="0" anchor="t"/>
          <a:lstStyle/>
          <a:p>
            <a:pPr marL="203200" indent="-203200">
              <a:spcAft>
                <a:spcPts val="600"/>
              </a:spcAft>
              <a:buSzPct val="100000"/>
              <a:buChar char="•"/>
            </a:pPr>
            <a:r>
              <a:rPr lang="en-US" sz="1300" b="1" dirty="0">
                <a:solidFill>
                  <a:srgbClr val="1B2733"/>
                </a:solidFill>
                <a:latin typeface="Calibri" pitchFamily="34" charset="0"/>
                <a:ea typeface="Calibri" pitchFamily="34" charset="-122"/>
                <a:cs typeface="Calibri" pitchFamily="34" charset="-120"/>
              </a:rPr>
              <a:t>ORGANIZATION:</a:t>
            </a:r>
            <a:r>
              <a:rPr lang="en-US" sz="1300" dirty="0">
                <a:solidFill>
                  <a:srgbClr val="1B2733"/>
                </a:solidFill>
                <a:latin typeface="Calibri" pitchFamily="34" charset="0"/>
                <a:ea typeface="Calibri" pitchFamily="34" charset="-122"/>
                <a:cs typeface="Calibri" pitchFamily="34" charset="-120"/>
              </a:rPr>
              <a:t> 19 mẫu train, 61 mẫu test; một thực thể test = </a:t>
            </a:r>
            <a:r>
              <a:rPr lang="en-US" sz="1300" b="1" dirty="0">
                <a:solidFill>
                  <a:srgbClr val="1B2733"/>
                </a:solidFill>
                <a:latin typeface="Calibri" pitchFamily="34" charset="0"/>
                <a:ea typeface="Calibri" pitchFamily="34" charset="-122"/>
                <a:cs typeface="Calibri" pitchFamily="34" charset="-120"/>
              </a:rPr>
              <a:t>1,6</a:t>
            </a:r>
            <a:r>
              <a:rPr lang="en-US" sz="1300" dirty="0">
                <a:solidFill>
                  <a:srgbClr val="1B2733"/>
                </a:solidFill>
                <a:latin typeface="Calibri" pitchFamily="34" charset="0"/>
                <a:ea typeface="Calibri" pitchFamily="34" charset="-122"/>
                <a:cs typeface="Calibri" pitchFamily="34" charset="-120"/>
              </a:rPr>
              <a:t> điểm recall</a:t>
            </a:r>
            <a:endParaRPr lang="en-US" sz="1300" dirty="0"/>
          </a:p>
          <a:p>
            <a:pPr marL="203200" indent="-203200">
              <a:spcAft>
                <a:spcPts val="600"/>
              </a:spcAft>
              <a:buSzPct val="100000"/>
              <a:buChar char="•"/>
            </a:pPr>
            <a:r>
              <a:rPr lang="en-US" sz="1300" b="1" dirty="0">
                <a:solidFill>
                  <a:srgbClr val="1B2733"/>
                </a:solidFill>
                <a:latin typeface="Calibri" pitchFamily="34" charset="0"/>
                <a:ea typeface="Calibri" pitchFamily="34" charset="-122"/>
                <a:cs typeface="Calibri" pitchFamily="34" charset="-120"/>
              </a:rPr>
              <a:t>TRANSPORTATION:</a:t>
            </a:r>
            <a:r>
              <a:rPr lang="en-US" sz="1300" dirty="0">
                <a:solidFill>
                  <a:srgbClr val="1B2733"/>
                </a:solidFill>
                <a:latin typeface="Calibri" pitchFamily="34" charset="0"/>
                <a:ea typeface="Calibri" pitchFamily="34" charset="-122"/>
                <a:cs typeface="Calibri" pitchFamily="34" charset="-120"/>
              </a:rPr>
              <a:t> 5 mẫu train, 27 mẫu test; một thực thể test = </a:t>
            </a:r>
            <a:r>
              <a:rPr lang="en-US" sz="1300" b="1" dirty="0">
                <a:solidFill>
                  <a:srgbClr val="1B2733"/>
                </a:solidFill>
                <a:latin typeface="Calibri" pitchFamily="34" charset="0"/>
                <a:ea typeface="Calibri" pitchFamily="34" charset="-122"/>
                <a:cs typeface="Calibri" pitchFamily="34" charset="-120"/>
              </a:rPr>
              <a:t>3,7</a:t>
            </a:r>
            <a:r>
              <a:rPr lang="en-US" sz="1300" dirty="0">
                <a:solidFill>
                  <a:srgbClr val="1B2733"/>
                </a:solidFill>
                <a:latin typeface="Calibri" pitchFamily="34" charset="0"/>
                <a:ea typeface="Calibri" pitchFamily="34" charset="-122"/>
                <a:cs typeface="Calibri" pitchFamily="34" charset="-120"/>
              </a:rPr>
              <a:t> điểm recall</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Ngưỡng "hiếm": dưới 50 mẫu train</a:t>
            </a:r>
            <a:endParaRPr lang="en-US" sz="1300" dirty="0"/>
          </a:p>
        </p:txBody>
      </p:sp>
      <p:sp>
        <p:nvSpPr>
          <p:cNvPr id="24" name="Text 21"/>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do_an_may_hoc/results/eda.json, eda_detail.json (class_distribution)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Phát hiện 2: 30,65% thực thể test chưa từng gặp</a:t>
            </a:r>
            <a:endParaRPr lang="en-US" sz="2300" dirty="0"/>
          </a:p>
        </p:txBody>
      </p:sp>
      <p:sp>
        <p:nvSpPr>
          <p:cNvPr id="3" name="Shape 1"/>
          <p:cNvSpPr/>
          <p:nvPr/>
        </p:nvSpPr>
        <p:spPr>
          <a:xfrm>
            <a:off x="8275320" y="384048"/>
            <a:ext cx="649224" cy="73152"/>
          </a:xfrm>
          <a:prstGeom prst="rect">
            <a:avLst/>
          </a:prstGeom>
          <a:solidFill>
            <a:srgbClr val="E4572E"/>
          </a:solidFill>
          <a:ln w="12700">
            <a:solidFill>
              <a:srgbClr val="E4572E"/>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DDE5EB"/>
          </a:solidFill>
          <a:ln w="12700">
            <a:solidFill>
              <a:srgbClr val="DDE5EB"/>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 / 22</a:t>
            </a:r>
            <a:endParaRPr lang="en-US" sz="1000" dirty="0"/>
          </a:p>
        </p:txBody>
      </p:sp>
      <p:pic>
        <p:nvPicPr>
          <p:cNvPr id="14" name="Image 0" descr="fig_type_shift.png">    </p:cNvPr>
          <p:cNvPicPr>
            <a:picLocks noChangeAspect="1"/>
          </p:cNvPicPr>
          <p:nvPr/>
        </p:nvPicPr>
        <p:blipFill>
          <a:blip r:embed="rId1"/>
          <a:stretch>
            <a:fillRect/>
          </a:stretch>
        </p:blipFill>
        <p:spPr>
          <a:xfrm>
            <a:off x="457200" y="1188720"/>
            <a:ext cx="7315200" cy="3038622"/>
          </a:xfrm>
          <a:prstGeom prst="rect">
            <a:avLst/>
          </a:prstGeom>
        </p:spPr>
      </p:pic>
      <p:sp>
        <p:nvSpPr>
          <p:cNvPr id="15" name="Shape 12"/>
          <p:cNvSpPr/>
          <p:nvPr/>
        </p:nvSpPr>
        <p:spPr>
          <a:xfrm>
            <a:off x="8001000" y="1188720"/>
            <a:ext cx="3657600" cy="3108960"/>
          </a:xfrm>
          <a:prstGeom prst="roundRect">
            <a:avLst>
              <a:gd name="adj" fmla="val 2353"/>
            </a:avLst>
          </a:prstGeom>
          <a:solidFill>
            <a:srgbClr val="FCE9E3"/>
          </a:solidFill>
          <a:ln w="12700">
            <a:solidFill>
              <a:srgbClr val="FCE9E3"/>
            </a:solidFill>
            <a:prstDash val="solid"/>
          </a:ln>
        </p:spPr>
      </p:sp>
      <p:sp>
        <p:nvSpPr>
          <p:cNvPr id="16" name="Text 13"/>
          <p:cNvSpPr txBox="1"/>
          <p:nvPr/>
        </p:nvSpPr>
        <p:spPr>
          <a:xfrm>
            <a:off x="8183880" y="1280160"/>
            <a:ext cx="3383280" cy="365760"/>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Train/val cùng nguồn, test khác</a:t>
            </a:r>
            <a:endParaRPr lang="en-US" sz="1500" dirty="0"/>
          </a:p>
        </p:txBody>
      </p:sp>
      <p:sp>
        <p:nvSpPr>
          <p:cNvPr id="17" name="Text 14"/>
          <p:cNvSpPr txBox="1"/>
          <p:nvPr/>
        </p:nvSpPr>
        <p:spPr>
          <a:xfrm>
            <a:off x="8183880" y="1691640"/>
            <a:ext cx="3383280" cy="2560320"/>
          </a:xfrm>
          <a:prstGeom prst="rect">
            <a:avLst/>
          </a:prstGeom>
          <a:noFill/>
          <a:ln/>
        </p:spPr>
        <p:txBody>
          <a:bodyPr wrap="square" lIns="635" tIns="635" rIns="635" bIns="635" rtlCol="0" anchor="t"/>
          <a:lstStyle/>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Train: VietMed train 2.214 + dev 2.331 + cv 71 câu</a:t>
            </a:r>
            <a:endParaRPr lang="en-US" sz="1250" dirty="0"/>
          </a:p>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Val: dev 581 + train 559 + cv 14 ⇒ </a:t>
            </a:r>
            <a:r>
              <a:rPr lang="en-US" sz="1250" b="1" dirty="0">
                <a:solidFill>
                  <a:srgbClr val="1B2733"/>
                </a:solidFill>
                <a:latin typeface="Calibri" pitchFamily="34" charset="0"/>
                <a:ea typeface="Calibri" pitchFamily="34" charset="-122"/>
                <a:cs typeface="Calibri" pitchFamily="34" charset="-120"/>
              </a:rPr>
              <a:t>chia ngẫu nhiên</a:t>
            </a:r>
            <a:r>
              <a:rPr lang="en-US" sz="1250" dirty="0">
                <a:solidFill>
                  <a:srgbClr val="1B2733"/>
                </a:solidFill>
                <a:latin typeface="Calibri" pitchFamily="34" charset="0"/>
                <a:ea typeface="Calibri" pitchFamily="34" charset="-122"/>
                <a:cs typeface="Calibri" pitchFamily="34" charset="-120"/>
              </a:rPr>
              <a:t> cùng nguồn</a:t>
            </a:r>
            <a:endParaRPr lang="en-US" sz="1250" dirty="0"/>
          </a:p>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Test: bản ghi test riêng (3.437 khớp + 60 không khớp nguyên văn)</a:t>
            </a:r>
            <a:endParaRPr lang="en-US" sz="1250" dirty="0"/>
          </a:p>
        </p:txBody>
      </p:sp>
      <p:sp>
        <p:nvSpPr>
          <p:cNvPr id="18" name="Text 15"/>
          <p:cNvSpPr txBox="1"/>
          <p:nvPr/>
        </p:nvSpPr>
        <p:spPr>
          <a:xfrm>
            <a:off x="548640" y="4526280"/>
            <a:ext cx="1920240" cy="457200"/>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Chưa gặp — Validation</a:t>
            </a:r>
            <a:endParaRPr lang="en-US" sz="1300" dirty="0"/>
          </a:p>
        </p:txBody>
      </p:sp>
      <p:sp>
        <p:nvSpPr>
          <p:cNvPr id="19" name="Shape 16"/>
          <p:cNvSpPr/>
          <p:nvPr/>
        </p:nvSpPr>
        <p:spPr>
          <a:xfrm>
            <a:off x="2514600" y="4617720"/>
            <a:ext cx="698133" cy="274320"/>
          </a:xfrm>
          <a:prstGeom prst="rect">
            <a:avLst/>
          </a:prstGeom>
          <a:solidFill>
            <a:srgbClr val="2A9D8F"/>
          </a:solidFill>
          <a:ln w="12700">
            <a:solidFill>
              <a:srgbClr val="2A9D8F"/>
            </a:solidFill>
            <a:prstDash val="solid"/>
          </a:ln>
        </p:spPr>
      </p:sp>
      <p:sp>
        <p:nvSpPr>
          <p:cNvPr id="20" name="Text 17"/>
          <p:cNvSpPr txBox="1"/>
          <p:nvPr/>
        </p:nvSpPr>
        <p:spPr>
          <a:xfrm>
            <a:off x="3304173" y="4526280"/>
            <a:ext cx="1097280" cy="45720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6,68%</a:t>
            </a:r>
            <a:endParaRPr lang="en-US" sz="1600" dirty="0"/>
          </a:p>
        </p:txBody>
      </p:sp>
      <p:sp>
        <p:nvSpPr>
          <p:cNvPr id="21" name="Text 18"/>
          <p:cNvSpPr txBox="1"/>
          <p:nvPr/>
        </p:nvSpPr>
        <p:spPr>
          <a:xfrm>
            <a:off x="548640" y="5074920"/>
            <a:ext cx="1920240" cy="457200"/>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Chưa gặp — Test</a:t>
            </a:r>
            <a:endParaRPr lang="en-US" sz="1300" dirty="0"/>
          </a:p>
        </p:txBody>
      </p:sp>
      <p:sp>
        <p:nvSpPr>
          <p:cNvPr id="22" name="Shape 19"/>
          <p:cNvSpPr/>
          <p:nvPr/>
        </p:nvSpPr>
        <p:spPr>
          <a:xfrm>
            <a:off x="2514600" y="5166360"/>
            <a:ext cx="3203518" cy="274320"/>
          </a:xfrm>
          <a:prstGeom prst="rect">
            <a:avLst/>
          </a:prstGeom>
          <a:solidFill>
            <a:srgbClr val="E4572E"/>
          </a:solidFill>
          <a:ln w="12700">
            <a:solidFill>
              <a:srgbClr val="E4572E"/>
            </a:solidFill>
            <a:prstDash val="solid"/>
          </a:ln>
        </p:spPr>
      </p:sp>
      <p:sp>
        <p:nvSpPr>
          <p:cNvPr id="23" name="Text 20"/>
          <p:cNvSpPr txBox="1"/>
          <p:nvPr/>
        </p:nvSpPr>
        <p:spPr>
          <a:xfrm>
            <a:off x="5809558" y="5074920"/>
            <a:ext cx="1097280" cy="45720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30,65%</a:t>
            </a:r>
            <a:endParaRPr lang="en-US" sz="1600" dirty="0"/>
          </a:p>
        </p:txBody>
      </p:sp>
      <p:sp>
        <p:nvSpPr>
          <p:cNvPr id="24" name="Shape 21"/>
          <p:cNvSpPr/>
          <p:nvPr/>
        </p:nvSpPr>
        <p:spPr>
          <a:xfrm>
            <a:off x="8001000" y="4480560"/>
            <a:ext cx="3657600" cy="1828800"/>
          </a:xfrm>
          <a:prstGeom prst="roundRect">
            <a:avLst>
              <a:gd name="adj" fmla="val 4000"/>
            </a:avLst>
          </a:prstGeom>
          <a:solidFill>
            <a:srgbClr val="EEF4F7"/>
          </a:solidFill>
          <a:ln w="12700">
            <a:solidFill>
              <a:srgbClr val="EEF4F7"/>
            </a:solidFill>
            <a:prstDash val="solid"/>
          </a:ln>
        </p:spPr>
      </p:sp>
      <p:sp>
        <p:nvSpPr>
          <p:cNvPr id="25" name="Text 22"/>
          <p:cNvSpPr txBox="1"/>
          <p:nvPr/>
        </p:nvSpPr>
        <p:spPr>
          <a:xfrm>
            <a:off x="8183880" y="4572000"/>
            <a:ext cx="338328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Chủ đề và hình thức khác</a:t>
            </a:r>
            <a:endParaRPr lang="en-US" sz="1500" dirty="0"/>
          </a:p>
        </p:txBody>
      </p:sp>
      <p:sp>
        <p:nvSpPr>
          <p:cNvPr id="26" name="Text 23"/>
          <p:cNvSpPr txBox="1"/>
          <p:nvPr/>
        </p:nvSpPr>
        <p:spPr>
          <a:xfrm>
            <a:off x="8183880" y="4937760"/>
            <a:ext cx="3383280" cy="1325880"/>
          </a:xfrm>
          <a:prstGeom prst="rect">
            <a:avLst/>
          </a:prstGeom>
          <a:noFill/>
          <a:ln/>
        </p:spPr>
        <p:txBody>
          <a:bodyPr wrap="square" lIns="635" tIns="635" rIns="635" bIns="635" rtlCol="0" anchor="t"/>
          <a:lstStyle/>
          <a:p>
            <a:pPr marL="203200" indent="-203200">
              <a:spcAft>
                <a:spcPts val="600"/>
              </a:spcAft>
              <a:buSzPct val="100000"/>
              <a:buChar char="•"/>
            </a:pPr>
            <a:r>
              <a:rPr lang="en-US" sz="1200" dirty="0">
                <a:solidFill>
                  <a:srgbClr val="1B2733"/>
                </a:solidFill>
                <a:latin typeface="Calibri" pitchFamily="34" charset="0"/>
                <a:ea typeface="Calibri" pitchFamily="34" charset="-122"/>
                <a:cs typeface="Calibri" pitchFamily="34" charset="-120"/>
              </a:rPr>
              <a:t>ICD-10 phổ biến nhất: train M00-M99 (23%), test K00-K95 (18%)</a:t>
            </a:r>
            <a:endParaRPr lang="en-US" sz="1200" dirty="0"/>
          </a:p>
          <a:p>
            <a:pPr marL="203200" indent="-203200">
              <a:spcAft>
                <a:spcPts val="600"/>
              </a:spcAft>
              <a:buSzPct val="100000"/>
              <a:buChar char="•"/>
            </a:pPr>
            <a:r>
              <a:rPr lang="en-US" sz="1200" dirty="0">
                <a:solidFill>
                  <a:srgbClr val="1B2733"/>
                </a:solidFill>
                <a:latin typeface="Calibri" pitchFamily="34" charset="0"/>
                <a:ea typeface="Calibri" pitchFamily="34" charset="-122"/>
                <a:cs typeface="Calibri" pitchFamily="34" charset="-120"/>
              </a:rPr>
              <a:t>Test chủ yếu Podcast, Talkshow; train là Consultation, Tel</a:t>
            </a:r>
            <a:endParaRPr lang="en-US" sz="1200" dirty="0"/>
          </a:p>
        </p:txBody>
      </p:sp>
      <p:sp>
        <p:nvSpPr>
          <p:cNvPr id="27" name="Text 24"/>
          <p:cNvSpPr txBox="1"/>
          <p:nvPr/>
        </p:nvSpPr>
        <p:spPr>
          <a:xfrm>
            <a:off x="548640" y="5715000"/>
            <a:ext cx="7223760" cy="594360"/>
          </a:xfrm>
          <a:prstGeom prst="rect">
            <a:avLst/>
          </a:prstGeom>
          <a:noFill/>
          <a:ln/>
        </p:spPr>
        <p:txBody>
          <a:bodyPr wrap="square" lIns="0" tIns="0" rIns="0" bIns="0" rtlCol="0" anchor="t"/>
          <a:lstStyle/>
          <a:p>
            <a:pPr algn="l" indent="0" marL="0">
              <a:buNone/>
            </a:pPr>
            <a:r>
              <a:rPr lang="en-US" sz="1250" i="1" dirty="0">
                <a:solidFill>
                  <a:srgbClr val="5B6B7A"/>
                </a:solidFill>
                <a:latin typeface="Calibri" pitchFamily="34" charset="0"/>
                <a:ea typeface="Calibri" pitchFamily="34" charset="-122"/>
                <a:cs typeface="Calibri" pitchFamily="34" charset="-120"/>
              </a:rPr>
              <a:t>Trùng lặp không đáng kể: 2 câu val trùng train, </a:t>
            </a:r>
            <a:r>
              <a:rPr lang="en-US" sz="1250" b="1" i="1" dirty="0">
                <a:solidFill>
                  <a:srgbClr val="5B6B7A"/>
                </a:solidFill>
                <a:latin typeface="Calibri" pitchFamily="34" charset="0"/>
                <a:ea typeface="Calibri" pitchFamily="34" charset="-122"/>
                <a:cs typeface="Calibri" pitchFamily="34" charset="-120"/>
              </a:rPr>
              <a:t>0</a:t>
            </a:r>
            <a:r>
              <a:rPr lang="en-US" sz="1250" i="1" dirty="0">
                <a:solidFill>
                  <a:srgbClr val="5B6B7A"/>
                </a:solidFill>
                <a:latin typeface="Calibri" pitchFamily="34" charset="0"/>
                <a:ea typeface="Calibri" pitchFamily="34" charset="-122"/>
                <a:cs typeface="Calibri" pitchFamily="34" charset="-120"/>
              </a:rPr>
              <a:t> câu test trùng train, 1 câu lặp trong test ⇒ không rò rỉ.</a:t>
            </a:r>
            <a:endParaRPr lang="en-US" sz="1250" dirty="0"/>
          </a:p>
        </p:txBody>
      </p:sp>
      <p:sp>
        <p:nvSpPr>
          <p:cNvPr id="28" name="Text 25"/>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data_quality.json (oov, lineage), eda_detail.json (per_type_shift, split_overlap), asr_eda.json (vietmed_splits)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Từ phát hiện đến quyết định huấn luyện</a:t>
            </a:r>
            <a:endParaRPr lang="en-US" sz="2300" dirty="0"/>
          </a:p>
        </p:txBody>
      </p:sp>
      <p:sp>
        <p:nvSpPr>
          <p:cNvPr id="3" name="Shape 1"/>
          <p:cNvSpPr/>
          <p:nvPr/>
        </p:nvSpPr>
        <p:spPr>
          <a:xfrm>
            <a:off x="8275320" y="384048"/>
            <a:ext cx="649224" cy="73152"/>
          </a:xfrm>
          <a:prstGeom prst="rect">
            <a:avLst/>
          </a:prstGeom>
          <a:solidFill>
            <a:srgbClr val="E4572E"/>
          </a:solidFill>
          <a:ln w="12700">
            <a:solidFill>
              <a:srgbClr val="E4572E"/>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DDE5EB"/>
          </a:solidFill>
          <a:ln w="12700">
            <a:solidFill>
              <a:srgbClr val="DDE5EB"/>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 / 22</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2103120"/>
                <a:gridCol w="3794760"/>
                <a:gridCol w="5212080"/>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Phát hiện (EDA)</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Bằng chứng</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Quyết định</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Nhãn O áp đảo</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78,5% token là O</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Thước đo chính: F1 mức thực thể (seqeval strict), kèm macro F1; không dùng accuracy</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Mất cân bằng</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595×; ORGANIZATION 19, TRANSPORTATION 5 mẫu train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Không class weight / oversampling, cùng hàm mục tiêu cho mọi mô hình; không kết luận về lớp hiếm</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Lệch miền train–test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30,65% thực thể test chưa gặp (val 6,68%)</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Báo cáo riêng recall thực thể đã gặp / chưa gặp; chọn theo val nhưng không coi val là ước lượng test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Chuỗi BIO lỗi</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16 / 0 / 7 lần I- sau O (train / val / test)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Giữ nguyên nhãn gốc để không đổi tập đánh giá chính thức</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Độ dài câu</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 40 âm tiết; ≤ 47 subword</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max_length = 256: 0 câu bị cắt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Trùng lặp</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 câu val trùng train, 0 câu test trùng train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Giữ nguyên các tập</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Nhãn chưa nhất quán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4 chuỗi mang nhiều loại; "bệnh lý" 57 lần có nhãn, 95 lần không</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Không sửa nhãn; coi là nhiễu khi phân tích lỗi đoán thừa / bỏ sót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bl>
          </a:graphicData>
        </a:graphic>
      </p:graphicFrame>
      <p:sp>
        <p:nvSpPr>
          <p:cNvPr id="15" name="Shape 12"/>
          <p:cNvSpPr/>
          <p:nvPr/>
        </p:nvSpPr>
        <p:spPr>
          <a:xfrm>
            <a:off x="548640" y="5715000"/>
            <a:ext cx="11109960" cy="640080"/>
          </a:xfrm>
          <a:prstGeom prst="roundRect">
            <a:avLst>
              <a:gd name="adj" fmla="val 11429"/>
            </a:avLst>
          </a:prstGeom>
          <a:solidFill>
            <a:srgbClr val="FBF1DF"/>
          </a:solidFill>
          <a:ln w="12700">
            <a:solidFill>
              <a:srgbClr val="FBF1DF"/>
            </a:solidFill>
            <a:prstDash val="solid"/>
          </a:ln>
        </p:spPr>
      </p:sp>
      <p:sp>
        <p:nvSpPr>
          <p:cNvPr id="16" name="Text 13"/>
          <p:cNvSpPr txBox="1"/>
          <p:nvPr/>
        </p:nvSpPr>
        <p:spPr>
          <a:xfrm>
            <a:off x="731520" y="5715000"/>
            <a:ext cx="10789920" cy="640080"/>
          </a:xfrm>
          <a:prstGeom prst="rect">
            <a:avLst/>
          </a:prstGeom>
          <a:noFill/>
          <a:ln/>
        </p:spPr>
        <p:txBody>
          <a:bodyPr wrap="square" lIns="0" tIns="0" rIns="0" bIns="0" rtlCol="0" anchor="ctr"/>
          <a:lstStyle/>
          <a:p>
            <a:pPr algn="l" indent="0" marL="0">
              <a:buNone/>
            </a:pPr>
            <a:r>
              <a:rPr lang="en-US" sz="1400" b="1" dirty="0">
                <a:solidFill>
                  <a:srgbClr val="1B2733"/>
                </a:solidFill>
                <a:latin typeface="Calibri" pitchFamily="34" charset="0"/>
                <a:ea typeface="Calibri" pitchFamily="34" charset="-122"/>
                <a:cs typeface="Calibri" pitchFamily="34" charset="-120"/>
              </a:rPr>
              <a:t>Luật chơi:</a:t>
            </a:r>
            <a:r>
              <a:rPr lang="en-US" sz="1400" dirty="0">
                <a:solidFill>
                  <a:srgbClr val="1B2733"/>
                </a:solidFill>
                <a:latin typeface="Calibri" pitchFamily="34" charset="0"/>
                <a:ea typeface="Calibri" pitchFamily="34" charset="-122"/>
                <a:cs typeface="Calibri" pitchFamily="34" charset="-120"/>
              </a:rPr>
              <a:t> siêu tham số và seed chọn </a:t>
            </a:r>
            <a:r>
              <a:rPr lang="en-US" sz="1400" b="1" dirty="0">
                <a:solidFill>
                  <a:srgbClr val="1B2733"/>
                </a:solidFill>
                <a:latin typeface="Calibri" pitchFamily="34" charset="0"/>
                <a:ea typeface="Calibri" pitchFamily="34" charset="-122"/>
                <a:cs typeface="Calibri" pitchFamily="34" charset="-120"/>
              </a:rPr>
              <a:t>chỉ theo validation</a:t>
            </a:r>
            <a:r>
              <a:rPr lang="en-US" sz="1400" dirty="0">
                <a:solidFill>
                  <a:srgbClr val="1B2733"/>
                </a:solidFill>
                <a:latin typeface="Calibri" pitchFamily="34" charset="0"/>
                <a:ea typeface="Calibri" pitchFamily="34" charset="-122"/>
                <a:cs typeface="Calibri" pitchFamily="34" charset="-120"/>
              </a:rPr>
              <a:t>; test chấm một lần; so sánh bằng paired bootstrap (2.000 lần lấy mẫu).</a:t>
            </a:r>
            <a:endParaRPr lang="en-US" sz="1400" dirty="0"/>
          </a:p>
        </p:txBody>
      </p:sp>
      <p:sp>
        <p:nvSpPr>
          <p:cNvPr id="17" name="Text 14"/>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eda_findings.json, eda.json, eda_detail.json, data_quality.json, ladder_steps.json (protocol)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Sáu mô hình, hai họ, cùng một thước đo</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E4572E"/>
          </a:solidFill>
          <a:ln w="12700">
            <a:solidFill>
              <a:srgbClr val="E4572E"/>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 / 22</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2011680"/>
                <a:gridCol w="2377440"/>
                <a:gridCol w="1874520"/>
                <a:gridCol w="4846320"/>
              </a:tblGrid>
              <a:tr h="43891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Mô hình</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Họ</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Đầu vào</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Cấu hình chọn theo validation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38912">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Cổ điển, từng âm tiết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Đặc trưng thủ công</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 = 10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38912">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Linear SVM</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Cổ điển, từng âm tiết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Đặc trưng thủ công</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 = 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CRF</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Cổ điển, cả chuỗi</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Đặc trưng thủ công</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c1 = 0,1, c2 = 0,01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38912">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XLM-R</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Transformer đa ngôn ngữ</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Subword</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checkpoint của tác giả bộ dữ liệu (277M tham số)</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PhoBERT-base-v2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Transformer tiếng Việt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Subword</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lr 3e-5, 8 epoch, wd 0,05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38912">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ViHealthBERT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Transformer tiếng Việt y tế</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Subword</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lr 3e-5, 8 epoch, wd 0,01 (134M)</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5" name="Shape 12"/>
          <p:cNvSpPr/>
          <p:nvPr/>
        </p:nvSpPr>
        <p:spPr>
          <a:xfrm>
            <a:off x="548640" y="4526280"/>
            <a:ext cx="3593592" cy="1783080"/>
          </a:xfrm>
          <a:prstGeom prst="roundRect">
            <a:avLst>
              <a:gd name="adj" fmla="val 4103"/>
            </a:avLst>
          </a:prstGeom>
          <a:solidFill>
            <a:srgbClr val="EEF4F7"/>
          </a:solidFill>
          <a:ln w="12700">
            <a:solidFill>
              <a:srgbClr val="EEF4F7"/>
            </a:solidFill>
            <a:prstDash val="solid"/>
          </a:ln>
        </p:spPr>
      </p:sp>
      <p:sp>
        <p:nvSpPr>
          <p:cNvPr id="16" name="Text 13"/>
          <p:cNvSpPr txBox="1"/>
          <p:nvPr/>
        </p:nvSpPr>
        <p:spPr>
          <a:xfrm>
            <a:off x="731520" y="4617720"/>
            <a:ext cx="3246120" cy="365760"/>
          </a:xfrm>
          <a:prstGeom prst="rect">
            <a:avLst/>
          </a:prstGeom>
          <a:noFill/>
          <a:ln/>
        </p:spPr>
        <p:txBody>
          <a:bodyPr wrap="square" lIns="0" tIns="0" rIns="0" bIns="0" rtlCol="0" anchor="ctr"/>
          <a:lstStyle/>
          <a:p>
            <a:pPr indent="0" marL="0">
              <a:buNone/>
            </a:pPr>
            <a:r>
              <a:rPr lang="en-US" sz="1600" b="1" dirty="0">
                <a:solidFill>
                  <a:srgbClr val="0F2A3D"/>
                </a:solidFill>
                <a:latin typeface="Cambria" pitchFamily="34" charset="0"/>
                <a:ea typeface="Cambria" pitchFamily="34" charset="-122"/>
                <a:cs typeface="Cambria" pitchFamily="34" charset="-120"/>
              </a:rPr>
              <a:t>Cổ điển</a:t>
            </a:r>
            <a:endParaRPr lang="en-US" sz="1600" dirty="0"/>
          </a:p>
        </p:txBody>
      </p:sp>
      <p:sp>
        <p:nvSpPr>
          <p:cNvPr id="17" name="Text 14"/>
          <p:cNvSpPr txBox="1"/>
          <p:nvPr/>
        </p:nvSpPr>
        <p:spPr>
          <a:xfrm>
            <a:off x="731520" y="5029200"/>
            <a:ext cx="3246120" cy="1234440"/>
          </a:xfrm>
          <a:prstGeom prst="rect">
            <a:avLst/>
          </a:prstGeom>
          <a:noFill/>
          <a:ln/>
        </p:spPr>
        <p:txBody>
          <a:bodyPr wrap="square" lIns="0" tIns="0" rIns="0" bIns="0" rtlCol="0" anchor="t"/>
          <a:lstStyle/>
          <a:p>
            <a:pPr algn="l" indent="0" marL="0">
              <a:buNone/>
            </a:pPr>
            <a:r>
              <a:rPr lang="en-US" sz="1300" dirty="0">
                <a:solidFill>
                  <a:srgbClr val="1B2733"/>
                </a:solidFill>
                <a:latin typeface="Calibri" pitchFamily="34" charset="0"/>
                <a:ea typeface="Calibri" pitchFamily="34" charset="-122"/>
                <a:cs typeface="Calibri" pitchFamily="34" charset="-120"/>
              </a:rPr>
              <a:t>Âm tiết, tiền tố / hậu tố, cửa sổ ±2 âm tiết, bigram → vector thưa (DictVectorizer).</a:t>
            </a:r>
            <a:endParaRPr lang="en-US" sz="1300" dirty="0"/>
          </a:p>
        </p:txBody>
      </p:sp>
      <p:sp>
        <p:nvSpPr>
          <p:cNvPr id="18" name="Shape 15"/>
          <p:cNvSpPr/>
          <p:nvPr/>
        </p:nvSpPr>
        <p:spPr>
          <a:xfrm>
            <a:off x="4297680" y="4526280"/>
            <a:ext cx="3593592" cy="1783080"/>
          </a:xfrm>
          <a:prstGeom prst="roundRect">
            <a:avLst>
              <a:gd name="adj" fmla="val 4103"/>
            </a:avLst>
          </a:prstGeom>
          <a:solidFill>
            <a:srgbClr val="E3F3F1"/>
          </a:solidFill>
          <a:ln w="12700">
            <a:solidFill>
              <a:srgbClr val="E3F3F1"/>
            </a:solidFill>
            <a:prstDash val="solid"/>
          </a:ln>
        </p:spPr>
      </p:sp>
      <p:sp>
        <p:nvSpPr>
          <p:cNvPr id="19" name="Text 16"/>
          <p:cNvSpPr txBox="1"/>
          <p:nvPr/>
        </p:nvSpPr>
        <p:spPr>
          <a:xfrm>
            <a:off x="4480560" y="4617720"/>
            <a:ext cx="324612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Transformer</a:t>
            </a:r>
            <a:endParaRPr lang="en-US" sz="1600" dirty="0"/>
          </a:p>
        </p:txBody>
      </p:sp>
      <p:sp>
        <p:nvSpPr>
          <p:cNvPr id="20" name="Text 17"/>
          <p:cNvSpPr txBox="1"/>
          <p:nvPr/>
        </p:nvSpPr>
        <p:spPr>
          <a:xfrm>
            <a:off x="4480560" y="5029200"/>
            <a:ext cx="3246120" cy="1234440"/>
          </a:xfrm>
          <a:prstGeom prst="rect">
            <a:avLst/>
          </a:prstGeom>
          <a:noFill/>
          <a:ln/>
        </p:spPr>
        <p:txBody>
          <a:bodyPr wrap="square" lIns="0" tIns="0" rIns="0" bIns="0" rtlCol="0" anchor="t"/>
          <a:lstStyle/>
          <a:p>
            <a:pPr algn="l" indent="0" marL="0">
              <a:buNone/>
            </a:pPr>
            <a:r>
              <a:rPr lang="en-US" sz="1300" dirty="0">
                <a:solidFill>
                  <a:srgbClr val="1B2733"/>
                </a:solidFill>
                <a:latin typeface="Calibri" pitchFamily="34" charset="0"/>
                <a:ea typeface="Calibri" pitchFamily="34" charset="-122"/>
                <a:cs typeface="Calibri" pitchFamily="34" charset="-120"/>
              </a:rPr>
              <a:t>Âm tiết → subword; nhãn gán cho subword đầu, subword còn lại bỏ qua khi tính loss.</a:t>
            </a:r>
            <a:endParaRPr lang="en-US" sz="1300" dirty="0"/>
          </a:p>
        </p:txBody>
      </p:sp>
      <p:sp>
        <p:nvSpPr>
          <p:cNvPr id="21" name="Shape 18"/>
          <p:cNvSpPr/>
          <p:nvPr/>
        </p:nvSpPr>
        <p:spPr>
          <a:xfrm>
            <a:off x="8046720" y="4526280"/>
            <a:ext cx="3593592" cy="1783080"/>
          </a:xfrm>
          <a:prstGeom prst="roundRect">
            <a:avLst>
              <a:gd name="adj" fmla="val 4103"/>
            </a:avLst>
          </a:prstGeom>
          <a:solidFill>
            <a:srgbClr val="FCE9E3"/>
          </a:solidFill>
          <a:ln w="12700">
            <a:solidFill>
              <a:srgbClr val="FCE9E3"/>
            </a:solidFill>
            <a:prstDash val="solid"/>
          </a:ln>
        </p:spPr>
      </p:sp>
      <p:sp>
        <p:nvSpPr>
          <p:cNvPr id="22" name="Text 19"/>
          <p:cNvSpPr txBox="1"/>
          <p:nvPr/>
        </p:nvSpPr>
        <p:spPr>
          <a:xfrm>
            <a:off x="8229600" y="4617720"/>
            <a:ext cx="324612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Thước đo</a:t>
            </a:r>
            <a:endParaRPr lang="en-US" sz="1600" dirty="0"/>
          </a:p>
        </p:txBody>
      </p:sp>
      <p:sp>
        <p:nvSpPr>
          <p:cNvPr id="23" name="Text 20"/>
          <p:cNvSpPr txBox="1"/>
          <p:nvPr/>
        </p:nvSpPr>
        <p:spPr>
          <a:xfrm>
            <a:off x="8229600" y="5029200"/>
            <a:ext cx="3246120" cy="1234440"/>
          </a:xfrm>
          <a:prstGeom prst="rect">
            <a:avLst/>
          </a:prstGeom>
          <a:noFill/>
          <a:ln/>
        </p:spPr>
        <p:txBody>
          <a:bodyPr wrap="square" lIns="0" tIns="0" rIns="0" bIns="0" rtlCol="0" anchor="t"/>
          <a:lstStyle/>
          <a:p>
            <a:pPr algn="l" indent="0" marL="0">
              <a:buNone/>
            </a:pPr>
            <a:r>
              <a:rPr lang="en-US" sz="1300" dirty="0">
                <a:solidFill>
                  <a:srgbClr val="1B2733"/>
                </a:solidFill>
                <a:latin typeface="Calibri" pitchFamily="34" charset="0"/>
                <a:ea typeface="Calibri" pitchFamily="34" charset="-122"/>
                <a:cs typeface="Calibri" pitchFamily="34" charset="-120"/>
              </a:rPr>
              <a:t>seqeval strict: khớp đúng ranh giới và loại. Bootstrap theo cặp: paired bootstrap, 2000 resamples, default_rng(42).</a:t>
            </a:r>
            <a:endParaRPr lang="en-US" sz="1300" dirty="0"/>
          </a:p>
        </p:txBody>
      </p:sp>
      <p:sp>
        <p:nvSpPr>
          <p:cNvPr id="24" name="Text 21"/>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(classical_training), ket_qua_goc/*_validation_sweep.json (best_config), speed_benchmark.json, ladder_steps.json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Mô hình cổ điển: C điều khiển underfit và overfit</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E4572E"/>
          </a:solidFill>
          <a:ln w="12700">
            <a:solidFill>
              <a:srgbClr val="E4572E"/>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 / 22</a:t>
            </a:r>
            <a:endParaRPr lang="en-US" sz="1000" dirty="0"/>
          </a:p>
        </p:txBody>
      </p:sp>
      <p:graphicFrame>
        <p:nvGraphicFramePr>
          <p:cNvPr id="14" name="Chart 0" descr=""/>
          <p:cNvGraphicFramePr/>
          <p:nvPr/>
        </p:nvGraphicFramePr>
        <p:xfrm>
          <a:off x="457200" y="1143000"/>
          <a:ext cx="557784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6126480" y="1143000"/>
          <a:ext cx="5577840" cy="3200400"/>
        </p:xfrm>
        <a:graphic xmlns:a="http://schemas.openxmlformats.org/drawingml/2006/main">
          <a:graphicData uri="http://schemas.openxmlformats.org/drawingml/2006/chart">
            <c:chart xmlns:c="http://schemas.openxmlformats.org/drawingml/2006/chart" r:id="rId2"/>
          </a:graphicData>
        </a:graphic>
      </p:graphicFrame>
      <p:sp>
        <p:nvSpPr>
          <p:cNvPr id="16" name="Shape 12"/>
          <p:cNvSpPr/>
          <p:nvPr/>
        </p:nvSpPr>
        <p:spPr>
          <a:xfrm>
            <a:off x="548640" y="4526280"/>
            <a:ext cx="5440680" cy="1783080"/>
          </a:xfrm>
          <a:prstGeom prst="roundRect">
            <a:avLst>
              <a:gd name="adj" fmla="val 4103"/>
            </a:avLst>
          </a:prstGeom>
          <a:solidFill>
            <a:srgbClr val="E3F3F1"/>
          </a:solidFill>
          <a:ln w="12700">
            <a:solidFill>
              <a:srgbClr val="E3F3F1"/>
            </a:solidFill>
            <a:prstDash val="solid"/>
          </a:ln>
        </p:spPr>
      </p:sp>
      <p:sp>
        <p:nvSpPr>
          <p:cNvPr id="17" name="Text 13"/>
          <p:cNvSpPr txBox="1"/>
          <p:nvPr/>
        </p:nvSpPr>
        <p:spPr>
          <a:xfrm>
            <a:off x="749808" y="461772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18" name="Text 14"/>
          <p:cNvSpPr txBox="1"/>
          <p:nvPr/>
        </p:nvSpPr>
        <p:spPr>
          <a:xfrm>
            <a:off x="749808" y="4983480"/>
            <a:ext cx="5074920" cy="128016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 nhỏ ⇒ </a:t>
            </a:r>
            <a:r>
              <a:rPr lang="en-US" sz="1350" b="1" dirty="0">
                <a:solidFill>
                  <a:srgbClr val="1B2733"/>
                </a:solidFill>
                <a:latin typeface="Calibri" pitchFamily="34" charset="0"/>
                <a:ea typeface="Calibri" pitchFamily="34" charset="-122"/>
                <a:cs typeface="Calibri" pitchFamily="34" charset="-120"/>
              </a:rPr>
              <a:t>underfit</a:t>
            </a:r>
            <a:r>
              <a:rPr lang="en-US" sz="1350" dirty="0">
                <a:solidFill>
                  <a:srgbClr val="1B2733"/>
                </a:solidFill>
                <a:latin typeface="Calibri" pitchFamily="34" charset="0"/>
                <a:ea typeface="Calibri" pitchFamily="34" charset="-122"/>
                <a:cs typeface="Calibri" pitchFamily="34" charset="-120"/>
              </a:rPr>
              <a:t>: LogReg 70,7%, SVM 70,5%; SVM C = 10 tụt về 81,7% (overfit)</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Test: LogReg </a:t>
            </a:r>
            <a:r>
              <a:rPr lang="en-US" sz="1350" b="1" dirty="0">
                <a:solidFill>
                  <a:srgbClr val="1B2733"/>
                </a:solidFill>
                <a:latin typeface="Calibri" pitchFamily="34" charset="0"/>
                <a:ea typeface="Calibri" pitchFamily="34" charset="-122"/>
                <a:cs typeface="Calibri" pitchFamily="34" charset="-120"/>
              </a:rPr>
              <a:t>56,23%</a:t>
            </a:r>
            <a:r>
              <a:rPr lang="en-US" sz="1350" dirty="0">
                <a:solidFill>
                  <a:srgbClr val="1B2733"/>
                </a:solidFill>
                <a:latin typeface="Calibri" pitchFamily="34" charset="0"/>
                <a:ea typeface="Calibri" pitchFamily="34" charset="-122"/>
                <a:cs typeface="Calibri" pitchFamily="34" charset="-120"/>
              </a:rPr>
              <a:t>, SVM </a:t>
            </a:r>
            <a:r>
              <a:rPr lang="en-US" sz="1350" b="1" dirty="0">
                <a:solidFill>
                  <a:srgbClr val="1B2733"/>
                </a:solidFill>
                <a:latin typeface="Calibri" pitchFamily="34" charset="0"/>
                <a:ea typeface="Calibri" pitchFamily="34" charset="-122"/>
                <a:cs typeface="Calibri" pitchFamily="34" charset="-120"/>
              </a:rPr>
              <a:t>58,10%</a:t>
            </a:r>
            <a:r>
              <a:rPr lang="en-US" sz="1350" dirty="0">
                <a:solidFill>
                  <a:srgbClr val="1B2733"/>
                </a:solidFill>
                <a:latin typeface="Calibri" pitchFamily="34" charset="0"/>
                <a:ea typeface="Calibri" pitchFamily="34" charset="-122"/>
                <a:cs typeface="Calibri" pitchFamily="34" charset="-120"/>
              </a:rPr>
              <a:t> (Δ +1,87, CI95 [+1,35; +2,42])</a:t>
            </a:r>
            <a:endParaRPr lang="en-US" sz="1350" dirty="0"/>
          </a:p>
        </p:txBody>
      </p:sp>
      <p:sp>
        <p:nvSpPr>
          <p:cNvPr id="19" name="Shape 15"/>
          <p:cNvSpPr/>
          <p:nvPr/>
        </p:nvSpPr>
        <p:spPr>
          <a:xfrm>
            <a:off x="6217920" y="4526280"/>
            <a:ext cx="5440680" cy="1783080"/>
          </a:xfrm>
          <a:prstGeom prst="roundRect">
            <a:avLst>
              <a:gd name="adj" fmla="val 4103"/>
            </a:avLst>
          </a:prstGeom>
          <a:solidFill>
            <a:srgbClr val="FCE9E3"/>
          </a:solidFill>
          <a:ln w="12700">
            <a:solidFill>
              <a:srgbClr val="FCE9E3"/>
            </a:solidFill>
            <a:prstDash val="solid"/>
          </a:ln>
        </p:spPr>
      </p:sp>
      <p:sp>
        <p:nvSpPr>
          <p:cNvPr id="20" name="Text 16"/>
          <p:cNvSpPr txBox="1"/>
          <p:nvPr/>
        </p:nvSpPr>
        <p:spPr>
          <a:xfrm>
            <a:off x="6419088" y="461772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a:t>
            </a:r>
            <a:endParaRPr lang="en-US" sz="1600" dirty="0"/>
          </a:p>
        </p:txBody>
      </p:sp>
      <p:sp>
        <p:nvSpPr>
          <p:cNvPr id="21" name="Text 17"/>
          <p:cNvSpPr txBox="1"/>
          <p:nvPr/>
        </p:nvSpPr>
        <p:spPr>
          <a:xfrm>
            <a:off x="6419088" y="4983480"/>
            <a:ext cx="5074920" cy="128016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Không biết nhãn bên cạnh ⇒ </a:t>
            </a:r>
            <a:r>
              <a:rPr lang="en-US" sz="1350" b="1" dirty="0">
                <a:solidFill>
                  <a:srgbClr val="1B2733"/>
                </a:solidFill>
                <a:latin typeface="Calibri" pitchFamily="34" charset="0"/>
                <a:ea typeface="Calibri" pitchFamily="34" charset="-122"/>
                <a:cs typeface="Calibri" pitchFamily="34" charset="-120"/>
              </a:rPr>
              <a:t>1.127</a:t>
            </a:r>
            <a:r>
              <a:rPr lang="en-US" sz="1350" dirty="0">
                <a:solidFill>
                  <a:srgbClr val="1B2733"/>
                </a:solidFill>
                <a:latin typeface="Calibri" pitchFamily="34" charset="0"/>
                <a:ea typeface="Calibri" pitchFamily="34" charset="-122"/>
                <a:cs typeface="Calibri" pitchFamily="34" charset="-120"/>
              </a:rPr>
              <a:t> / </a:t>
            </a:r>
            <a:r>
              <a:rPr lang="en-US" sz="1350" b="1" dirty="0">
                <a:solidFill>
                  <a:srgbClr val="1B2733"/>
                </a:solidFill>
                <a:latin typeface="Calibri" pitchFamily="34" charset="0"/>
                <a:ea typeface="Calibri" pitchFamily="34" charset="-122"/>
                <a:cs typeface="Calibri" pitchFamily="34" charset="-120"/>
              </a:rPr>
              <a:t>1.175</a:t>
            </a:r>
            <a:r>
              <a:rPr lang="en-US" sz="1350" dirty="0">
                <a:solidFill>
                  <a:srgbClr val="1B2733"/>
                </a:solidFill>
                <a:latin typeface="Calibri" pitchFamily="34" charset="0"/>
                <a:ea typeface="Calibri" pitchFamily="34" charset="-122"/>
                <a:cs typeface="Calibri" pitchFamily="34" charset="-120"/>
              </a:rPr>
              <a:t> chuyển nhãn BIO vô lý trên test</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Thực thể chưa gặp: chỉ nhận ra 4,9% / 5,4%</a:t>
            </a:r>
            <a:endParaRPr lang="en-US" sz="1350" dirty="0"/>
          </a:p>
        </p:txBody>
      </p:sp>
      <p:sp>
        <p:nvSpPr>
          <p:cNvPr id="22" name="Text 18"/>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(classical_training, models), ladder_steps.json; số chuyển nhãn vô lý đếm từ test_predictions.json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CRF: mô hình hoá chuỗi thắng lớn, nhưng nhờ ghi nhớ</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E4572E"/>
          </a:solidFill>
          <a:ln w="12700">
            <a:solidFill>
              <a:srgbClr val="E4572E"/>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 / 22</a:t>
            </a:r>
            <a:endParaRPr lang="en-US" sz="1000" dirty="0"/>
          </a:p>
        </p:txBody>
      </p:sp>
      <p:graphicFrame>
        <p:nvGraphicFramePr>
          <p:cNvPr id="14" name="Chart 0" descr=""/>
          <p:cNvGraphicFramePr/>
          <p:nvPr/>
        </p:nvGraphicFramePr>
        <p:xfrm>
          <a:off x="457200" y="1143000"/>
          <a:ext cx="521208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5852160" y="1143000"/>
          <a:ext cx="5852160" cy="3291840"/>
        </p:xfrm>
        <a:graphic xmlns:a="http://schemas.openxmlformats.org/drawingml/2006/main">
          <a:graphicData uri="http://schemas.openxmlformats.org/drawingml/2006/chart">
            <c:chart xmlns:c="http://schemas.openxmlformats.org/drawingml/2006/chart" r:id="rId2"/>
          </a:graphicData>
        </a:graphic>
      </p:graphicFrame>
      <p:sp>
        <p:nvSpPr>
          <p:cNvPr id="16" name="Shape 12"/>
          <p:cNvSpPr/>
          <p:nvPr/>
        </p:nvSpPr>
        <p:spPr>
          <a:xfrm>
            <a:off x="548640" y="4617720"/>
            <a:ext cx="2743200" cy="1691640"/>
          </a:xfrm>
          <a:prstGeom prst="roundRect">
            <a:avLst>
              <a:gd name="adj" fmla="val 4324"/>
            </a:avLst>
          </a:prstGeom>
          <a:solidFill>
            <a:srgbClr val="EEF4F7"/>
          </a:solidFill>
          <a:ln w="12700">
            <a:solidFill>
              <a:srgbClr val="EEF4F7"/>
            </a:solidFill>
            <a:prstDash val="solid"/>
          </a:ln>
        </p:spPr>
      </p:sp>
      <p:sp>
        <p:nvSpPr>
          <p:cNvPr id="17" name="Text 13"/>
          <p:cNvSpPr txBox="1"/>
          <p:nvPr/>
        </p:nvSpPr>
        <p:spPr>
          <a:xfrm>
            <a:off x="713232" y="4690872"/>
            <a:ext cx="2414016" cy="879653"/>
          </a:xfrm>
          <a:prstGeom prst="rect">
            <a:avLst/>
          </a:prstGeom>
          <a:noFill/>
          <a:ln/>
        </p:spPr>
        <p:txBody>
          <a:bodyPr wrap="square" lIns="0" tIns="0" rIns="0" bIns="0" rtlCol="0" anchor="ctr"/>
          <a:lstStyle/>
          <a:p>
            <a:pPr indent="0" marL="0">
              <a:buNone/>
            </a:pPr>
            <a:r>
              <a:rPr lang="en-US" sz="2400" b="1" dirty="0">
                <a:solidFill>
                  <a:srgbClr val="0F2A3D"/>
                </a:solidFill>
                <a:latin typeface="Cambria" pitchFamily="34" charset="0"/>
                <a:ea typeface="Cambria" pitchFamily="34" charset="-122"/>
                <a:cs typeface="Cambria" pitchFamily="34" charset="-120"/>
              </a:rPr>
              <a:t>63,80%</a:t>
            </a:r>
            <a:endParaRPr lang="en-US" sz="2400" dirty="0"/>
          </a:p>
        </p:txBody>
      </p:sp>
      <p:sp>
        <p:nvSpPr>
          <p:cNvPr id="18" name="Text 14"/>
          <p:cNvSpPr txBox="1"/>
          <p:nvPr/>
        </p:nvSpPr>
        <p:spPr>
          <a:xfrm>
            <a:off x="713232" y="5632704"/>
            <a:ext cx="2414016" cy="60899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F1 test, cao nhất cả sáu mô hình · CI95 62,6–64,9</a:t>
            </a:r>
            <a:endParaRPr lang="en-US" sz="1100" dirty="0"/>
          </a:p>
        </p:txBody>
      </p:sp>
      <p:sp>
        <p:nvSpPr>
          <p:cNvPr id="19" name="Shape 15"/>
          <p:cNvSpPr/>
          <p:nvPr/>
        </p:nvSpPr>
        <p:spPr>
          <a:xfrm>
            <a:off x="3429000" y="4617720"/>
            <a:ext cx="2743200" cy="1691640"/>
          </a:xfrm>
          <a:prstGeom prst="roundRect">
            <a:avLst>
              <a:gd name="adj" fmla="val 4324"/>
            </a:avLst>
          </a:prstGeom>
          <a:solidFill>
            <a:srgbClr val="E3F3F1"/>
          </a:solidFill>
          <a:ln w="12700">
            <a:solidFill>
              <a:srgbClr val="E3F3F1"/>
            </a:solidFill>
            <a:prstDash val="solid"/>
          </a:ln>
        </p:spPr>
      </p:sp>
      <p:sp>
        <p:nvSpPr>
          <p:cNvPr id="20" name="Text 16"/>
          <p:cNvSpPr txBox="1"/>
          <p:nvPr/>
        </p:nvSpPr>
        <p:spPr>
          <a:xfrm>
            <a:off x="3593592" y="4690872"/>
            <a:ext cx="2414016" cy="879653"/>
          </a:xfrm>
          <a:prstGeom prst="rect">
            <a:avLst/>
          </a:prstGeom>
          <a:noFill/>
          <a:ln/>
        </p:spPr>
        <p:txBody>
          <a:bodyPr wrap="square" lIns="0" tIns="0" rIns="0" bIns="0" rtlCol="0" anchor="ctr"/>
          <a:lstStyle/>
          <a:p>
            <a:pPr indent="0" marL="0">
              <a:buNone/>
            </a:pPr>
            <a:r>
              <a:rPr lang="en-US" sz="2400" b="1" dirty="0">
                <a:solidFill>
                  <a:srgbClr val="2A9D8F"/>
                </a:solidFill>
                <a:latin typeface="Cambria" pitchFamily="34" charset="0"/>
                <a:ea typeface="Cambria" pitchFamily="34" charset="-122"/>
                <a:cs typeface="Cambria" pitchFamily="34" charset="-120"/>
              </a:rPr>
              <a:t>+5,70</a:t>
            </a:r>
            <a:endParaRPr lang="en-US" sz="2400" dirty="0"/>
          </a:p>
        </p:txBody>
      </p:sp>
      <p:sp>
        <p:nvSpPr>
          <p:cNvPr id="21" name="Text 17"/>
          <p:cNvSpPr txBox="1"/>
          <p:nvPr/>
        </p:nvSpPr>
        <p:spPr>
          <a:xfrm>
            <a:off x="3593592" y="5632704"/>
            <a:ext cx="2414016" cy="60899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so với Linear SVM · CI95 [+4,90; +6,50]; chuyển nhãn vô lý còn 9</a:t>
            </a:r>
            <a:endParaRPr lang="en-US" sz="1100" dirty="0"/>
          </a:p>
        </p:txBody>
      </p:sp>
      <p:sp>
        <p:nvSpPr>
          <p:cNvPr id="22" name="Shape 18"/>
          <p:cNvSpPr/>
          <p:nvPr/>
        </p:nvSpPr>
        <p:spPr>
          <a:xfrm>
            <a:off x="6309360" y="4617720"/>
            <a:ext cx="5349240" cy="1691640"/>
          </a:xfrm>
          <a:prstGeom prst="roundRect">
            <a:avLst>
              <a:gd name="adj" fmla="val 4324"/>
            </a:avLst>
          </a:prstGeom>
          <a:solidFill>
            <a:srgbClr val="FCE9E3"/>
          </a:solidFill>
          <a:ln w="12700">
            <a:solidFill>
              <a:srgbClr val="FCE9E3"/>
            </a:solidFill>
            <a:prstDash val="solid"/>
          </a:ln>
        </p:spPr>
      </p:sp>
      <p:sp>
        <p:nvSpPr>
          <p:cNvPr id="23" name="Text 19"/>
          <p:cNvSpPr txBox="1"/>
          <p:nvPr/>
        </p:nvSpPr>
        <p:spPr>
          <a:xfrm>
            <a:off x="6492240" y="4681728"/>
            <a:ext cx="5029200" cy="365760"/>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Dấu hiệu ghi nhớ</a:t>
            </a:r>
            <a:endParaRPr lang="en-US" sz="1500" dirty="0"/>
          </a:p>
        </p:txBody>
      </p:sp>
      <p:sp>
        <p:nvSpPr>
          <p:cNvPr id="24" name="Text 20"/>
          <p:cNvSpPr txBox="1"/>
          <p:nvPr/>
        </p:nvSpPr>
        <p:spPr>
          <a:xfrm>
            <a:off x="6492240" y="5029200"/>
            <a:ext cx="5029200" cy="128016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Train F1 ≈ </a:t>
            </a:r>
            <a:r>
              <a:rPr lang="en-US" sz="1300" b="1" dirty="0">
                <a:solidFill>
                  <a:srgbClr val="1B2733"/>
                </a:solidFill>
                <a:latin typeface="Calibri" pitchFamily="34" charset="0"/>
                <a:ea typeface="Calibri" pitchFamily="34" charset="-122"/>
                <a:cs typeface="Calibri" pitchFamily="34" charset="-120"/>
              </a:rPr>
              <a:t>100,0%</a:t>
            </a:r>
            <a:r>
              <a:rPr lang="en-US" sz="1300" dirty="0">
                <a:solidFill>
                  <a:srgbClr val="1B2733"/>
                </a:solidFill>
                <a:latin typeface="Calibri" pitchFamily="34" charset="0"/>
                <a:ea typeface="Calibri" pitchFamily="34" charset="-122"/>
                <a:cs typeface="Calibri" pitchFamily="34" charset="-120"/>
              </a:rPr>
              <a:t> ở mọi cỡ dữ liệu</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Recall thực thể đã gặp </a:t>
            </a:r>
            <a:r>
              <a:rPr lang="en-US" sz="1300" b="1" dirty="0">
                <a:solidFill>
                  <a:srgbClr val="1B2733"/>
                </a:solidFill>
                <a:latin typeface="Calibri" pitchFamily="34" charset="0"/>
                <a:ea typeface="Calibri" pitchFamily="34" charset="-122"/>
                <a:cs typeface="Calibri" pitchFamily="34" charset="-120"/>
              </a:rPr>
              <a:t>83,2%</a:t>
            </a:r>
            <a:r>
              <a:rPr lang="en-US" sz="1300" dirty="0">
                <a:solidFill>
                  <a:srgbClr val="1B2733"/>
                </a:solidFill>
                <a:latin typeface="Calibri" pitchFamily="34" charset="0"/>
                <a:ea typeface="Calibri" pitchFamily="34" charset="-122"/>
                <a:cs typeface="Calibri" pitchFamily="34" charset="-120"/>
              </a:rPr>
              <a:t>, chưa gặp chỉ </a:t>
            </a:r>
            <a:r>
              <a:rPr lang="en-US" sz="1300" b="1" dirty="0">
                <a:solidFill>
                  <a:srgbClr val="1B2733"/>
                </a:solidFill>
                <a:latin typeface="Calibri" pitchFamily="34" charset="0"/>
                <a:ea typeface="Calibri" pitchFamily="34" charset="-122"/>
                <a:cs typeface="Calibri" pitchFamily="34" charset="-120"/>
              </a:rPr>
              <a:t>13,9%</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Test vẫn tăng theo dữ liệu (41,1% → 63,8%)</a:t>
            </a:r>
            <a:endParaRPr lang="en-US" sz="1300" dirty="0"/>
          </a:p>
        </p:txBody>
      </p:sp>
      <p:sp>
        <p:nvSpPr>
          <p:cNvPr id="25" name="Text 21"/>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(classical_training.CRF, crf_learning_curve, models.CRF), ladder_steps.json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Transformer: learning rate nhỏ và ít epoch gây underfit</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E4572E"/>
          </a:solidFill>
          <a:ln w="12700">
            <a:solidFill>
              <a:srgbClr val="E4572E"/>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 / 22</a:t>
            </a:r>
            <a:endParaRPr lang="en-US" sz="1000" dirty="0"/>
          </a:p>
        </p:txBody>
      </p:sp>
      <p:pic>
        <p:nvPicPr>
          <p:cNvPr id="14" name="Image 0" descr="fig_sweep_underfitting.png">    </p:cNvPr>
          <p:cNvPicPr>
            <a:picLocks noChangeAspect="1"/>
          </p:cNvPicPr>
          <p:nvPr/>
        </p:nvPicPr>
        <p:blipFill>
          <a:blip r:embed="rId1"/>
          <a:stretch>
            <a:fillRect/>
          </a:stretch>
        </p:blipFill>
        <p:spPr>
          <a:xfrm>
            <a:off x="457200" y="1188720"/>
            <a:ext cx="7498080" cy="2726575"/>
          </a:xfrm>
          <a:prstGeom prst="rect">
            <a:avLst/>
          </a:prstGeom>
        </p:spPr>
      </p:pic>
      <p:sp>
        <p:nvSpPr>
          <p:cNvPr id="15" name="Shape 12"/>
          <p:cNvSpPr/>
          <p:nvPr/>
        </p:nvSpPr>
        <p:spPr>
          <a:xfrm>
            <a:off x="8183880" y="1188720"/>
            <a:ext cx="3474720" cy="2834640"/>
          </a:xfrm>
          <a:prstGeom prst="roundRect">
            <a:avLst>
              <a:gd name="adj" fmla="val 2581"/>
            </a:avLst>
          </a:prstGeom>
          <a:solidFill>
            <a:srgbClr val="EEF4F7"/>
          </a:solidFill>
          <a:ln w="12700">
            <a:solidFill>
              <a:srgbClr val="EEF4F7"/>
            </a:solidFill>
            <a:prstDash val="solid"/>
          </a:ln>
        </p:spPr>
      </p:sp>
      <p:sp>
        <p:nvSpPr>
          <p:cNvPr id="16" name="Text 13"/>
          <p:cNvSpPr txBox="1"/>
          <p:nvPr/>
        </p:nvSpPr>
        <p:spPr>
          <a:xfrm>
            <a:off x="8366760" y="1280160"/>
            <a:ext cx="3108960" cy="365760"/>
          </a:xfrm>
          <a:prstGeom prst="rect">
            <a:avLst/>
          </a:prstGeom>
          <a:noFill/>
          <a:ln/>
        </p:spPr>
        <p:txBody>
          <a:bodyPr wrap="square" lIns="0" tIns="0" rIns="0" bIns="0" rtlCol="0" anchor="ctr"/>
          <a:lstStyle/>
          <a:p>
            <a:pPr indent="0" marL="0">
              <a:buNone/>
            </a:pPr>
            <a:r>
              <a:rPr lang="en-US" sz="1600" b="1" dirty="0">
                <a:solidFill>
                  <a:srgbClr val="0F2A3D"/>
                </a:solidFill>
                <a:latin typeface="Cambria" pitchFamily="34" charset="0"/>
                <a:ea typeface="Cambria" pitchFamily="34" charset="-122"/>
                <a:cs typeface="Cambria" pitchFamily="34" charset="-120"/>
              </a:rPr>
              <a:t>Lưới dò</a:t>
            </a:r>
            <a:endParaRPr lang="en-US" sz="1600" dirty="0"/>
          </a:p>
        </p:txBody>
      </p:sp>
      <p:sp>
        <p:nvSpPr>
          <p:cNvPr id="17" name="Text 14"/>
          <p:cNvSpPr txBox="1"/>
          <p:nvPr/>
        </p:nvSpPr>
        <p:spPr>
          <a:xfrm>
            <a:off x="8366760" y="1691640"/>
            <a:ext cx="3154680" cy="228600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18 cấu hình mỗi mô hình: lr × epoch × weight decay</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Tệ nhất: PhoBERT lr 5e-6, 4 epoch → </a:t>
            </a:r>
            <a:r>
              <a:rPr lang="en-US" sz="1300" b="1" dirty="0">
                <a:solidFill>
                  <a:srgbClr val="1B2733"/>
                </a:solidFill>
                <a:latin typeface="Calibri" pitchFamily="34" charset="0"/>
                <a:ea typeface="Calibri" pitchFamily="34" charset="-122"/>
                <a:cs typeface="Calibri" pitchFamily="34" charset="-120"/>
              </a:rPr>
              <a:t>29,5%</a:t>
            </a:r>
            <a:r>
              <a:rPr lang="en-US" sz="1300" dirty="0">
                <a:solidFill>
                  <a:srgbClr val="1B2733"/>
                </a:solidFill>
                <a:latin typeface="Calibri" pitchFamily="34" charset="0"/>
                <a:ea typeface="Calibri" pitchFamily="34" charset="-122"/>
                <a:cs typeface="Calibri" pitchFamily="34" charset="-120"/>
              </a:rPr>
              <a:t>; ViHealthBERT → 51,3%</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Tốt nhất ở </a:t>
            </a:r>
            <a:r>
              <a:rPr lang="en-US" sz="1300" b="1" dirty="0">
                <a:solidFill>
                  <a:srgbClr val="1B2733"/>
                </a:solidFill>
                <a:latin typeface="Calibri" pitchFamily="34" charset="0"/>
                <a:ea typeface="Calibri" pitchFamily="34" charset="-122"/>
                <a:cs typeface="Calibri" pitchFamily="34" charset="-120"/>
              </a:rPr>
              <a:t>góc biên</a:t>
            </a:r>
            <a:r>
              <a:rPr lang="en-US" sz="1300" dirty="0">
                <a:solidFill>
                  <a:srgbClr val="1B2733"/>
                </a:solidFill>
                <a:latin typeface="Calibri" pitchFamily="34" charset="0"/>
                <a:ea typeface="Calibri" pitchFamily="34" charset="-122"/>
                <a:cs typeface="Calibri" pitchFamily="34" charset="-120"/>
              </a:rPr>
              <a:t> lưới (lr lớn nhất, nhiều epoch nhất) ⇒ lưới có thể chưa đủ rộng</a:t>
            </a:r>
            <a:endParaRPr lang="en-US" sz="1300" dirty="0"/>
          </a:p>
        </p:txBody>
      </p:sp>
      <p:sp>
        <p:nvSpPr>
          <p:cNvPr id="18" name="Shape 15"/>
          <p:cNvSpPr/>
          <p:nvPr/>
        </p:nvSpPr>
        <p:spPr>
          <a:xfrm>
            <a:off x="548640" y="4206240"/>
            <a:ext cx="11109960" cy="914400"/>
          </a:xfrm>
          <a:prstGeom prst="roundRect">
            <a:avLst>
              <a:gd name="adj" fmla="val 8000"/>
            </a:avLst>
          </a:prstGeom>
          <a:solidFill>
            <a:srgbClr val="FBF1DF"/>
          </a:solidFill>
          <a:ln w="12700">
            <a:solidFill>
              <a:srgbClr val="FBF1DF"/>
            </a:solidFill>
            <a:prstDash val="solid"/>
          </a:ln>
        </p:spPr>
      </p:sp>
      <p:sp>
        <p:nvSpPr>
          <p:cNvPr id="19" name="Text 16"/>
          <p:cNvSpPr txBox="1"/>
          <p:nvPr/>
        </p:nvSpPr>
        <p:spPr>
          <a:xfrm>
            <a:off x="731520" y="4206240"/>
            <a:ext cx="10789920" cy="914400"/>
          </a:xfrm>
          <a:prstGeom prst="rect">
            <a:avLst/>
          </a:prstGeom>
          <a:noFill/>
          <a:ln/>
        </p:spPr>
        <p:txBody>
          <a:bodyPr wrap="square" lIns="0" tIns="0" rIns="0" bIns="0" rtlCol="0" anchor="ctr"/>
          <a:lstStyle/>
          <a:p>
            <a:pPr algn="l" indent="0" marL="0">
              <a:buNone/>
            </a:pPr>
            <a:r>
              <a:rPr lang="en-US" sz="1400" b="1" dirty="0">
                <a:solidFill>
                  <a:srgbClr val="1B2733"/>
                </a:solidFill>
                <a:latin typeface="Calibri" pitchFamily="34" charset="0"/>
                <a:ea typeface="Calibri" pitchFamily="34" charset="-122"/>
                <a:cs typeface="Calibri" pitchFamily="34" charset="-120"/>
              </a:rPr>
              <a:t>Lưu ý:</a:t>
            </a:r>
            <a:r>
              <a:rPr lang="en-US" sz="1400" dirty="0">
                <a:solidFill>
                  <a:srgbClr val="1B2733"/>
                </a:solidFill>
                <a:latin typeface="Calibri" pitchFamily="34" charset="0"/>
                <a:ea typeface="Calibri" pitchFamily="34" charset="-122"/>
                <a:cs typeface="Calibri" pitchFamily="34" charset="-120"/>
              </a:rPr>
              <a:t> F1 validation trong hình được chấm trước khi nhóm phát hiện lỗi nhãn "0" (slide 11) nên lệch vài điểm; dùng để đọc </a:t>
            </a:r>
            <a:r>
              <a:rPr lang="en-US" sz="1400" b="1" dirty="0">
                <a:solidFill>
                  <a:srgbClr val="1B2733"/>
                </a:solidFill>
                <a:latin typeface="Calibri" pitchFamily="34" charset="0"/>
                <a:ea typeface="Calibri" pitchFamily="34" charset="-122"/>
                <a:cs typeface="Calibri" pitchFamily="34" charset="-120"/>
              </a:rPr>
              <a:t>xu hướng</a:t>
            </a:r>
            <a:r>
              <a:rPr lang="en-US" sz="1400" dirty="0">
                <a:solidFill>
                  <a:srgbClr val="1B2733"/>
                </a:solidFill>
                <a:latin typeface="Calibri" pitchFamily="34" charset="0"/>
                <a:ea typeface="Calibri" pitchFamily="34" charset="-122"/>
                <a:cs typeface="Calibri" pitchFamily="34" charset="-120"/>
              </a:rPr>
              <a:t> underfit, không so trực tiếp với số đã sửa.</a:t>
            </a:r>
            <a:endParaRPr lang="en-US" sz="1400" dirty="0"/>
          </a:p>
        </p:txBody>
      </p:sp>
      <p:sp>
        <p:nvSpPr>
          <p:cNvPr id="20" name="Shape 17"/>
          <p:cNvSpPr/>
          <p:nvPr/>
        </p:nvSpPr>
        <p:spPr>
          <a:xfrm>
            <a:off x="548640" y="5303520"/>
            <a:ext cx="3566160" cy="1005840"/>
          </a:xfrm>
          <a:prstGeom prst="roundRect">
            <a:avLst>
              <a:gd name="adj" fmla="val 7273"/>
            </a:avLst>
          </a:prstGeom>
          <a:solidFill>
            <a:srgbClr val="EEF4F7"/>
          </a:solidFill>
          <a:ln w="12700">
            <a:solidFill>
              <a:srgbClr val="EEF4F7"/>
            </a:solidFill>
            <a:prstDash val="solid"/>
          </a:ln>
        </p:spPr>
      </p:sp>
      <p:sp>
        <p:nvSpPr>
          <p:cNvPr id="21" name="Text 18"/>
          <p:cNvSpPr txBox="1"/>
          <p:nvPr/>
        </p:nvSpPr>
        <p:spPr>
          <a:xfrm>
            <a:off x="713232" y="5376672"/>
            <a:ext cx="3236976" cy="523037"/>
          </a:xfrm>
          <a:prstGeom prst="rect">
            <a:avLst/>
          </a:prstGeom>
          <a:noFill/>
          <a:ln/>
        </p:spPr>
        <p:txBody>
          <a:bodyPr wrap="square" lIns="0" tIns="0" rIns="0" bIns="0" rtlCol="0" anchor="ctr"/>
          <a:lstStyle/>
          <a:p>
            <a:pPr indent="0" marL="0">
              <a:buNone/>
            </a:pPr>
            <a:r>
              <a:rPr lang="en-US" sz="2400" b="1" dirty="0">
                <a:solidFill>
                  <a:srgbClr val="5B6B7A"/>
                </a:solidFill>
                <a:latin typeface="Cambria" pitchFamily="34" charset="0"/>
                <a:ea typeface="Cambria" pitchFamily="34" charset="-122"/>
                <a:cs typeface="Cambria" pitchFamily="34" charset="-120"/>
              </a:rPr>
              <a:t>58,62%</a:t>
            </a:r>
            <a:endParaRPr lang="en-US" sz="2400" dirty="0"/>
          </a:p>
        </p:txBody>
      </p:sp>
      <p:sp>
        <p:nvSpPr>
          <p:cNvPr id="22" name="Text 19"/>
          <p:cNvSpPr txBox="1"/>
          <p:nvPr/>
        </p:nvSpPr>
        <p:spPr>
          <a:xfrm>
            <a:off x="713232" y="5907024"/>
            <a:ext cx="3236976" cy="362102"/>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XLM-R test F1 (không fine-tune lại)</a:t>
            </a:r>
            <a:endParaRPr lang="en-US" sz="1100" dirty="0"/>
          </a:p>
        </p:txBody>
      </p:sp>
      <p:sp>
        <p:nvSpPr>
          <p:cNvPr id="23" name="Shape 20"/>
          <p:cNvSpPr/>
          <p:nvPr/>
        </p:nvSpPr>
        <p:spPr>
          <a:xfrm>
            <a:off x="4297680" y="5303520"/>
            <a:ext cx="3566160" cy="1005840"/>
          </a:xfrm>
          <a:prstGeom prst="roundRect">
            <a:avLst>
              <a:gd name="adj" fmla="val 7273"/>
            </a:avLst>
          </a:prstGeom>
          <a:solidFill>
            <a:srgbClr val="EEF4F7"/>
          </a:solidFill>
          <a:ln w="12700">
            <a:solidFill>
              <a:srgbClr val="EEF4F7"/>
            </a:solidFill>
            <a:prstDash val="solid"/>
          </a:ln>
        </p:spPr>
      </p:sp>
      <p:sp>
        <p:nvSpPr>
          <p:cNvPr id="24" name="Text 21"/>
          <p:cNvSpPr txBox="1"/>
          <p:nvPr/>
        </p:nvSpPr>
        <p:spPr>
          <a:xfrm>
            <a:off x="4462272" y="5376672"/>
            <a:ext cx="3236976" cy="523037"/>
          </a:xfrm>
          <a:prstGeom prst="rect">
            <a:avLst/>
          </a:prstGeom>
          <a:noFill/>
          <a:ln/>
        </p:spPr>
        <p:txBody>
          <a:bodyPr wrap="square" lIns="0" tIns="0" rIns="0" bIns="0" rtlCol="0" anchor="ctr"/>
          <a:lstStyle/>
          <a:p>
            <a:pPr indent="0" marL="0">
              <a:buNone/>
            </a:pPr>
            <a:r>
              <a:rPr lang="en-US" sz="2400" b="1" dirty="0">
                <a:solidFill>
                  <a:srgbClr val="2A9D8F"/>
                </a:solidFill>
                <a:latin typeface="Cambria" pitchFamily="34" charset="0"/>
                <a:ea typeface="Cambria" pitchFamily="34" charset="-122"/>
                <a:cs typeface="Cambria" pitchFamily="34" charset="-120"/>
              </a:rPr>
              <a:t>62,42%</a:t>
            </a:r>
            <a:endParaRPr lang="en-US" sz="2400" dirty="0"/>
          </a:p>
        </p:txBody>
      </p:sp>
      <p:sp>
        <p:nvSpPr>
          <p:cNvPr id="25" name="Text 22"/>
          <p:cNvSpPr txBox="1"/>
          <p:nvPr/>
        </p:nvSpPr>
        <p:spPr>
          <a:xfrm>
            <a:off x="4462272" y="5907024"/>
            <a:ext cx="3236976" cy="362102"/>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PhoBERT test F1 · val 85,2%</a:t>
            </a:r>
            <a:endParaRPr lang="en-US" sz="1100" dirty="0"/>
          </a:p>
        </p:txBody>
      </p:sp>
      <p:sp>
        <p:nvSpPr>
          <p:cNvPr id="26" name="Shape 23"/>
          <p:cNvSpPr/>
          <p:nvPr/>
        </p:nvSpPr>
        <p:spPr>
          <a:xfrm>
            <a:off x="8046720" y="5303520"/>
            <a:ext cx="3611880" cy="1005840"/>
          </a:xfrm>
          <a:prstGeom prst="roundRect">
            <a:avLst>
              <a:gd name="adj" fmla="val 7273"/>
            </a:avLst>
          </a:prstGeom>
          <a:solidFill>
            <a:srgbClr val="EEF4F7"/>
          </a:solidFill>
          <a:ln w="12700">
            <a:solidFill>
              <a:srgbClr val="EEF4F7"/>
            </a:solidFill>
            <a:prstDash val="solid"/>
          </a:ln>
        </p:spPr>
      </p:sp>
      <p:sp>
        <p:nvSpPr>
          <p:cNvPr id="27" name="Text 24"/>
          <p:cNvSpPr txBox="1"/>
          <p:nvPr/>
        </p:nvSpPr>
        <p:spPr>
          <a:xfrm>
            <a:off x="8211312" y="5376672"/>
            <a:ext cx="3282696" cy="523037"/>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62,74%</a:t>
            </a:r>
            <a:endParaRPr lang="en-US" sz="2400" dirty="0"/>
          </a:p>
        </p:txBody>
      </p:sp>
      <p:sp>
        <p:nvSpPr>
          <p:cNvPr id="28" name="Text 25"/>
          <p:cNvSpPr txBox="1"/>
          <p:nvPr/>
        </p:nvSpPr>
        <p:spPr>
          <a:xfrm>
            <a:off x="8211312" y="5907024"/>
            <a:ext cx="3282696" cy="362102"/>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ViHealthBERT test F1 · val 85,2%</a:t>
            </a:r>
            <a:endParaRPr lang="en-US" sz="1100" dirty="0"/>
          </a:p>
        </p:txBody>
      </p:sp>
      <p:sp>
        <p:nvSpPr>
          <p:cNvPr id="29" name="Text 26"/>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ket_qua_goc/phobert_validation_sweep.json, vihealthbert_validation_sweep.json; model_comparison.json (models); 8 epoch curve ở slide sau</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ViHealthBERT: underfit ở epoch 1, overfit nhẹ về sau</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E4572E"/>
          </a:solidFill>
          <a:ln w="12700">
            <a:solidFill>
              <a:srgbClr val="E4572E"/>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DDE5EB"/>
          </a:solidFill>
          <a:ln w="12700">
            <a:solidFill>
              <a:srgbClr val="DDE5EB"/>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 / 22</a:t>
            </a:r>
            <a:endParaRPr lang="en-US" sz="1000" dirty="0"/>
          </a:p>
        </p:txBody>
      </p:sp>
      <p:graphicFrame>
        <p:nvGraphicFramePr>
          <p:cNvPr id="14" name="Chart 0" descr=""/>
          <p:cNvGraphicFramePr/>
          <p:nvPr/>
        </p:nvGraphicFramePr>
        <p:xfrm>
          <a:off x="457200" y="1143000"/>
          <a:ext cx="56692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6263640" y="1143000"/>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16" name="Shape 12"/>
          <p:cNvSpPr/>
          <p:nvPr/>
        </p:nvSpPr>
        <p:spPr>
          <a:xfrm>
            <a:off x="548640" y="4846320"/>
            <a:ext cx="3593592" cy="1463040"/>
          </a:xfrm>
          <a:prstGeom prst="roundRect">
            <a:avLst>
              <a:gd name="adj" fmla="val 5000"/>
            </a:avLst>
          </a:prstGeom>
          <a:solidFill>
            <a:srgbClr val="FBF1DF"/>
          </a:solidFill>
          <a:ln w="12700">
            <a:solidFill>
              <a:srgbClr val="FBF1DF"/>
            </a:solidFill>
            <a:prstDash val="solid"/>
          </a:ln>
        </p:spPr>
      </p:sp>
      <p:sp>
        <p:nvSpPr>
          <p:cNvPr id="17" name="Text 13"/>
          <p:cNvSpPr txBox="1"/>
          <p:nvPr/>
        </p:nvSpPr>
        <p:spPr>
          <a:xfrm>
            <a:off x="731520" y="4919472"/>
            <a:ext cx="3246120" cy="365760"/>
          </a:xfrm>
          <a:prstGeom prst="rect">
            <a:avLst/>
          </a:prstGeom>
          <a:noFill/>
          <a:ln/>
        </p:spPr>
        <p:txBody>
          <a:bodyPr wrap="square" lIns="0" tIns="0" rIns="0" bIns="0" rtlCol="0" anchor="ctr"/>
          <a:lstStyle/>
          <a:p>
            <a:pPr indent="0" marL="0">
              <a:buNone/>
            </a:pPr>
            <a:r>
              <a:rPr lang="en-US" sz="1500" b="1" dirty="0">
                <a:solidFill>
                  <a:srgbClr val="E9A23B"/>
                </a:solidFill>
                <a:latin typeface="Cambria" pitchFamily="34" charset="0"/>
                <a:ea typeface="Cambria" pitchFamily="34" charset="-122"/>
                <a:cs typeface="Cambria" pitchFamily="34" charset="-120"/>
              </a:rPr>
              <a:t>Underfitting</a:t>
            </a:r>
            <a:endParaRPr lang="en-US" sz="1500" dirty="0"/>
          </a:p>
        </p:txBody>
      </p:sp>
      <p:sp>
        <p:nvSpPr>
          <p:cNvPr id="18" name="Text 14"/>
          <p:cNvSpPr txBox="1"/>
          <p:nvPr/>
        </p:nvSpPr>
        <p:spPr>
          <a:xfrm>
            <a:off x="731520" y="5285232"/>
            <a:ext cx="3246120" cy="1005840"/>
          </a:xfrm>
          <a:prstGeom prst="rect">
            <a:avLst/>
          </a:prstGeom>
          <a:noFill/>
          <a:ln/>
        </p:spPr>
        <p:txBody>
          <a:bodyPr wrap="square" lIns="0" tIns="0" rIns="0" bIns="0" rtlCol="0" anchor="t"/>
          <a:lstStyle/>
          <a:p>
            <a:pPr algn="l" indent="0" marL="0">
              <a:buNone/>
            </a:pPr>
            <a:r>
              <a:rPr lang="en-US" sz="1250" dirty="0">
                <a:solidFill>
                  <a:srgbClr val="1B2733"/>
                </a:solidFill>
                <a:latin typeface="Calibri" pitchFamily="34" charset="0"/>
                <a:ea typeface="Calibri" pitchFamily="34" charset="-122"/>
                <a:cs typeface="Calibri" pitchFamily="34" charset="-120"/>
              </a:rPr>
              <a:t>Epoch 1: train 60,0%, val 58,5% — cả hai đều thấp.</a:t>
            </a:r>
            <a:endParaRPr lang="en-US" sz="1250" dirty="0"/>
          </a:p>
        </p:txBody>
      </p:sp>
      <p:sp>
        <p:nvSpPr>
          <p:cNvPr id="19" name="Shape 15"/>
          <p:cNvSpPr/>
          <p:nvPr/>
        </p:nvSpPr>
        <p:spPr>
          <a:xfrm>
            <a:off x="4297680" y="4846320"/>
            <a:ext cx="3593592" cy="1463040"/>
          </a:xfrm>
          <a:prstGeom prst="roundRect">
            <a:avLst>
              <a:gd name="adj" fmla="val 5000"/>
            </a:avLst>
          </a:prstGeom>
          <a:solidFill>
            <a:srgbClr val="FCE9E3"/>
          </a:solidFill>
          <a:ln w="12700">
            <a:solidFill>
              <a:srgbClr val="FCE9E3"/>
            </a:solidFill>
            <a:prstDash val="solid"/>
          </a:ln>
        </p:spPr>
      </p:sp>
      <p:sp>
        <p:nvSpPr>
          <p:cNvPr id="20" name="Text 16"/>
          <p:cNvSpPr txBox="1"/>
          <p:nvPr/>
        </p:nvSpPr>
        <p:spPr>
          <a:xfrm>
            <a:off x="4480560" y="4919472"/>
            <a:ext cx="3246120" cy="365760"/>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Overfitting nhẹ</a:t>
            </a:r>
            <a:endParaRPr lang="en-US" sz="1500" dirty="0"/>
          </a:p>
        </p:txBody>
      </p:sp>
      <p:sp>
        <p:nvSpPr>
          <p:cNvPr id="21" name="Text 17"/>
          <p:cNvSpPr txBox="1"/>
          <p:nvPr/>
        </p:nvSpPr>
        <p:spPr>
          <a:xfrm>
            <a:off x="4480560" y="5285232"/>
            <a:ext cx="3246120" cy="1005840"/>
          </a:xfrm>
          <a:prstGeom prst="rect">
            <a:avLst/>
          </a:prstGeom>
          <a:noFill/>
          <a:ln/>
        </p:spPr>
        <p:txBody>
          <a:bodyPr wrap="square" lIns="0" tIns="0" rIns="0" bIns="0" rtlCol="0" anchor="t"/>
          <a:lstStyle/>
          <a:p>
            <a:pPr algn="l" indent="0" marL="0">
              <a:buNone/>
            </a:pPr>
            <a:r>
              <a:rPr lang="en-US" sz="1250" dirty="0">
                <a:solidFill>
                  <a:srgbClr val="1B2733"/>
                </a:solidFill>
                <a:latin typeface="Calibri" pitchFamily="34" charset="0"/>
                <a:ea typeface="Calibri" pitchFamily="34" charset="-122"/>
                <a:cs typeface="Calibri" pitchFamily="34" charset="-120"/>
              </a:rPr>
              <a:t>Epoch 5→8: train loss 0,056 → 0,032, val loss đi ngang (0,179 → 0,182).</a:t>
            </a:r>
            <a:endParaRPr lang="en-US" sz="1250" dirty="0"/>
          </a:p>
        </p:txBody>
      </p:sp>
      <p:sp>
        <p:nvSpPr>
          <p:cNvPr id="22" name="Shape 18"/>
          <p:cNvSpPr/>
          <p:nvPr/>
        </p:nvSpPr>
        <p:spPr>
          <a:xfrm>
            <a:off x="8046720" y="4846320"/>
            <a:ext cx="3593592" cy="1463040"/>
          </a:xfrm>
          <a:prstGeom prst="roundRect">
            <a:avLst>
              <a:gd name="adj" fmla="val 5000"/>
            </a:avLst>
          </a:prstGeom>
          <a:solidFill>
            <a:srgbClr val="E3F3F1"/>
          </a:solidFill>
          <a:ln w="12700">
            <a:solidFill>
              <a:srgbClr val="E3F3F1"/>
            </a:solidFill>
            <a:prstDash val="solid"/>
          </a:ln>
        </p:spPr>
      </p:sp>
      <p:sp>
        <p:nvSpPr>
          <p:cNvPr id="23" name="Text 19"/>
          <p:cNvSpPr txBox="1"/>
          <p:nvPr/>
        </p:nvSpPr>
        <p:spPr>
          <a:xfrm>
            <a:off x="8229600" y="4919472"/>
            <a:ext cx="3246120" cy="365760"/>
          </a:xfrm>
          <a:prstGeom prst="rect">
            <a:avLst/>
          </a:prstGeom>
          <a:noFill/>
          <a:ln/>
        </p:spPr>
        <p:txBody>
          <a:bodyPr wrap="square" lIns="0" tIns="0" rIns="0" bIns="0" rtlCol="0" anchor="ctr"/>
          <a:lstStyle/>
          <a:p>
            <a:pPr indent="0" marL="0">
              <a:buNone/>
            </a:pPr>
            <a:r>
              <a:rPr lang="en-US" sz="1500" b="1" dirty="0">
                <a:solidFill>
                  <a:srgbClr val="2A9D8F"/>
                </a:solidFill>
                <a:latin typeface="Cambria" pitchFamily="34" charset="0"/>
                <a:ea typeface="Cambria" pitchFamily="34" charset="-122"/>
                <a:cs typeface="Cambria" pitchFamily="34" charset="-120"/>
              </a:rPr>
              <a:t>Khoảng cách</a:t>
            </a:r>
            <a:endParaRPr lang="en-US" sz="1500" dirty="0"/>
          </a:p>
        </p:txBody>
      </p:sp>
      <p:sp>
        <p:nvSpPr>
          <p:cNvPr id="24" name="Text 20"/>
          <p:cNvSpPr txBox="1"/>
          <p:nvPr/>
        </p:nvSpPr>
        <p:spPr>
          <a:xfrm>
            <a:off x="8229600" y="5285232"/>
            <a:ext cx="3246120" cy="1005840"/>
          </a:xfrm>
          <a:prstGeom prst="rect">
            <a:avLst/>
          </a:prstGeom>
          <a:noFill/>
          <a:ln/>
        </p:spPr>
        <p:txBody>
          <a:bodyPr wrap="square" lIns="0" tIns="0" rIns="0" bIns="0" rtlCol="0" anchor="t"/>
          <a:lstStyle/>
          <a:p>
            <a:pPr algn="l" indent="0" marL="0">
              <a:buNone/>
            </a:pPr>
            <a:r>
              <a:rPr lang="en-US" sz="1250" dirty="0">
                <a:solidFill>
                  <a:srgbClr val="1B2733"/>
                </a:solidFill>
                <a:latin typeface="Calibri" pitchFamily="34" charset="0"/>
                <a:ea typeface="Calibri" pitchFamily="34" charset="-122"/>
                <a:cs typeface="Calibri" pitchFamily="34" charset="-120"/>
              </a:rPr>
              <a:t>Train − val: CRF 10,8, PhoBERT 9,6, ViHealthBERT 11,5 điểm; val → test mất nhiều hơn ⇒ </a:t>
            </a:r>
            <a:r>
              <a:rPr lang="en-US" sz="1250" b="1" dirty="0">
                <a:solidFill>
                  <a:srgbClr val="1B2733"/>
                </a:solidFill>
                <a:latin typeface="Calibri" pitchFamily="34" charset="0"/>
                <a:ea typeface="Calibri" pitchFamily="34" charset="-122"/>
                <a:cs typeface="Calibri" pitchFamily="34" charset="-120"/>
              </a:rPr>
              <a:t>lệch miền</a:t>
            </a:r>
            <a:r>
              <a:rPr lang="en-US" sz="1250" dirty="0">
                <a:solidFill>
                  <a:srgbClr val="1B2733"/>
                </a:solidFill>
                <a:latin typeface="Calibri" pitchFamily="34" charset="0"/>
                <a:ea typeface="Calibri" pitchFamily="34" charset="-122"/>
                <a:cs typeface="Calibri" pitchFamily="34" charset="-120"/>
              </a:rPr>
              <a:t>.</a:t>
            </a:r>
            <a:endParaRPr lang="en-US" sz="1250" dirty="0"/>
          </a:p>
        </p:txBody>
      </p:sp>
      <p:sp>
        <p:nvSpPr>
          <p:cNvPr id="25" name="Text 21"/>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vihealthbert_epoch_curve.json (lr 3e-5, wd 0,01, seed 2024), model_comparison.json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Lỗi chúng tôi tự tìm ra: nhãn "0" bị chấm như thực thể</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E4572E"/>
          </a:solidFill>
          <a:ln w="12700">
            <a:solidFill>
              <a:srgbClr val="E4572E"/>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 / 22</a:t>
            </a:r>
            <a:endParaRPr lang="en-US" sz="1000" dirty="0"/>
          </a:p>
        </p:txBody>
      </p:sp>
      <p:sp>
        <p:nvSpPr>
          <p:cNvPr id="14" name="Shape 12"/>
          <p:cNvSpPr/>
          <p:nvPr/>
        </p:nvSpPr>
        <p:spPr>
          <a:xfrm>
            <a:off x="548640" y="1234440"/>
            <a:ext cx="5120640" cy="3017520"/>
          </a:xfrm>
          <a:prstGeom prst="roundRect">
            <a:avLst>
              <a:gd name="adj" fmla="val 2424"/>
            </a:avLst>
          </a:prstGeom>
          <a:solidFill>
            <a:srgbClr val="FCE9E3"/>
          </a:solidFill>
          <a:ln w="12700">
            <a:solidFill>
              <a:srgbClr val="FCE9E3"/>
            </a:solidFill>
            <a:prstDash val="solid"/>
          </a:ln>
        </p:spPr>
      </p:sp>
      <p:sp>
        <p:nvSpPr>
          <p:cNvPr id="15" name="Text 13"/>
          <p:cNvSpPr txBox="1"/>
          <p:nvPr/>
        </p:nvSpPr>
        <p:spPr>
          <a:xfrm>
            <a:off x="749808" y="1325880"/>
            <a:ext cx="475488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Chuyện gì đã xảy ra</a:t>
            </a:r>
            <a:endParaRPr lang="en-US" sz="1600" dirty="0"/>
          </a:p>
        </p:txBody>
      </p:sp>
      <p:sp>
        <p:nvSpPr>
          <p:cNvPr id="16" name="Text 14"/>
          <p:cNvSpPr txBox="1"/>
          <p:nvPr/>
        </p:nvSpPr>
        <p:spPr>
          <a:xfrm>
            <a:off x="749808" y="1737360"/>
            <a:ext cx="4800600" cy="246888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VietMed-NER ghi nhãn ngoài thực thể là </a:t>
            </a:r>
            <a:r>
              <a:rPr lang="en-US" sz="1350" b="1" dirty="0">
                <a:solidFill>
                  <a:srgbClr val="1B2733"/>
                </a:solidFill>
                <a:latin typeface="Calibri" pitchFamily="34" charset="0"/>
                <a:ea typeface="Calibri" pitchFamily="34" charset="-122"/>
                <a:cs typeface="Calibri" pitchFamily="34" charset="-120"/>
              </a:rPr>
              <a:t>"0"</a:t>
            </a:r>
            <a:r>
              <a:rPr lang="en-US" sz="1350" dirty="0">
                <a:solidFill>
                  <a:srgbClr val="1B2733"/>
                </a:solidFill>
                <a:latin typeface="Calibri" pitchFamily="34" charset="0"/>
                <a:ea typeface="Calibri" pitchFamily="34" charset="-122"/>
                <a:cs typeface="Calibri" pitchFamily="34" charset="-120"/>
              </a:rPr>
              <a:t> (số không), không phải </a:t>
            </a:r>
            <a:r>
              <a:rPr lang="en-US" sz="1350" b="1" dirty="0">
                <a:solidFill>
                  <a:srgbClr val="1B2733"/>
                </a:solidFill>
                <a:latin typeface="Calibri" pitchFamily="34" charset="0"/>
                <a:ea typeface="Calibri" pitchFamily="34" charset="-122"/>
                <a:cs typeface="Calibri" pitchFamily="34" charset="-120"/>
              </a:rPr>
              <a:t>"O"</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seqeval coi mỗi đoạn "0" là một </a:t>
            </a:r>
            <a:r>
              <a:rPr lang="en-US" sz="1350" b="1" dirty="0">
                <a:solidFill>
                  <a:srgbClr val="1B2733"/>
                </a:solidFill>
                <a:latin typeface="Calibri" pitchFamily="34" charset="0"/>
                <a:ea typeface="Calibri" pitchFamily="34" charset="-122"/>
                <a:cs typeface="Calibri" pitchFamily="34" charset="-120"/>
              </a:rPr>
              <a:t>thực thể giả loại "_"</a:t>
            </a:r>
            <a:r>
              <a:rPr lang="en-US" sz="1350" dirty="0">
                <a:solidFill>
                  <a:srgbClr val="1B2733"/>
                </a:solidFill>
                <a:latin typeface="Calibri" pitchFamily="34" charset="0"/>
                <a:ea typeface="Calibri" pitchFamily="34" charset="-122"/>
                <a:cs typeface="Calibri" pitchFamily="34" charset="-120"/>
              </a:rPr>
              <a:t> và tính vào micro P/R/F1</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Trên test: </a:t>
            </a:r>
            <a:r>
              <a:rPr lang="en-US" sz="1350" b="1" dirty="0">
                <a:solidFill>
                  <a:srgbClr val="1B2733"/>
                </a:solidFill>
                <a:latin typeface="Calibri" pitchFamily="34" charset="0"/>
                <a:ea typeface="Calibri" pitchFamily="34" charset="-122"/>
                <a:cs typeface="Calibri" pitchFamily="34" charset="-120"/>
              </a:rPr>
              <a:t>6.772</a:t>
            </a:r>
            <a:r>
              <a:rPr lang="en-US" sz="1350" dirty="0">
                <a:solidFill>
                  <a:srgbClr val="1B2733"/>
                </a:solidFill>
                <a:latin typeface="Calibri" pitchFamily="34" charset="0"/>
                <a:ea typeface="Calibri" pitchFamily="34" charset="-122"/>
                <a:cs typeface="Calibri" pitchFamily="34" charset="-120"/>
              </a:rPr>
              <a:t> thực thể giả + 8.338 thực thể thật = 15.110</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Validation dùng để chọn cấu hình, epoch và seed cũng bị ảnh hưởng</a:t>
            </a:r>
            <a:endParaRPr lang="en-US" sz="1350" dirty="0"/>
          </a:p>
        </p:txBody>
      </p:sp>
      <p:graphicFrame>
        <p:nvGraphicFramePr>
          <p:cNvPr id="17" name="Chart 0" descr=""/>
          <p:cNvGraphicFramePr/>
          <p:nvPr/>
        </p:nvGraphicFramePr>
        <p:xfrm>
          <a:off x="5852160" y="1143000"/>
          <a:ext cx="5852160" cy="320040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548640" y="4480560"/>
            <a:ext cx="3657600" cy="1783080"/>
          </a:xfrm>
          <a:prstGeom prst="roundRect">
            <a:avLst>
              <a:gd name="adj" fmla="val 4103"/>
            </a:avLst>
          </a:prstGeom>
          <a:solidFill>
            <a:srgbClr val="EEF4F7"/>
          </a:solidFill>
          <a:ln w="12700">
            <a:solidFill>
              <a:srgbClr val="EEF4F7"/>
            </a:solidFill>
            <a:prstDash val="solid"/>
          </a:ln>
        </p:spPr>
      </p:sp>
      <p:sp>
        <p:nvSpPr>
          <p:cNvPr id="19" name="Text 16"/>
          <p:cNvSpPr txBox="1"/>
          <p:nvPr/>
        </p:nvSpPr>
        <p:spPr>
          <a:xfrm>
            <a:off x="713232" y="4553712"/>
            <a:ext cx="3328416" cy="927202"/>
          </a:xfrm>
          <a:prstGeom prst="rect">
            <a:avLst/>
          </a:prstGeom>
          <a:noFill/>
          <a:ln/>
        </p:spPr>
        <p:txBody>
          <a:bodyPr wrap="square" lIns="0" tIns="0" rIns="0" bIns="0" rtlCol="0" anchor="ctr"/>
          <a:lstStyle/>
          <a:p>
            <a:pPr indent="0" marL="0">
              <a:buNone/>
            </a:pPr>
            <a:r>
              <a:rPr lang="en-US" sz="2400" b="1" dirty="0">
                <a:solidFill>
                  <a:srgbClr val="0F2A3D"/>
                </a:solidFill>
                <a:latin typeface="Cambria" pitchFamily="34" charset="0"/>
                <a:ea typeface="Cambria" pitchFamily="34" charset="-122"/>
                <a:cs typeface="Cambria" pitchFamily="34" charset="-120"/>
              </a:rPr>
              <a:t>+0,37 → +0,32</a:t>
            </a:r>
            <a:endParaRPr lang="en-US" sz="2400" dirty="0"/>
          </a:p>
        </p:txBody>
      </p:sp>
      <p:sp>
        <p:nvSpPr>
          <p:cNvPr id="20" name="Text 17"/>
          <p:cNvSpPr txBox="1"/>
          <p:nvPr/>
        </p:nvSpPr>
        <p:spPr>
          <a:xfrm>
            <a:off x="713232" y="5550408"/>
            <a:ext cx="3328416" cy="641909"/>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ViHealthBERT − PhoBERT: số cũ nói "hơn", số đúng kèm CI95</a:t>
            </a:r>
            <a:endParaRPr lang="en-US" sz="1100" dirty="0"/>
          </a:p>
        </p:txBody>
      </p:sp>
      <p:sp>
        <p:nvSpPr>
          <p:cNvPr id="21" name="Shape 18"/>
          <p:cNvSpPr/>
          <p:nvPr/>
        </p:nvSpPr>
        <p:spPr>
          <a:xfrm>
            <a:off x="4343400" y="4480560"/>
            <a:ext cx="3520440" cy="1783080"/>
          </a:xfrm>
          <a:prstGeom prst="roundRect">
            <a:avLst>
              <a:gd name="adj" fmla="val 4103"/>
            </a:avLst>
          </a:prstGeom>
          <a:solidFill>
            <a:srgbClr val="FCE9E3"/>
          </a:solidFill>
          <a:ln w="12700">
            <a:solidFill>
              <a:srgbClr val="FCE9E3"/>
            </a:solidFill>
            <a:prstDash val="solid"/>
          </a:ln>
        </p:spPr>
      </p:sp>
      <p:sp>
        <p:nvSpPr>
          <p:cNvPr id="22" name="Text 19"/>
          <p:cNvSpPr txBox="1"/>
          <p:nvPr/>
        </p:nvSpPr>
        <p:spPr>
          <a:xfrm>
            <a:off x="4507992" y="4553712"/>
            <a:ext cx="3191256" cy="927202"/>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[−0,41; +1,04]</a:t>
            </a:r>
            <a:endParaRPr lang="en-US" sz="2400" dirty="0"/>
          </a:p>
        </p:txBody>
      </p:sp>
      <p:sp>
        <p:nvSpPr>
          <p:cNvPr id="23" name="Text 20"/>
          <p:cNvSpPr txBox="1"/>
          <p:nvPr/>
        </p:nvSpPr>
        <p:spPr>
          <a:xfrm>
            <a:off x="4507992" y="5550408"/>
            <a:ext cx="3191256" cy="641909"/>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CI95 chứa 0 ⇒ hai mô hình </a:t>
            </a:r>
            <a:r>
              <a:rPr lang="en-US" sz="1100" b="1" dirty="0">
                <a:solidFill>
                  <a:srgbClr val="5B6B7A"/>
                </a:solidFill>
                <a:latin typeface="Calibri" pitchFamily="34" charset="0"/>
                <a:ea typeface="Calibri" pitchFamily="34" charset="-122"/>
                <a:cs typeface="Calibri" pitchFamily="34" charset="-120"/>
              </a:rPr>
              <a:t>ngang nhau</a:t>
            </a:r>
            <a:endParaRPr lang="en-US" sz="1100" dirty="0"/>
          </a:p>
        </p:txBody>
      </p:sp>
      <p:sp>
        <p:nvSpPr>
          <p:cNvPr id="24" name="Shape 21"/>
          <p:cNvSpPr/>
          <p:nvPr/>
        </p:nvSpPr>
        <p:spPr>
          <a:xfrm>
            <a:off x="8001000" y="4480560"/>
            <a:ext cx="3657600" cy="1783080"/>
          </a:xfrm>
          <a:prstGeom prst="roundRect">
            <a:avLst>
              <a:gd name="adj" fmla="val 4103"/>
            </a:avLst>
          </a:prstGeom>
          <a:solidFill>
            <a:srgbClr val="E3F3F1"/>
          </a:solidFill>
          <a:ln w="12700">
            <a:solidFill>
              <a:srgbClr val="E3F3F1"/>
            </a:solidFill>
            <a:prstDash val="solid"/>
          </a:ln>
        </p:spPr>
      </p:sp>
      <p:sp>
        <p:nvSpPr>
          <p:cNvPr id="25" name="Text 22"/>
          <p:cNvSpPr txBox="1"/>
          <p:nvPr/>
        </p:nvSpPr>
        <p:spPr>
          <a:xfrm>
            <a:off x="8183880" y="4572000"/>
            <a:ext cx="3383280" cy="365760"/>
          </a:xfrm>
          <a:prstGeom prst="rect">
            <a:avLst/>
          </a:prstGeom>
          <a:noFill/>
          <a:ln/>
        </p:spPr>
        <p:txBody>
          <a:bodyPr wrap="square" lIns="0" tIns="0" rIns="0" bIns="0" rtlCol="0" anchor="ctr"/>
          <a:lstStyle/>
          <a:p>
            <a:pPr indent="0" marL="0">
              <a:buNone/>
            </a:pPr>
            <a:r>
              <a:rPr lang="en-US" sz="1500" b="1" dirty="0">
                <a:solidFill>
                  <a:srgbClr val="2A9D8F"/>
                </a:solidFill>
                <a:latin typeface="Cambria" pitchFamily="34" charset="0"/>
                <a:ea typeface="Cambria" pitchFamily="34" charset="-122"/>
                <a:cs typeface="Cambria" pitchFamily="34" charset="-120"/>
              </a:rPr>
              <a:t>Cách sửa</a:t>
            </a:r>
            <a:endParaRPr lang="en-US" sz="1500" dirty="0"/>
          </a:p>
        </p:txBody>
      </p:sp>
      <p:sp>
        <p:nvSpPr>
          <p:cNvPr id="26" name="Text 23"/>
          <p:cNvSpPr txBox="1"/>
          <p:nvPr/>
        </p:nvSpPr>
        <p:spPr>
          <a:xfrm>
            <a:off x="8183880" y="4937760"/>
            <a:ext cx="3383280" cy="1325880"/>
          </a:xfrm>
          <a:prstGeom prst="rect">
            <a:avLst/>
          </a:prstGeom>
          <a:noFill/>
          <a:ln/>
        </p:spPr>
        <p:txBody>
          <a:bodyPr wrap="square" lIns="635" tIns="635" rIns="635" bIns="635" rtlCol="0" anchor="t"/>
          <a:lstStyle/>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Đổi "0" → "O" trước khi dựng label2id, huấn luyện và chấm</a:t>
            </a:r>
            <a:endParaRPr lang="en-US" sz="1250" dirty="0"/>
          </a:p>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Chấm lại checkpoint cũ; chạy lại 3 seed (slide 13)</a:t>
            </a:r>
            <a:endParaRPr lang="en-US" sz="1250" dirty="0"/>
          </a:p>
        </p:txBody>
      </p:sp>
      <p:sp>
        <p:nvSpPr>
          <p:cNvPr id="27" name="Text 24"/>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giai_doan_15_ner_finetune_vihealthbert/ketqua/ner_gold_comparison.json (số cũ), model_comparison.json (số đúng, pairs); đính chính trong FINAL_RESULTS.md / README.md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Kết quả: CRF cao nhất theo F1 strict</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E4572E"/>
          </a:solidFill>
          <a:ln w="12700">
            <a:solidFill>
              <a:srgbClr val="E4572E"/>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 / 22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949440" cy="914400"/>
        </p:xfrm>
        <a:graphic>
          <a:graphicData uri="http://schemas.openxmlformats.org/drawingml/2006/table">
            <a:tbl>
              <a:tblPr/>
              <a:tblGrid>
                <a:gridCol w="1737360"/>
                <a:gridCol w="868680"/>
                <a:gridCol w="777240"/>
                <a:gridCol w="868680"/>
                <a:gridCol w="1097280"/>
                <a:gridCol w="868680"/>
                <a:gridCol w="73152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Mô hình</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F1 test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CI95 F1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Macro F1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F1 val</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54,7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57,8</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56,23</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55,1–57,3</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50,6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83,2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Linear SVM</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54,6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62,1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58,10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57,0–59,2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52,9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84,5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CRF</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65,8</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61,9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63,80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62,6–64,9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58,1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89,2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XLM-R</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52,6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66,2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58,62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57,5–59,7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48,4</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79,9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PhoBERT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56,7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69,4</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62,42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61,3–63,5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51,9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85,2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ViHealthBERT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56,2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71,0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62,74</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61,7–63,8</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51,6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85,2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graphicFrame>
        <p:nvGraphicFramePr>
          <p:cNvPr id="15" name="Chart 0" descr=""/>
          <p:cNvGraphicFramePr/>
          <p:nvPr/>
        </p:nvGraphicFramePr>
        <p:xfrm>
          <a:off x="7680960" y="1143000"/>
          <a:ext cx="4069080" cy="3200400"/>
        </p:xfrm>
        <a:graphic xmlns:a="http://schemas.openxmlformats.org/drawingml/2006/main">
          <a:graphicData uri="http://schemas.openxmlformats.org/drawingml/2006/chart">
            <c:chart xmlns:c="http://schemas.openxmlformats.org/drawingml/2006/chart" r:id="rId1"/>
          </a:graphicData>
        </a:graphic>
      </p:graphicFrame>
      <p:sp>
        <p:nvSpPr>
          <p:cNvPr id="16" name="Shape 12"/>
          <p:cNvSpPr/>
          <p:nvPr/>
        </p:nvSpPr>
        <p:spPr>
          <a:xfrm>
            <a:off x="548640" y="4663440"/>
            <a:ext cx="11109960" cy="1645920"/>
          </a:xfrm>
          <a:prstGeom prst="roundRect">
            <a:avLst>
              <a:gd name="adj" fmla="val 4444"/>
            </a:avLst>
          </a:prstGeom>
          <a:solidFill>
            <a:srgbClr val="EEF4F7"/>
          </a:solidFill>
          <a:ln w="12700">
            <a:solidFill>
              <a:srgbClr val="EEF4F7"/>
            </a:solidFill>
            <a:prstDash val="solid"/>
          </a:ln>
        </p:spPr>
      </p:sp>
      <p:sp>
        <p:nvSpPr>
          <p:cNvPr id="17" name="Text 13"/>
          <p:cNvSpPr txBox="1"/>
          <p:nvPr/>
        </p:nvSpPr>
        <p:spPr>
          <a:xfrm>
            <a:off x="749808" y="4754880"/>
            <a:ext cx="10789920" cy="1508760"/>
          </a:xfrm>
          <a:prstGeom prst="rect">
            <a:avLst/>
          </a:prstGeom>
          <a:noFill/>
          <a:ln/>
        </p:spPr>
        <p:txBody>
          <a:bodyPr wrap="square" lIns="635" tIns="635" rIns="635" bIns="635" rtlCol="0" anchor="t"/>
          <a:lstStyle/>
          <a:p>
            <a:pPr marL="203200" indent="-203200">
              <a:spcAft>
                <a:spcPts val="600"/>
              </a:spcAft>
              <a:buSzPct val="100000"/>
              <a:buChar char="•"/>
            </a:pPr>
            <a:r>
              <a:rPr lang="en-US" sz="1400" b="1" dirty="0">
                <a:solidFill>
                  <a:srgbClr val="1B2733"/>
                </a:solidFill>
                <a:latin typeface="Calibri" pitchFamily="34" charset="0"/>
                <a:ea typeface="Calibri" pitchFamily="34" charset="-122"/>
                <a:cs typeface="Calibri" pitchFamily="34" charset="-120"/>
              </a:rPr>
              <a:t>CRF</a:t>
            </a:r>
            <a:r>
              <a:rPr lang="en-US" sz="1400" dirty="0">
                <a:solidFill>
                  <a:srgbClr val="1B2733"/>
                </a:solidFill>
                <a:latin typeface="Calibri" pitchFamily="34" charset="0"/>
                <a:ea typeface="Calibri" pitchFamily="34" charset="-122"/>
                <a:cs typeface="Calibri" pitchFamily="34" charset="-120"/>
              </a:rPr>
              <a:t> dẫn đầu nhờ </a:t>
            </a:r>
            <a:r>
              <a:rPr lang="en-US" sz="1400" b="1" dirty="0">
                <a:solidFill>
                  <a:srgbClr val="1B2733"/>
                </a:solidFill>
                <a:latin typeface="Calibri" pitchFamily="34" charset="0"/>
                <a:ea typeface="Calibri" pitchFamily="34" charset="-122"/>
                <a:cs typeface="Calibri" pitchFamily="34" charset="-120"/>
              </a:rPr>
              <a:t>precision 65,8%</a:t>
            </a:r>
            <a:r>
              <a:rPr lang="en-US" sz="1400" dirty="0">
                <a:solidFill>
                  <a:srgbClr val="1B2733"/>
                </a:solidFill>
                <a:latin typeface="Calibri" pitchFamily="34" charset="0"/>
                <a:ea typeface="Calibri" pitchFamily="34" charset="-122"/>
                <a:cs typeface="Calibri" pitchFamily="34" charset="-120"/>
              </a:rPr>
              <a:t>; Transformer có recall cao hơn nhưng đoán thừa (precision 52,6–56,7%)</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Mọi mô hình mất </a:t>
            </a:r>
            <a:r>
              <a:rPr lang="en-US" sz="1400" b="1" dirty="0">
                <a:solidFill>
                  <a:srgbClr val="1B2733"/>
                </a:solidFill>
                <a:latin typeface="Calibri" pitchFamily="34" charset="0"/>
                <a:ea typeface="Calibri" pitchFamily="34" charset="-122"/>
                <a:cs typeface="Calibri" pitchFamily="34" charset="-120"/>
              </a:rPr>
              <a:t>21–27 điểm</a:t>
            </a:r>
            <a:r>
              <a:rPr lang="en-US" sz="1400" dirty="0">
                <a:solidFill>
                  <a:srgbClr val="1B2733"/>
                </a:solidFill>
                <a:latin typeface="Calibri" pitchFamily="34" charset="0"/>
                <a:ea typeface="Calibri" pitchFamily="34" charset="-122"/>
                <a:cs typeface="Calibri" pitchFamily="34" charset="-120"/>
              </a:rPr>
              <a:t> từ validation sang test ⇒ lệch miền là giới hạn chung</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Macro F1 thấp hơn micro vì các lớp khó / hiếm kéo xuống (slide 15)</a:t>
            </a:r>
            <a:endParaRPr lang="en-US" sz="1400" dirty="0"/>
          </a:p>
        </p:txBody>
      </p:sp>
      <p:sp>
        <p:nvSpPr>
          <p:cNvPr id="18" name="Text 14"/>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(models: test_precision, test_recall, test_f1, test_f1_ci95, test_macro_f1, val_f1)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CRF hơn khoảng 1 điểm; PhoBERT ≈ ViHealthBERT</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E4572E"/>
          </a:solidFill>
          <a:ln w="12700">
            <a:solidFill>
              <a:srgbClr val="E4572E"/>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 / 22</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035040" cy="914400"/>
        </p:xfrm>
        <a:graphic>
          <a:graphicData uri="http://schemas.openxmlformats.org/drawingml/2006/table">
            <a:tbl>
              <a:tblPr/>
              <a:tblGrid>
                <a:gridCol w="2194560"/>
                <a:gridCol w="822960"/>
                <a:gridCol w="1600200"/>
                <a:gridCol w="141732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Cặp (A − B)</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Δ F1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CI95 bootstrap</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Kết luận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CRF - ViHealthBERT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+1,05</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[+0,08; +2,05]</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Khác biệt thật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CRF - PhoBERT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+1,37</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[+0,43; +2,31]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Khác biệt thật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ViHealthBERT - PhoBERT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+0,32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[−0,41; +1,04]</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Ngang nhau</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PhoBERT - XLM-R</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+3,80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[+2,89; +4,82]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Khác biệt thật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CRF - Linear SVM</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+5,70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[+4,90; +6,50]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Khác biệt thật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Linear SVM - LogReg</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+1,87</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[+1,35; +2,42]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Khác biệt thật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5" name="Shape 12"/>
          <p:cNvSpPr/>
          <p:nvPr/>
        </p:nvSpPr>
        <p:spPr>
          <a:xfrm>
            <a:off x="548640" y="4343400"/>
            <a:ext cx="6035040" cy="1965960"/>
          </a:xfrm>
          <a:prstGeom prst="roundRect">
            <a:avLst>
              <a:gd name="adj" fmla="val 3721"/>
            </a:avLst>
          </a:prstGeom>
          <a:solidFill>
            <a:srgbClr val="FBF1DF"/>
          </a:solidFill>
          <a:ln w="12700">
            <a:solidFill>
              <a:srgbClr val="FBF1DF"/>
            </a:solidFill>
            <a:prstDash val="solid"/>
          </a:ln>
        </p:spPr>
      </p:sp>
      <p:sp>
        <p:nvSpPr>
          <p:cNvPr id="16" name="Text 13"/>
          <p:cNvSpPr txBox="1"/>
          <p:nvPr/>
        </p:nvSpPr>
        <p:spPr>
          <a:xfrm>
            <a:off x="749808" y="4434840"/>
            <a:ext cx="566928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Chạy lại 3 seed với cách chấm đúng</a:t>
            </a:r>
            <a:endParaRPr lang="en-US" sz="15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749808" y="4846320"/>
          <a:ext cx="5623560" cy="914400"/>
        </p:xfrm>
        <a:graphic>
          <a:graphicData uri="http://schemas.openxmlformats.org/drawingml/2006/table">
            <a:tbl>
              <a:tblPr/>
              <a:tblGrid>
                <a:gridCol w="1737360"/>
                <a:gridCol w="2194560"/>
                <a:gridCol w="1691640"/>
              </a:tblGrid>
              <a:tr h="3657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Mô hình</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Micro F1 (mean ± std)</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Macro F1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PhoBERT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62,98 ± 0,33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52,50 ± 0,38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ViHealthBERT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62,88 ± 0,12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51,35 ± 0,50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749808" y="5943600"/>
            <a:ext cx="5669280" cy="320040"/>
          </a:xfrm>
          <a:prstGeom prst="rect">
            <a:avLst/>
          </a:prstGeom>
          <a:noFill/>
          <a:ln/>
        </p:spPr>
        <p:txBody>
          <a:bodyPr wrap="square" lIns="0" tIns="0" rIns="0" bIns="0" rtlCol="0" anchor="t"/>
          <a:lstStyle/>
          <a:p>
            <a:pPr algn="l" indent="0" marL="0">
              <a:buNone/>
            </a:pPr>
            <a:r>
              <a:rPr lang="en-US" sz="1150" i="1" dirty="0">
                <a:solidFill>
                  <a:srgbClr val="5B6B7A"/>
                </a:solidFill>
                <a:latin typeface="Calibri" pitchFamily="34" charset="0"/>
                <a:ea typeface="Calibri" pitchFamily="34" charset="-122"/>
                <a:cs typeface="Calibri" pitchFamily="34" charset="-120"/>
              </a:rPr>
              <a:t>Seed 42, 123, 2024: chênh lệch trung bình nhỏ hơn độ dao động giữa các seed.</a:t>
            </a:r>
            <a:endParaRPr lang="en-US" sz="1150" dirty="0"/>
          </a:p>
        </p:txBody>
      </p:sp>
      <p:graphicFrame>
        <p:nvGraphicFramePr>
          <p:cNvPr id="19" name="Chart 0" descr=""/>
          <p:cNvGraphicFramePr/>
          <p:nvPr/>
        </p:nvGraphicFramePr>
        <p:xfrm>
          <a:off x="6766560" y="1143000"/>
          <a:ext cx="4937760" cy="3931920"/>
        </p:xfrm>
        <a:graphic xmlns:a="http://schemas.openxmlformats.org/drawingml/2006/main">
          <a:graphicData uri="http://schemas.openxmlformats.org/drawingml/2006/chart">
            <c:chart xmlns:c="http://schemas.openxmlformats.org/drawingml/2006/chart" r:id="rId1"/>
          </a:graphicData>
        </a:graphic>
      </p:graphicFrame>
      <p:sp>
        <p:nvSpPr>
          <p:cNvPr id="20" name="Text 15"/>
          <p:cNvSpPr txBox="1"/>
          <p:nvPr/>
        </p:nvSpPr>
        <p:spPr>
          <a:xfrm>
            <a:off x="6858000" y="5212080"/>
            <a:ext cx="4754880" cy="822960"/>
          </a:xfrm>
          <a:prstGeom prst="rect">
            <a:avLst/>
          </a:prstGeom>
          <a:noFill/>
          <a:ln/>
        </p:spPr>
        <p:txBody>
          <a:bodyPr wrap="square" lIns="0" tIns="0" rIns="0" bIns="0" rtlCol="0" anchor="t"/>
          <a:lstStyle/>
          <a:p>
            <a:pPr algn="l" indent="0" marL="0">
              <a:buNone/>
            </a:pPr>
            <a:r>
              <a:rPr lang="en-US" sz="1300" dirty="0">
                <a:solidFill>
                  <a:srgbClr val="1B2733"/>
                </a:solidFill>
                <a:latin typeface="Calibri" pitchFamily="34" charset="0"/>
                <a:ea typeface="Calibri" pitchFamily="34" charset="-122"/>
                <a:cs typeface="Calibri" pitchFamily="34" charset="-120"/>
              </a:rPr>
              <a:t>Pretrain y tế tăng ở vài loại y khoa nhưng giảm ở loại khác; tổng thể bù trừ nhau.</a:t>
            </a:r>
            <a:endParaRPr lang="en-US" sz="1300" dirty="0"/>
          </a:p>
        </p:txBody>
      </p:sp>
      <p:sp>
        <p:nvSpPr>
          <p:cNvPr id="21" name="Text 16"/>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(pairs, per_type_f1); experiments/004-vi-ner-intermediate-finetune/results/*/aggregate.json (baseline)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Thực thể mới: ViHealthBERT nhận ra gấp 3,0 lần CRF</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E4572E"/>
          </a:solidFill>
          <a:ln w="12700">
            <a:solidFill>
              <a:srgbClr val="E4572E"/>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 / 22</a:t>
            </a:r>
            <a:endParaRPr lang="en-US" sz="1000" dirty="0"/>
          </a:p>
        </p:txBody>
      </p:sp>
      <p:graphicFrame>
        <p:nvGraphicFramePr>
          <p:cNvPr id="14" name="Chart 0" descr=""/>
          <p:cNvGraphicFramePr/>
          <p:nvPr/>
        </p:nvGraphicFramePr>
        <p:xfrm>
          <a:off x="457200" y="114300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548640" y="5303520"/>
            <a:ext cx="6766560" cy="1005840"/>
          </a:xfrm>
          <a:prstGeom prst="roundRect">
            <a:avLst>
              <a:gd name="adj" fmla="val 7273"/>
            </a:avLst>
          </a:prstGeom>
          <a:solidFill>
            <a:srgbClr val="EEF4F7"/>
          </a:solidFill>
          <a:ln w="12700">
            <a:solidFill>
              <a:srgbClr val="EEF4F7"/>
            </a:solidFill>
            <a:prstDash val="solid"/>
          </a:ln>
        </p:spPr>
      </p:sp>
      <p:sp>
        <p:nvSpPr>
          <p:cNvPr id="16" name="Text 13"/>
          <p:cNvSpPr txBox="1"/>
          <p:nvPr/>
        </p:nvSpPr>
        <p:spPr>
          <a:xfrm>
            <a:off x="731520" y="5303520"/>
            <a:ext cx="6400800" cy="1005840"/>
          </a:xfrm>
          <a:prstGeom prst="rect">
            <a:avLst/>
          </a:prstGeom>
          <a:noFill/>
          <a:ln/>
        </p:spPr>
        <p:txBody>
          <a:bodyPr wrap="square" lIns="0" tIns="0" rIns="0" bIns="0" rtlCol="0" anchor="ctr"/>
          <a:lstStyle/>
          <a:p>
            <a:pPr algn="l" indent="0" marL="0">
              <a:buNone/>
            </a:pPr>
            <a:r>
              <a:rPr lang="en-US" sz="1350" dirty="0">
                <a:solidFill>
                  <a:srgbClr val="1B2733"/>
                </a:solidFill>
                <a:latin typeface="Calibri" pitchFamily="34" charset="0"/>
                <a:ea typeface="Calibri" pitchFamily="34" charset="-122"/>
                <a:cs typeface="Calibri" pitchFamily="34" charset="-120"/>
              </a:rPr>
              <a:t>Test có </a:t>
            </a:r>
            <a:r>
              <a:rPr lang="en-US" sz="1350" b="1" dirty="0">
                <a:solidFill>
                  <a:srgbClr val="1B2733"/>
                </a:solidFill>
                <a:latin typeface="Calibri" pitchFamily="34" charset="0"/>
                <a:ea typeface="Calibri" pitchFamily="34" charset="-122"/>
                <a:cs typeface="Calibri" pitchFamily="34" charset="-120"/>
              </a:rPr>
              <a:t>5.782</a:t>
            </a:r>
            <a:r>
              <a:rPr lang="en-US" sz="1350" dirty="0">
                <a:solidFill>
                  <a:srgbClr val="1B2733"/>
                </a:solidFill>
                <a:latin typeface="Calibri" pitchFamily="34" charset="0"/>
                <a:ea typeface="Calibri" pitchFamily="34" charset="-122"/>
                <a:cs typeface="Calibri" pitchFamily="34" charset="-120"/>
              </a:rPr>
              <a:t> thực thể đã gặp và </a:t>
            </a:r>
            <a:r>
              <a:rPr lang="en-US" sz="1350" b="1" dirty="0">
                <a:solidFill>
                  <a:srgbClr val="1B2733"/>
                </a:solidFill>
                <a:latin typeface="Calibri" pitchFamily="34" charset="0"/>
                <a:ea typeface="Calibri" pitchFamily="34" charset="-122"/>
                <a:cs typeface="Calibri" pitchFamily="34" charset="-120"/>
              </a:rPr>
              <a:t>2.556</a:t>
            </a:r>
            <a:r>
              <a:rPr lang="en-US" sz="1350" dirty="0">
                <a:solidFill>
                  <a:srgbClr val="1B2733"/>
                </a:solidFill>
                <a:latin typeface="Calibri" pitchFamily="34" charset="0"/>
                <a:ea typeface="Calibri" pitchFamily="34" charset="-122"/>
                <a:cs typeface="Calibri" pitchFamily="34" charset="-120"/>
              </a:rPr>
              <a:t> chưa gặp (30,7%). Phần lớn đã gặp ⇒ ghi nhớ vẫn đủ để CRF dẫn đầu F1 tổng.</a:t>
            </a:r>
            <a:endParaRPr lang="en-US" sz="1350" dirty="0"/>
          </a:p>
        </p:txBody>
      </p:sp>
      <p:sp>
        <p:nvSpPr>
          <p:cNvPr id="17" name="Shape 14"/>
          <p:cNvSpPr/>
          <p:nvPr/>
        </p:nvSpPr>
        <p:spPr>
          <a:xfrm>
            <a:off x="7680960" y="1188720"/>
            <a:ext cx="3977640" cy="1188720"/>
          </a:xfrm>
          <a:prstGeom prst="roundRect">
            <a:avLst>
              <a:gd name="adj" fmla="val 6154"/>
            </a:avLst>
          </a:prstGeom>
          <a:solidFill>
            <a:srgbClr val="EEF4F7"/>
          </a:solidFill>
          <a:ln w="12700">
            <a:solidFill>
              <a:srgbClr val="EEF4F7"/>
            </a:solidFill>
            <a:prstDash val="solid"/>
          </a:ln>
        </p:spPr>
      </p:sp>
      <p:sp>
        <p:nvSpPr>
          <p:cNvPr id="18" name="Text 15"/>
          <p:cNvSpPr txBox="1"/>
          <p:nvPr/>
        </p:nvSpPr>
        <p:spPr>
          <a:xfrm>
            <a:off x="7845552" y="1261872"/>
            <a:ext cx="3648456" cy="618134"/>
          </a:xfrm>
          <a:prstGeom prst="rect">
            <a:avLst/>
          </a:prstGeom>
          <a:noFill/>
          <a:ln/>
        </p:spPr>
        <p:txBody>
          <a:bodyPr wrap="square" lIns="0" tIns="0" rIns="0" bIns="0" rtlCol="0" anchor="ctr"/>
          <a:lstStyle/>
          <a:p>
            <a:pPr indent="0" marL="0">
              <a:buNone/>
            </a:pPr>
            <a:r>
              <a:rPr lang="en-US" sz="2400" b="1" dirty="0">
                <a:solidFill>
                  <a:srgbClr val="0F2A3D"/>
                </a:solidFill>
                <a:latin typeface="Cambria" pitchFamily="34" charset="0"/>
                <a:ea typeface="Cambria" pitchFamily="34" charset="-122"/>
                <a:cs typeface="Cambria" pitchFamily="34" charset="-120"/>
              </a:rPr>
              <a:t>4,9–13,9%</a:t>
            </a:r>
            <a:endParaRPr lang="en-US" sz="2400" dirty="0"/>
          </a:p>
        </p:txBody>
      </p:sp>
      <p:sp>
        <p:nvSpPr>
          <p:cNvPr id="19" name="Text 16"/>
          <p:cNvSpPr txBox="1"/>
          <p:nvPr/>
        </p:nvSpPr>
        <p:spPr>
          <a:xfrm>
            <a:off x="7845552" y="1901952"/>
            <a:ext cx="3648456" cy="427939"/>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Cổ điển: recall thực thể chưa gặp</a:t>
            </a:r>
            <a:endParaRPr lang="en-US" sz="1100" dirty="0"/>
          </a:p>
        </p:txBody>
      </p:sp>
      <p:sp>
        <p:nvSpPr>
          <p:cNvPr id="20" name="Shape 17"/>
          <p:cNvSpPr/>
          <p:nvPr/>
        </p:nvSpPr>
        <p:spPr>
          <a:xfrm>
            <a:off x="7680960" y="2514600"/>
            <a:ext cx="3977640" cy="1188720"/>
          </a:xfrm>
          <a:prstGeom prst="roundRect">
            <a:avLst>
              <a:gd name="adj" fmla="val 6154"/>
            </a:avLst>
          </a:prstGeom>
          <a:solidFill>
            <a:srgbClr val="FCE9E3"/>
          </a:solidFill>
          <a:ln w="12700">
            <a:solidFill>
              <a:srgbClr val="FCE9E3"/>
            </a:solidFill>
            <a:prstDash val="solid"/>
          </a:ln>
        </p:spPr>
      </p:sp>
      <p:sp>
        <p:nvSpPr>
          <p:cNvPr id="21" name="Text 18"/>
          <p:cNvSpPr txBox="1"/>
          <p:nvPr/>
        </p:nvSpPr>
        <p:spPr>
          <a:xfrm>
            <a:off x="7845552" y="2587752"/>
            <a:ext cx="3648456" cy="618134"/>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35,6–41,9%</a:t>
            </a:r>
            <a:endParaRPr lang="en-US" sz="2400" dirty="0"/>
          </a:p>
        </p:txBody>
      </p:sp>
      <p:sp>
        <p:nvSpPr>
          <p:cNvPr id="22" name="Text 19"/>
          <p:cNvSpPr txBox="1"/>
          <p:nvPr/>
        </p:nvSpPr>
        <p:spPr>
          <a:xfrm>
            <a:off x="7845552" y="3227832"/>
            <a:ext cx="3648456" cy="427939"/>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Transformer: recall thực thể chưa gặp</a:t>
            </a:r>
            <a:endParaRPr lang="en-US" sz="1100" dirty="0"/>
          </a:p>
        </p:txBody>
      </p:sp>
      <p:sp>
        <p:nvSpPr>
          <p:cNvPr id="23" name="Shape 20"/>
          <p:cNvSpPr/>
          <p:nvPr/>
        </p:nvSpPr>
        <p:spPr>
          <a:xfrm>
            <a:off x="7680960" y="3840480"/>
            <a:ext cx="3977640" cy="2468880"/>
          </a:xfrm>
          <a:prstGeom prst="roundRect">
            <a:avLst>
              <a:gd name="adj" fmla="val 2963"/>
            </a:avLst>
          </a:prstGeom>
          <a:solidFill>
            <a:srgbClr val="FBF1DF"/>
          </a:solidFill>
          <a:ln w="12700">
            <a:solidFill>
              <a:srgbClr val="FBF1DF"/>
            </a:solidFill>
            <a:prstDash val="solid"/>
          </a:ln>
        </p:spPr>
      </p:sp>
      <p:sp>
        <p:nvSpPr>
          <p:cNvPr id="24" name="Text 21"/>
          <p:cNvSpPr txBox="1"/>
          <p:nvPr/>
        </p:nvSpPr>
        <p:spPr>
          <a:xfrm>
            <a:off x="7863840" y="3931920"/>
            <a:ext cx="365760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Chọn mô hình theo dữ liệu</a:t>
            </a:r>
            <a:endParaRPr lang="en-US" sz="1500" dirty="0"/>
          </a:p>
        </p:txBody>
      </p:sp>
      <p:sp>
        <p:nvSpPr>
          <p:cNvPr id="25" name="Text 22"/>
          <p:cNvSpPr txBox="1"/>
          <p:nvPr/>
        </p:nvSpPr>
        <p:spPr>
          <a:xfrm>
            <a:off x="7863840" y="4343400"/>
            <a:ext cx="3657600" cy="192024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Thuật ngữ lặp lại như train → </a:t>
            </a:r>
            <a:r>
              <a:rPr lang="en-US" sz="1350" b="1" dirty="0">
                <a:solidFill>
                  <a:srgbClr val="1B2733"/>
                </a:solidFill>
                <a:latin typeface="Calibri" pitchFamily="34" charset="0"/>
                <a:ea typeface="Calibri" pitchFamily="34" charset="-122"/>
                <a:cs typeface="Calibri" pitchFamily="34" charset="-120"/>
              </a:rPr>
              <a:t>CRF</a:t>
            </a:r>
            <a:r>
              <a:rPr lang="en-US" sz="1350" dirty="0">
                <a:solidFill>
                  <a:srgbClr val="1B2733"/>
                </a:solidFill>
                <a:latin typeface="Calibri" pitchFamily="34" charset="0"/>
                <a:ea typeface="Calibri" pitchFamily="34" charset="-122"/>
                <a:cs typeface="Calibri" pitchFamily="34" charset="-120"/>
              </a:rPr>
              <a:t>: rẻ, chính xác nhất theo strict</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Chủ đề bệnh mới → </a:t>
            </a:r>
            <a:r>
              <a:rPr lang="en-US" sz="1350" b="1" dirty="0">
                <a:solidFill>
                  <a:srgbClr val="1B2733"/>
                </a:solidFill>
                <a:latin typeface="Calibri" pitchFamily="34" charset="0"/>
                <a:ea typeface="Calibri" pitchFamily="34" charset="-122"/>
                <a:cs typeface="Calibri" pitchFamily="34" charset="-120"/>
              </a:rPr>
              <a:t>Transformer</a:t>
            </a:r>
            <a:r>
              <a:rPr lang="en-US" sz="1350" dirty="0">
                <a:solidFill>
                  <a:srgbClr val="1B2733"/>
                </a:solidFill>
                <a:latin typeface="Calibri" pitchFamily="34" charset="0"/>
                <a:ea typeface="Calibri" pitchFamily="34" charset="-122"/>
                <a:cs typeface="Calibri" pitchFamily="34" charset="-120"/>
              </a:rPr>
              <a:t> tổng quát hoá tốt hơn</a:t>
            </a:r>
            <a:endParaRPr lang="en-US" sz="1350" dirty="0"/>
          </a:p>
        </p:txBody>
      </p:sp>
      <p:sp>
        <p:nvSpPr>
          <p:cNvPr id="26" name="Text 23"/>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(recall_seen, recall_unseen), data_quality.json (oov.test.unseen_entity_rate), eda.json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F1 theo loại: lớp khó và lớp hiếm kéo điểm xuống</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E4572E"/>
          </a:solidFill>
          <a:ln w="12700">
            <a:solidFill>
              <a:srgbClr val="E4572E"/>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 / 22</a:t>
            </a:r>
            <a:endParaRPr lang="en-US" sz="1000" dirty="0"/>
          </a:p>
        </p:txBody>
      </p:sp>
      <p:pic>
        <p:nvPicPr>
          <p:cNvPr id="14" name="Image 0" descr="fig_per_type_f1_test.png">    </p:cNvPr>
          <p:cNvPicPr>
            <a:picLocks noChangeAspect="1"/>
          </p:cNvPicPr>
          <p:nvPr/>
        </p:nvPicPr>
        <p:blipFill>
          <a:blip r:embed="rId1"/>
          <a:stretch>
            <a:fillRect/>
          </a:stretch>
        </p:blipFill>
        <p:spPr>
          <a:xfrm>
            <a:off x="1005840" y="1188720"/>
            <a:ext cx="10149840" cy="3383280"/>
          </a:xfrm>
          <a:prstGeom prst="rect">
            <a:avLst/>
          </a:prstGeom>
        </p:spPr>
      </p:pic>
      <p:sp>
        <p:nvSpPr>
          <p:cNvPr id="15" name="Shape 12"/>
          <p:cNvSpPr/>
          <p:nvPr/>
        </p:nvSpPr>
        <p:spPr>
          <a:xfrm>
            <a:off x="548640" y="4754880"/>
            <a:ext cx="5486400" cy="1554480"/>
          </a:xfrm>
          <a:prstGeom prst="roundRect">
            <a:avLst>
              <a:gd name="adj" fmla="val 4706"/>
            </a:avLst>
          </a:prstGeom>
          <a:solidFill>
            <a:srgbClr val="EEF4F7"/>
          </a:solidFill>
          <a:ln w="12700">
            <a:solidFill>
              <a:srgbClr val="EEF4F7"/>
            </a:solidFill>
            <a:prstDash val="solid"/>
          </a:ln>
        </p:spPr>
      </p:sp>
      <p:sp>
        <p:nvSpPr>
          <p:cNvPr id="16" name="Text 13"/>
          <p:cNvSpPr txBox="1"/>
          <p:nvPr/>
        </p:nvSpPr>
        <p:spPr>
          <a:xfrm>
            <a:off x="749808" y="4828032"/>
            <a:ext cx="512064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Khó với mọi mô hình</a:t>
            </a:r>
            <a:endParaRPr lang="en-US" sz="1500" dirty="0"/>
          </a:p>
        </p:txBody>
      </p:sp>
      <p:sp>
        <p:nvSpPr>
          <p:cNvPr id="17" name="Text 14"/>
          <p:cNvSpPr txBox="1"/>
          <p:nvPr/>
        </p:nvSpPr>
        <p:spPr>
          <a:xfrm>
            <a:off x="749808" y="5212080"/>
            <a:ext cx="5120640" cy="109728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CRF thấp nhất: PREVENTIVEMED 5%, MEDDEVICETECHNIQUE 18%, ORGANIZATION 27%</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PREVENTIVEMED: 343 mẫu train nhưng chỉ 18 mẫu test</a:t>
            </a:r>
            <a:endParaRPr lang="en-US" sz="1300" dirty="0"/>
          </a:p>
        </p:txBody>
      </p:sp>
      <p:sp>
        <p:nvSpPr>
          <p:cNvPr id="18" name="Shape 15"/>
          <p:cNvSpPr/>
          <p:nvPr/>
        </p:nvSpPr>
        <p:spPr>
          <a:xfrm>
            <a:off x="6172200" y="4754880"/>
            <a:ext cx="5486400" cy="1554480"/>
          </a:xfrm>
          <a:prstGeom prst="roundRect">
            <a:avLst>
              <a:gd name="adj" fmla="val 4706"/>
            </a:avLst>
          </a:prstGeom>
          <a:solidFill>
            <a:srgbClr val="FCE9E3"/>
          </a:solidFill>
          <a:ln w="12700">
            <a:solidFill>
              <a:srgbClr val="FCE9E3"/>
            </a:solidFill>
            <a:prstDash val="solid"/>
          </a:ln>
        </p:spPr>
      </p:sp>
      <p:sp>
        <p:nvSpPr>
          <p:cNvPr id="19" name="Text 16"/>
          <p:cNvSpPr txBox="1"/>
          <p:nvPr/>
        </p:nvSpPr>
        <p:spPr>
          <a:xfrm>
            <a:off x="6373368" y="4828032"/>
            <a:ext cx="5120640" cy="365760"/>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Không kết luận về lớp hiếm</a:t>
            </a:r>
            <a:endParaRPr lang="en-US" sz="1500" dirty="0"/>
          </a:p>
        </p:txBody>
      </p:sp>
      <p:sp>
        <p:nvSpPr>
          <p:cNvPr id="20" name="Text 17"/>
          <p:cNvSpPr txBox="1"/>
          <p:nvPr/>
        </p:nvSpPr>
        <p:spPr>
          <a:xfrm>
            <a:off x="6373368" y="5212080"/>
            <a:ext cx="5120640" cy="109728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ORGANIZATION: 19 mẫu train, 61 mẫu test; F1 PhoBERT / ViHealthBERT = 0 / 0%</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TRANSPORTATION: 5 mẫu train, 27 mẫu test; F1 PhoBERT / ViHealthBERT = 0 / 0%</a:t>
            </a:r>
            <a:endParaRPr lang="en-US" sz="1300" dirty="0"/>
          </a:p>
        </p:txBody>
      </p:sp>
      <p:sp>
        <p:nvSpPr>
          <p:cNvPr id="21" name="Text 18"/>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fig_per_type_f1_test.png và model_comparison.json (per_type_f1), eda_detail.json (class_distribution)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Lỗi còn lại: lệch ranh giới và đoán thừa, ít sai loại</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E4572E"/>
          </a:solidFill>
          <a:ln w="12700">
            <a:solidFill>
              <a:srgbClr val="E4572E"/>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DDE5EB"/>
          </a:solidFill>
          <a:ln w="12700">
            <a:solidFill>
              <a:srgbClr val="DDE5EB"/>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16 / 22</a:t>
            </a:r>
            <a:endParaRPr lang="en-US" sz="1000" dirty="0"/>
          </a:p>
        </p:txBody>
      </p:sp>
      <p:pic>
        <p:nvPicPr>
          <p:cNvPr id="14" name="Image 0" descr="fig_confusion_vihealthbert.png">    </p:cNvPr>
          <p:cNvPicPr>
            <a:picLocks noChangeAspect="1"/>
          </p:cNvPicPr>
          <p:nvPr/>
        </p:nvPicPr>
        <p:blipFill>
          <a:blip r:embed="rId1"/>
          <a:stretch>
            <a:fillRect/>
          </a:stretch>
        </p:blipFill>
        <p:spPr>
          <a:xfrm>
            <a:off x="457200" y="1097280"/>
            <a:ext cx="5394960" cy="4414058"/>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26480" y="1234440"/>
          <a:ext cx="5532120" cy="914400"/>
        </p:xfrm>
        <a:graphic>
          <a:graphicData uri="http://schemas.openxmlformats.org/drawingml/2006/table">
            <a:tbl>
              <a:tblPr/>
              <a:tblGrid>
                <a:gridCol w="1325880"/>
                <a:gridCol w="822960"/>
                <a:gridCol w="914400"/>
                <a:gridCol w="822960"/>
                <a:gridCol w="822960"/>
                <a:gridCol w="82296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Mô hình</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Khớp</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Lệch biên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Sai loại</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Bỏ sót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Thừa</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LogReg</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4.820</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1.871</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1.447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1.420</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Linear SVM</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5.177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1.865</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189</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1.107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1.640</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2733"/>
                          </a:solidFill>
                          <a:latin typeface="Calibri" pitchFamily="34" charset="0"/>
                          <a:ea typeface="Calibri" pitchFamily="34" charset="-122"/>
                          <a:cs typeface="Calibri" pitchFamily="34" charset="-120"/>
                        </a:rPr>
                        <a:t>CRF</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5.164</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1.429</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1.574</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1.052</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38404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XLM-R</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5.523</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1.797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463</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555</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2.177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PhoBERT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5.786</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1.644</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424</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484</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1.796</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ViHealthBERT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5.923</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1.622</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441</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352</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2.089</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6" name="Shape 12"/>
          <p:cNvSpPr/>
          <p:nvPr/>
        </p:nvSpPr>
        <p:spPr>
          <a:xfrm>
            <a:off x="6126480" y="4160520"/>
            <a:ext cx="5532120" cy="2148840"/>
          </a:xfrm>
          <a:prstGeom prst="roundRect">
            <a:avLst>
              <a:gd name="adj" fmla="val 3404"/>
            </a:avLst>
          </a:prstGeom>
          <a:solidFill>
            <a:srgbClr val="E3F3F1"/>
          </a:solidFill>
          <a:ln w="12700">
            <a:solidFill>
              <a:srgbClr val="E3F3F1"/>
            </a:solidFill>
            <a:prstDash val="solid"/>
          </a:ln>
        </p:spPr>
      </p:sp>
      <p:sp>
        <p:nvSpPr>
          <p:cNvPr id="17" name="Text 13"/>
          <p:cNvSpPr txBox="1"/>
          <p:nvPr/>
        </p:nvSpPr>
        <p:spPr>
          <a:xfrm>
            <a:off x="6327648" y="4251960"/>
            <a:ext cx="5120640" cy="365760"/>
          </a:xfrm>
          <a:prstGeom prst="rect">
            <a:avLst/>
          </a:prstGeom>
          <a:noFill/>
          <a:ln/>
        </p:spPr>
        <p:txBody>
          <a:bodyPr wrap="square" lIns="0" tIns="0" rIns="0" bIns="0" rtlCol="0" anchor="ctr"/>
          <a:lstStyle/>
          <a:p>
            <a:pPr indent="0" marL="0">
              <a:buNone/>
            </a:pPr>
            <a:r>
              <a:rPr lang="en-US" sz="1500" b="1" dirty="0">
                <a:solidFill>
                  <a:srgbClr val="2A9D8F"/>
                </a:solidFill>
                <a:latin typeface="Cambria" pitchFamily="34" charset="0"/>
                <a:ea typeface="Cambria" pitchFamily="34" charset="-122"/>
                <a:cs typeface="Cambria" pitchFamily="34" charset="-120"/>
              </a:rPr>
              <a:t>Đọc bảng</a:t>
            </a:r>
            <a:endParaRPr lang="en-US" sz="1500" dirty="0"/>
          </a:p>
        </p:txBody>
      </p:sp>
      <p:sp>
        <p:nvSpPr>
          <p:cNvPr id="18" name="Text 14"/>
          <p:cNvSpPr txBox="1"/>
          <p:nvPr/>
        </p:nvSpPr>
        <p:spPr>
          <a:xfrm>
            <a:off x="6327648" y="4617720"/>
            <a:ext cx="5166360" cy="164592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Transformer bỏ sót ít hơn (352 so với CRF 1.574) nhưng đoán thừa nhiều hơn (2.089 so với 1.052)</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Sai loại chỉ 171–463 thực thể ⇒ vấn đề chính là </a:t>
            </a:r>
            <a:r>
              <a:rPr lang="en-US" sz="1300" b="1" dirty="0">
                <a:solidFill>
                  <a:srgbClr val="1B2733"/>
                </a:solidFill>
                <a:latin typeface="Calibri" pitchFamily="34" charset="0"/>
                <a:ea typeface="Calibri" pitchFamily="34" charset="-122"/>
                <a:cs typeface="Calibri" pitchFamily="34" charset="-120"/>
              </a:rPr>
              <a:t>ranh giới</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Hướng tự nhiên: BERT-CRF (chưa thực hiện)</a:t>
            </a:r>
            <a:endParaRPr lang="en-US" sz="1300" dirty="0"/>
          </a:p>
        </p:txBody>
      </p:sp>
      <p:sp>
        <p:nvSpPr>
          <p:cNvPr id="19" name="Text 15"/>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model_comparison.json (span_outcomes), fig_confusion_vihealthbert.png (confusion mức token, chuẩn hoá theo hàng)</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Thử thêm 1: học Vi-Ner trước không tăng F1 tổng</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2A9D8F"/>
          </a:solidFill>
          <a:ln w="12700">
            <a:solidFill>
              <a:srgbClr val="2A9D8F"/>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E4572E"/>
          </a:solidFill>
          <a:ln w="12700">
            <a:solidFill>
              <a:srgbClr val="E4572E"/>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17 / 22</a:t>
            </a:r>
            <a:endParaRPr lang="en-US" sz="1000" dirty="0"/>
          </a:p>
        </p:txBody>
      </p:sp>
      <p:sp>
        <p:nvSpPr>
          <p:cNvPr id="14" name="Shape 12"/>
          <p:cNvSpPr/>
          <p:nvPr/>
        </p:nvSpPr>
        <p:spPr>
          <a:xfrm>
            <a:off x="548640" y="1234440"/>
            <a:ext cx="4663440" cy="1920240"/>
          </a:xfrm>
          <a:prstGeom prst="roundRect">
            <a:avLst>
              <a:gd name="adj" fmla="val 3810"/>
            </a:avLst>
          </a:prstGeom>
          <a:solidFill>
            <a:srgbClr val="EEF4F7"/>
          </a:solidFill>
          <a:ln w="12700">
            <a:solidFill>
              <a:srgbClr val="EEF4F7"/>
            </a:solidFill>
            <a:prstDash val="solid"/>
          </a:ln>
        </p:spPr>
      </p:sp>
      <p:sp>
        <p:nvSpPr>
          <p:cNvPr id="15" name="Text 13"/>
          <p:cNvSpPr txBox="1"/>
          <p:nvPr/>
        </p:nvSpPr>
        <p:spPr>
          <a:xfrm>
            <a:off x="749808" y="1325880"/>
            <a:ext cx="429768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Ý tưởng</a:t>
            </a:r>
            <a:endParaRPr lang="en-US" sz="1500" dirty="0"/>
          </a:p>
        </p:txBody>
      </p:sp>
      <p:sp>
        <p:nvSpPr>
          <p:cNvPr id="16" name="Text 14"/>
          <p:cNvSpPr txBox="1"/>
          <p:nvPr/>
        </p:nvSpPr>
        <p:spPr>
          <a:xfrm>
            <a:off x="749808" y="1691640"/>
            <a:ext cx="4343400" cy="1463040"/>
          </a:xfrm>
          <a:prstGeom prst="rect">
            <a:avLst/>
          </a:prstGeom>
          <a:noFill/>
          <a:ln/>
        </p:spPr>
        <p:txBody>
          <a:bodyPr wrap="square" lIns="635" tIns="635" rIns="635" bIns="635" rtlCol="0" anchor="t"/>
          <a:lstStyle/>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Vi-Ner (văn bản viết): ORGANIZATION 8.773 so với 19; LOCATION 12.070 so với 292</a:t>
            </a:r>
            <a:endParaRPr lang="en-US" sz="1250" dirty="0"/>
          </a:p>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Bước 1 học Vi-Ner (viết thường, bỏ dấu câu) → bước 2 thay đầu 18 loại, học VietMed-NER</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4663440" cy="914400"/>
        </p:xfrm>
        <a:graphic>
          <a:graphicData uri="http://schemas.openxmlformats.org/drawingml/2006/table">
            <a:tbl>
              <a:tblPr/>
              <a:tblGrid>
                <a:gridCol w="1371600"/>
                <a:gridCol w="1097280"/>
                <a:gridCol w="1371600"/>
                <a:gridCol w="822960"/>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Encoder</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Chỉ VietMed</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Vi-Ner → VietMed</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Δ micro</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PhoBERT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62,98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62,92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−0,06</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ViHealthBERT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62,88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62,33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−0,55</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548640" y="4526280"/>
            <a:ext cx="4663440" cy="365760"/>
          </a:xfrm>
          <a:prstGeom prst="rect">
            <a:avLst/>
          </a:prstGeom>
          <a:noFill/>
          <a:ln/>
        </p:spPr>
        <p:txBody>
          <a:bodyPr wrap="square" lIns="0" tIns="0" rIns="0" bIns="0" rtlCol="0" anchor="t"/>
          <a:lstStyle/>
          <a:p>
            <a:pPr algn="l" indent="0" marL="0">
              <a:buNone/>
            </a:pPr>
            <a:r>
              <a:rPr lang="en-US" sz="1100" i="1" dirty="0">
                <a:solidFill>
                  <a:srgbClr val="5B6B7A"/>
                </a:solidFill>
                <a:latin typeface="Calibri" pitchFamily="34" charset="0"/>
                <a:ea typeface="Calibri" pitchFamily="34" charset="-122"/>
                <a:cs typeface="Calibri" pitchFamily="34" charset="-120"/>
              </a:rPr>
              <a:t>Micro F1 test (%), trung bình 3 seed (42, 123, 2024), cách chấm đúng.</a:t>
            </a:r>
            <a:endParaRPr lang="en-US" sz="1100" dirty="0"/>
          </a:p>
        </p:txBody>
      </p:sp>
      <p:graphicFrame>
        <p:nvGraphicFramePr>
          <p:cNvPr id="19" name="Chart 0" descr=""/>
          <p:cNvGraphicFramePr/>
          <p:nvPr/>
        </p:nvGraphicFramePr>
        <p:xfrm>
          <a:off x="5394960" y="1143000"/>
          <a:ext cx="6309360" cy="3566160"/>
        </p:xfrm>
        <a:graphic xmlns:a="http://schemas.openxmlformats.org/drawingml/2006/main">
          <a:graphicData uri="http://schemas.openxmlformats.org/drawingml/2006/chart">
            <c:chart xmlns:c="http://schemas.openxmlformats.org/drawingml/2006/chart" r:id="rId1"/>
          </a:graphicData>
        </a:graphic>
      </p:graphicFrame>
      <p:sp>
        <p:nvSpPr>
          <p:cNvPr id="20" name="Shape 16"/>
          <p:cNvSpPr/>
          <p:nvPr/>
        </p:nvSpPr>
        <p:spPr>
          <a:xfrm>
            <a:off x="548640" y="4983480"/>
            <a:ext cx="11109960" cy="1325880"/>
          </a:xfrm>
          <a:prstGeom prst="roundRect">
            <a:avLst>
              <a:gd name="adj" fmla="val 5517"/>
            </a:avLst>
          </a:prstGeom>
          <a:solidFill>
            <a:srgbClr val="FCE9E3"/>
          </a:solidFill>
          <a:ln w="12700">
            <a:solidFill>
              <a:srgbClr val="FCE9E3"/>
            </a:solidFill>
            <a:prstDash val="solid"/>
          </a:ln>
        </p:spPr>
      </p:sp>
      <p:sp>
        <p:nvSpPr>
          <p:cNvPr id="21" name="Text 17"/>
          <p:cNvSpPr txBox="1"/>
          <p:nvPr/>
        </p:nvSpPr>
        <p:spPr>
          <a:xfrm>
            <a:off x="749808" y="5029200"/>
            <a:ext cx="10789920" cy="123444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LOCATION </a:t>
            </a:r>
            <a:r>
              <a:rPr lang="en-US" sz="1300" b="1" dirty="0">
                <a:solidFill>
                  <a:srgbClr val="1B2733"/>
                </a:solidFill>
                <a:latin typeface="Calibri" pitchFamily="34" charset="0"/>
                <a:ea typeface="Calibri" pitchFamily="34" charset="-122"/>
                <a:cs typeface="Calibri" pitchFamily="34" charset="-120"/>
              </a:rPr>
              <a:t>+5,42 / +5,55</a:t>
            </a:r>
            <a:r>
              <a:rPr lang="en-US" sz="1300" dirty="0">
                <a:solidFill>
                  <a:srgbClr val="1B2733"/>
                </a:solidFill>
                <a:latin typeface="Calibri" pitchFamily="34" charset="0"/>
                <a:ea typeface="Calibri" pitchFamily="34" charset="-122"/>
                <a:cs typeface="Calibri" pitchFamily="34" charset="-120"/>
              </a:rPr>
              <a:t> điểm nhưng DATETIME </a:t>
            </a:r>
            <a:r>
              <a:rPr lang="en-US" sz="1300" b="1" dirty="0">
                <a:solidFill>
                  <a:srgbClr val="1B2733"/>
                </a:solidFill>
                <a:latin typeface="Calibri" pitchFamily="34" charset="0"/>
                <a:ea typeface="Calibri" pitchFamily="34" charset="-122"/>
                <a:cs typeface="Calibri" pitchFamily="34" charset="-120"/>
              </a:rPr>
              <a:t>−2,83 / −3,60</a:t>
            </a:r>
            <a:r>
              <a:rPr lang="en-US" sz="1300" dirty="0">
                <a:solidFill>
                  <a:srgbClr val="1B2733"/>
                </a:solidFill>
                <a:latin typeface="Calibri" pitchFamily="34" charset="0"/>
                <a:ea typeface="Calibri" pitchFamily="34" charset="-122"/>
                <a:cs typeface="Calibri" pitchFamily="34" charset="-120"/>
              </a:rPr>
              <a:t> (PhoBERT / ViHealthBERT); ORGANIZATION là nhiễu: 19 mẫu train, 61 mẫu test</a:t>
            </a:r>
            <a:endParaRPr lang="en-US" sz="1300" dirty="0"/>
          </a:p>
          <a:p>
            <a:pPr marL="203200" indent="-203200">
              <a:spcAft>
                <a:spcPts val="600"/>
              </a:spcAft>
              <a:buSzPct val="100000"/>
              <a:buChar char="•"/>
            </a:pPr>
            <a:r>
              <a:rPr lang="en-US" sz="1300" b="1" dirty="0">
                <a:solidFill>
                  <a:srgbClr val="1B2733"/>
                </a:solidFill>
                <a:latin typeface="Calibri" pitchFamily="34" charset="0"/>
                <a:ea typeface="Calibri" pitchFamily="34" charset="-122"/>
                <a:cs typeface="Calibri" pitchFamily="34" charset="-120"/>
              </a:rPr>
              <a:t>Không đổi checkpoint demo.</a:t>
            </a:r>
            <a:r>
              <a:rPr lang="en-US" sz="1300" dirty="0">
                <a:solidFill>
                  <a:srgbClr val="1B2733"/>
                </a:solidFill>
                <a:latin typeface="Calibri" pitchFamily="34" charset="0"/>
                <a:ea typeface="Calibri" pitchFamily="34" charset="-122"/>
                <a:cs typeface="Calibri" pitchFamily="34" charset="-120"/>
              </a:rPr>
              <a:t> Vi-Ner </a:t>
            </a:r>
            <a:r>
              <a:rPr lang="en-US" sz="1300" b="1" dirty="0">
                <a:solidFill>
                  <a:srgbClr val="1B2733"/>
                </a:solidFill>
                <a:latin typeface="Calibri" pitchFamily="34" charset="0"/>
                <a:ea typeface="Calibri" pitchFamily="34" charset="-122"/>
                <a:cs typeface="Calibri" pitchFamily="34" charset="-120"/>
              </a:rPr>
              <a:t>chưa rõ nguồn gốc và giấy phép</a:t>
            </a:r>
            <a:r>
              <a:rPr lang="en-US" sz="1300" dirty="0">
                <a:solidFill>
                  <a:srgbClr val="1B2733"/>
                </a:solidFill>
                <a:latin typeface="Calibri" pitchFamily="34" charset="0"/>
                <a:ea typeface="Calibri" pitchFamily="34" charset="-122"/>
                <a:cs typeface="Calibri" pitchFamily="34" charset="-120"/>
              </a:rPr>
              <a:t>; 3 seed chỉ là ước lượng ban đầu, chưa phải khoảng tin cậy</a:t>
            </a:r>
            <a:endParaRPr lang="en-US" sz="1300" dirty="0"/>
          </a:p>
        </p:txBody>
      </p:sp>
      <p:sp>
        <p:nvSpPr>
          <p:cNvPr id="22" name="Text 18"/>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experiments/004-vi-ner-intermediate-finetune/results/{phobert,vihealthbert}/aggregate.json, README.md; vi_ner_comparison.json (type_coverage)</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Thử thêm 2: sửa lỗi transcript làm hỏng câu đúng</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2A9D8F"/>
          </a:solidFill>
          <a:ln w="12700">
            <a:solidFill>
              <a:srgbClr val="2A9D8F"/>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E4572E"/>
          </a:solidFill>
          <a:ln w="12700">
            <a:solidFill>
              <a:srgbClr val="E4572E"/>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18 / 22</a:t>
            </a:r>
            <a:endParaRPr lang="en-US" sz="1000" dirty="0"/>
          </a:p>
        </p:txBody>
      </p:sp>
      <p:sp>
        <p:nvSpPr>
          <p:cNvPr id="14" name="Shape 12"/>
          <p:cNvSpPr/>
          <p:nvPr/>
        </p:nvSpPr>
        <p:spPr>
          <a:xfrm>
            <a:off x="548640" y="1234440"/>
            <a:ext cx="5120640" cy="457200"/>
          </a:xfrm>
          <a:prstGeom prst="roundRect">
            <a:avLst>
              <a:gd name="adj" fmla="val 16000"/>
            </a:avLst>
          </a:prstGeom>
          <a:solidFill>
            <a:srgbClr val="EEF4F7"/>
          </a:solidFill>
          <a:ln w="12700">
            <a:solidFill>
              <a:srgbClr val="EEF4F7"/>
            </a:solidFill>
            <a:prstDash val="solid"/>
          </a:ln>
        </p:spPr>
      </p:sp>
      <p:sp>
        <p:nvSpPr>
          <p:cNvPr id="15" name="Text 13"/>
          <p:cNvSpPr txBox="1"/>
          <p:nvPr/>
        </p:nvSpPr>
        <p:spPr>
          <a:xfrm>
            <a:off x="731520" y="1280160"/>
            <a:ext cx="484632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Zero-shot (100 câu test, PhoWhisper)</a:t>
            </a:r>
            <a:endParaRPr lang="en-US" sz="1500" dirty="0"/>
          </a:p>
        </p:txBody>
      </p:sp>
      <p:sp>
        <p:nvSpPr>
          <p:cNvPr id="16" name="Shape 14"/>
          <p:cNvSpPr/>
          <p:nvPr/>
        </p:nvSpPr>
        <p:spPr>
          <a:xfrm>
            <a:off x="548640" y="1828800"/>
            <a:ext cx="5120640" cy="1097280"/>
          </a:xfrm>
          <a:prstGeom prst="roundRect">
            <a:avLst>
              <a:gd name="adj" fmla="val 6667"/>
            </a:avLst>
          </a:prstGeom>
          <a:solidFill>
            <a:srgbClr val="FCE9E3"/>
          </a:solidFill>
          <a:ln w="12700">
            <a:solidFill>
              <a:srgbClr val="FCE9E3"/>
            </a:solidFill>
            <a:prstDash val="solid"/>
          </a:ln>
        </p:spPr>
      </p:sp>
      <p:sp>
        <p:nvSpPr>
          <p:cNvPr id="17" name="Text 15"/>
          <p:cNvSpPr txBox="1"/>
          <p:nvPr/>
        </p:nvSpPr>
        <p:spPr>
          <a:xfrm>
            <a:off x="713232" y="1901952"/>
            <a:ext cx="4791456" cy="570586"/>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22,07% → 22,25%</a:t>
            </a:r>
            <a:endParaRPr lang="en-US" sz="2400" dirty="0"/>
          </a:p>
        </p:txBody>
      </p:sp>
      <p:sp>
        <p:nvSpPr>
          <p:cNvPr id="18" name="Text 16"/>
          <p:cNvSpPr txBox="1"/>
          <p:nvPr/>
        </p:nvSpPr>
        <p:spPr>
          <a:xfrm>
            <a:off x="713232" y="2487168"/>
            <a:ext cx="4791456" cy="395021"/>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WER trước → sau khi sửa (tăng)</a:t>
            </a:r>
            <a:endParaRPr lang="en-US" sz="1100" dirty="0"/>
          </a:p>
        </p:txBody>
      </p:sp>
      <p:sp>
        <p:nvSpPr>
          <p:cNvPr id="19" name="Shape 17"/>
          <p:cNvSpPr/>
          <p:nvPr/>
        </p:nvSpPr>
        <p:spPr>
          <a:xfrm>
            <a:off x="548640" y="3063240"/>
            <a:ext cx="2514600" cy="1097280"/>
          </a:xfrm>
          <a:prstGeom prst="roundRect">
            <a:avLst>
              <a:gd name="adj" fmla="val 6667"/>
            </a:avLst>
          </a:prstGeom>
          <a:solidFill>
            <a:srgbClr val="EEF4F7"/>
          </a:solidFill>
          <a:ln w="12700">
            <a:solidFill>
              <a:srgbClr val="EEF4F7"/>
            </a:solidFill>
            <a:prstDash val="solid"/>
          </a:ln>
        </p:spPr>
      </p:sp>
      <p:sp>
        <p:nvSpPr>
          <p:cNvPr id="20" name="Text 18"/>
          <p:cNvSpPr txBox="1"/>
          <p:nvPr/>
        </p:nvSpPr>
        <p:spPr>
          <a:xfrm>
            <a:off x="713232" y="3136392"/>
            <a:ext cx="2185416" cy="570586"/>
          </a:xfrm>
          <a:prstGeom prst="rect">
            <a:avLst/>
          </a:prstGeom>
          <a:noFill/>
          <a:ln/>
        </p:spPr>
        <p:txBody>
          <a:bodyPr wrap="square" lIns="0" tIns="0" rIns="0" bIns="0" rtlCol="0" anchor="ctr"/>
          <a:lstStyle/>
          <a:p>
            <a:pPr indent="0" marL="0">
              <a:buNone/>
            </a:pPr>
            <a:r>
              <a:rPr lang="en-US" sz="2400" b="1" dirty="0">
                <a:solidFill>
                  <a:srgbClr val="0F2A3D"/>
                </a:solidFill>
                <a:latin typeface="Cambria" pitchFamily="34" charset="0"/>
                <a:ea typeface="Cambria" pitchFamily="34" charset="-122"/>
                <a:cs typeface="Cambria" pitchFamily="34" charset="-120"/>
              </a:rPr>
              <a:t>1 ↑ · 6 ↓</a:t>
            </a:r>
            <a:endParaRPr lang="en-US" sz="2400" dirty="0"/>
          </a:p>
        </p:txBody>
      </p:sp>
      <p:sp>
        <p:nvSpPr>
          <p:cNvPr id="21" name="Text 19"/>
          <p:cNvSpPr txBox="1"/>
          <p:nvPr/>
        </p:nvSpPr>
        <p:spPr>
          <a:xfrm>
            <a:off x="713232" y="3721608"/>
            <a:ext cx="2185416" cy="395021"/>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câu tốt lên / xấu đi; 93 câu không đổi</a:t>
            </a:r>
            <a:endParaRPr lang="en-US" sz="1100" dirty="0"/>
          </a:p>
        </p:txBody>
      </p:sp>
      <p:sp>
        <p:nvSpPr>
          <p:cNvPr id="22" name="Shape 20"/>
          <p:cNvSpPr/>
          <p:nvPr/>
        </p:nvSpPr>
        <p:spPr>
          <a:xfrm>
            <a:off x="3154680" y="3063240"/>
            <a:ext cx="2514600" cy="1097280"/>
          </a:xfrm>
          <a:prstGeom prst="roundRect">
            <a:avLst>
              <a:gd name="adj" fmla="val 6667"/>
            </a:avLst>
          </a:prstGeom>
          <a:solidFill>
            <a:srgbClr val="FBF1DF"/>
          </a:solidFill>
          <a:ln w="12700">
            <a:solidFill>
              <a:srgbClr val="FBF1DF"/>
            </a:solidFill>
            <a:prstDash val="solid"/>
          </a:ln>
        </p:spPr>
      </p:sp>
      <p:sp>
        <p:nvSpPr>
          <p:cNvPr id="23" name="Text 21"/>
          <p:cNvSpPr txBox="1"/>
          <p:nvPr/>
        </p:nvSpPr>
        <p:spPr>
          <a:xfrm>
            <a:off x="3319272" y="3136392"/>
            <a:ext cx="2185416" cy="570586"/>
          </a:xfrm>
          <a:prstGeom prst="rect">
            <a:avLst/>
          </a:prstGeom>
          <a:noFill/>
          <a:ln/>
        </p:spPr>
        <p:txBody>
          <a:bodyPr wrap="square" lIns="0" tIns="0" rIns="0" bIns="0" rtlCol="0" anchor="ctr"/>
          <a:lstStyle/>
          <a:p>
            <a:pPr indent="0" marL="0">
              <a:buNone/>
            </a:pPr>
            <a:r>
              <a:rPr lang="en-US" sz="2400" b="1" dirty="0">
                <a:solidFill>
                  <a:srgbClr val="E9A23B"/>
                </a:solidFill>
                <a:latin typeface="Cambria" pitchFamily="34" charset="0"/>
                <a:ea typeface="Cambria" pitchFamily="34" charset="-122"/>
                <a:cs typeface="Cambria" pitchFamily="34" charset="-120"/>
              </a:rPr>
              <a:t>79/100</a:t>
            </a:r>
            <a:endParaRPr lang="en-US" sz="2400" dirty="0"/>
          </a:p>
        </p:txBody>
      </p:sp>
      <p:sp>
        <p:nvSpPr>
          <p:cNvPr id="24" name="Text 22"/>
          <p:cNvSpPr txBox="1"/>
          <p:nvPr/>
        </p:nvSpPr>
        <p:spPr>
          <a:xfrm>
            <a:off x="3319272" y="3721608"/>
            <a:ext cx="2185416" cy="395021"/>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transcript chuẩn giữ nguyên; WER trên câu chuẩn 1,03%</a:t>
            </a:r>
            <a:endParaRPr lang="en-US" sz="1100" dirty="0"/>
          </a:p>
        </p:txBody>
      </p:sp>
      <p:pic>
        <p:nvPicPr>
          <p:cNvPr id="25" name="Image 0" descr="fig_lora_overfitting.png">    </p:cNvPr>
          <p:cNvPicPr>
            <a:picLocks noChangeAspect="1"/>
          </p:cNvPicPr>
          <p:nvPr/>
        </p:nvPicPr>
        <p:blipFill>
          <a:blip r:embed="rId1"/>
          <a:stretch>
            <a:fillRect/>
          </a:stretch>
        </p:blipFill>
        <p:spPr>
          <a:xfrm>
            <a:off x="6160770" y="1188720"/>
            <a:ext cx="5280660" cy="3017520"/>
          </a:xfrm>
          <a:prstGeom prst="rect">
            <a:avLst/>
          </a:prstGeom>
        </p:spPr>
      </p:pic>
      <p:sp>
        <p:nvSpPr>
          <p:cNvPr id="26" name="Shape 23"/>
          <p:cNvSpPr/>
          <p:nvPr/>
        </p:nvSpPr>
        <p:spPr>
          <a:xfrm>
            <a:off x="5897880" y="4343400"/>
            <a:ext cx="5760720" cy="1965960"/>
          </a:xfrm>
          <a:prstGeom prst="roundRect">
            <a:avLst>
              <a:gd name="adj" fmla="val 3721"/>
            </a:avLst>
          </a:prstGeom>
          <a:solidFill>
            <a:srgbClr val="FCE9E3"/>
          </a:solidFill>
          <a:ln w="12700">
            <a:solidFill>
              <a:srgbClr val="FCE9E3"/>
            </a:solidFill>
            <a:prstDash val="solid"/>
          </a:ln>
        </p:spPr>
      </p:sp>
      <p:sp>
        <p:nvSpPr>
          <p:cNvPr id="27" name="Text 24"/>
          <p:cNvSpPr txBox="1"/>
          <p:nvPr/>
        </p:nvSpPr>
        <p:spPr>
          <a:xfrm>
            <a:off x="6080760" y="4416552"/>
            <a:ext cx="5394960" cy="365760"/>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Fine-tune LoRA (3 seed)</a:t>
            </a:r>
            <a:endParaRPr lang="en-US" sz="1500" dirty="0"/>
          </a:p>
        </p:txBody>
      </p:sp>
      <p:sp>
        <p:nvSpPr>
          <p:cNvPr id="28" name="Text 25"/>
          <p:cNvSpPr txBox="1"/>
          <p:nvPr/>
        </p:nvSpPr>
        <p:spPr>
          <a:xfrm>
            <a:off x="6080760" y="4782312"/>
            <a:ext cx="5440680" cy="1508760"/>
          </a:xfrm>
          <a:prstGeom prst="rect">
            <a:avLst/>
          </a:prstGeom>
          <a:noFill/>
          <a:ln/>
        </p:spPr>
        <p:txBody>
          <a:bodyPr wrap="square" lIns="635" tIns="635" rIns="635" bIns="635" rtlCol="0" anchor="t"/>
          <a:lstStyle/>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Train loss giảm (0,98 → 0,63 → 0,55) nhưng WER dev tăng (5,36% → 5,94% → 6,06%) ⇒ </a:t>
            </a:r>
            <a:r>
              <a:rPr lang="en-US" sz="1250" b="1" dirty="0">
                <a:solidFill>
                  <a:srgbClr val="1B2733"/>
                </a:solidFill>
                <a:latin typeface="Calibri" pitchFamily="34" charset="0"/>
                <a:ea typeface="Calibri" pitchFamily="34" charset="-122"/>
                <a:cs typeface="Calibri" pitchFamily="34" charset="-120"/>
              </a:rPr>
              <a:t>overfit</a:t>
            </a:r>
            <a:endParaRPr lang="en-US" sz="1250" dirty="0"/>
          </a:p>
          <a:p>
            <a:pPr marL="203200" indent="-2032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Early stopping chọn epoch 1 ở cả 3 seed; vẫn sửa nhầm </a:t>
            </a:r>
            <a:r>
              <a:rPr lang="en-US" sz="1250" b="1" dirty="0">
                <a:solidFill>
                  <a:srgbClr val="1B2733"/>
                </a:solidFill>
                <a:latin typeface="Calibri" pitchFamily="34" charset="0"/>
                <a:ea typeface="Calibri" pitchFamily="34" charset="-122"/>
                <a:cs typeface="Calibri" pitchFamily="34" charset="-120"/>
              </a:rPr>
              <a:t>22–28%</a:t>
            </a:r>
            <a:r>
              <a:rPr lang="en-US" sz="1250" dirty="0">
                <a:solidFill>
                  <a:srgbClr val="1B2733"/>
                </a:solidFill>
                <a:latin typeface="Calibri" pitchFamily="34" charset="0"/>
                <a:ea typeface="Calibri" pitchFamily="34" charset="-122"/>
                <a:cs typeface="Calibri" pitchFamily="34" charset="-120"/>
              </a:rPr>
              <a:t> transcript chuẩn (dev)</a:t>
            </a:r>
            <a:endParaRPr lang="en-US" sz="1250" dirty="0"/>
          </a:p>
        </p:txBody>
      </p:sp>
      <p:sp>
        <p:nvSpPr>
          <p:cNvPr id="29" name="Shape 26"/>
          <p:cNvSpPr/>
          <p:nvPr/>
        </p:nvSpPr>
        <p:spPr>
          <a:xfrm>
            <a:off x="548640" y="4343400"/>
            <a:ext cx="5120640" cy="1965960"/>
          </a:xfrm>
          <a:prstGeom prst="roundRect">
            <a:avLst>
              <a:gd name="adj" fmla="val 3721"/>
            </a:avLst>
          </a:prstGeom>
          <a:solidFill>
            <a:srgbClr val="FBF1DF"/>
          </a:solidFill>
          <a:ln w="12700">
            <a:solidFill>
              <a:srgbClr val="FBF1DF"/>
            </a:solidFill>
            <a:prstDash val="solid"/>
          </a:ln>
        </p:spPr>
      </p:sp>
      <p:sp>
        <p:nvSpPr>
          <p:cNvPr id="30" name="Text 27"/>
          <p:cNvSpPr txBox="1"/>
          <p:nvPr/>
        </p:nvSpPr>
        <p:spPr>
          <a:xfrm>
            <a:off x="731520" y="4416552"/>
            <a:ext cx="484632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Hệ quả</a:t>
            </a:r>
            <a:endParaRPr lang="en-US" sz="1500" dirty="0"/>
          </a:p>
        </p:txBody>
      </p:sp>
      <p:sp>
        <p:nvSpPr>
          <p:cNvPr id="31" name="Text 28"/>
          <p:cNvSpPr txBox="1"/>
          <p:nvPr/>
        </p:nvSpPr>
        <p:spPr>
          <a:xfrm>
            <a:off x="731520" y="4782312"/>
            <a:ext cx="4846320" cy="150876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Sửa tự động có thể </a:t>
            </a:r>
            <a:r>
              <a:rPr lang="en-US" sz="1300" b="1" dirty="0">
                <a:solidFill>
                  <a:srgbClr val="1B2733"/>
                </a:solidFill>
                <a:latin typeface="Calibri" pitchFamily="34" charset="0"/>
                <a:ea typeface="Calibri" pitchFamily="34" charset="-122"/>
                <a:cs typeface="Calibri" pitchFamily="34" charset="-120"/>
              </a:rPr>
              <a:t>ghi đè nội dung đúng</a:t>
            </a:r>
            <a:r>
              <a:rPr lang="en-US" sz="1300" dirty="0">
                <a:solidFill>
                  <a:srgbClr val="1B2733"/>
                </a:solidFill>
                <a:latin typeface="Calibri" pitchFamily="34" charset="0"/>
                <a:ea typeface="Calibri" pitchFamily="34" charset="-122"/>
                <a:cs typeface="Calibri" pitchFamily="34" charset="-120"/>
              </a:rPr>
              <a:t>; không áp dụng tự động</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Mọi thử nghiệm sửa lỗi phải đo </a:t>
            </a:r>
            <a:r>
              <a:rPr lang="en-US" sz="1300" b="1" dirty="0">
                <a:solidFill>
                  <a:srgbClr val="1B2733"/>
                </a:solidFill>
                <a:latin typeface="Calibri" pitchFamily="34" charset="0"/>
                <a:ea typeface="Calibri" pitchFamily="34" charset="-122"/>
                <a:cs typeface="Calibri" pitchFamily="34" charset="-120"/>
              </a:rPr>
              <a:t>cùng với NER</a:t>
            </a:r>
            <a:r>
              <a:rPr lang="en-US" sz="1300" dirty="0">
                <a:solidFill>
                  <a:srgbClr val="1B2733"/>
                </a:solidFill>
                <a:latin typeface="Calibri" pitchFamily="34" charset="0"/>
                <a:ea typeface="Calibri" pitchFamily="34" charset="-122"/>
                <a:cs typeface="Calibri" pitchFamily="34" charset="-120"/>
              </a:rPr>
              <a:t>, không chỉ WER (slide sau)</a:t>
            </a:r>
            <a:endParaRPr lang="en-US" sz="1300" dirty="0"/>
          </a:p>
        </p:txBody>
      </p:sp>
      <p:sp>
        <p:nvSpPr>
          <p:cNvPr id="32" name="Text 29"/>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experiments/001-zeroshot-correction-vietmed/outputs/evaluation-summary.json; ket_qua_goc/lora_training_runs.json, fig_lora_overfitting.png</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Thử thêm 3: sửa lỗi trước NER chỉ thêm 0,05 điểm F1</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2A9D8F"/>
          </a:solidFill>
          <a:ln w="12700">
            <a:solidFill>
              <a:srgbClr val="2A9D8F"/>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E4572E"/>
          </a:solidFill>
          <a:ln w="12700">
            <a:solidFill>
              <a:srgbClr val="E4572E"/>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DDE5EB"/>
          </a:solidFill>
          <a:ln w="12700">
            <a:solidFill>
              <a:srgbClr val="DDE5EB"/>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19 / 22</a:t>
            </a:r>
            <a:endParaRPr lang="en-US" sz="1000" dirty="0"/>
          </a:p>
        </p:txBody>
      </p:sp>
      <p:graphicFrame>
        <p:nvGraphicFramePr>
          <p:cNvPr id="14" name="Chart 0" descr=""/>
          <p:cNvGraphicFramePr/>
          <p:nvPr/>
        </p:nvGraphicFramePr>
        <p:xfrm>
          <a:off x="457200" y="114300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7269480" y="1188720"/>
            <a:ext cx="4389120" cy="1143000"/>
          </a:xfrm>
          <a:prstGeom prst="roundRect">
            <a:avLst>
              <a:gd name="adj" fmla="val 6400"/>
            </a:avLst>
          </a:prstGeom>
          <a:solidFill>
            <a:srgbClr val="FCE9E3"/>
          </a:solidFill>
          <a:ln w="12700">
            <a:solidFill>
              <a:srgbClr val="FCE9E3"/>
            </a:solidFill>
            <a:prstDash val="solid"/>
          </a:ln>
        </p:spPr>
      </p:sp>
      <p:sp>
        <p:nvSpPr>
          <p:cNvPr id="16" name="Text 13"/>
          <p:cNvSpPr txBox="1"/>
          <p:nvPr/>
        </p:nvSpPr>
        <p:spPr>
          <a:xfrm>
            <a:off x="7434072" y="1261872"/>
            <a:ext cx="4059936" cy="594360"/>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+0,054</a:t>
            </a:r>
            <a:endParaRPr lang="en-US" sz="2400" dirty="0"/>
          </a:p>
        </p:txBody>
      </p:sp>
      <p:sp>
        <p:nvSpPr>
          <p:cNvPr id="17" name="Text 14"/>
          <p:cNvSpPr txBox="1"/>
          <p:nvPr/>
        </p:nvSpPr>
        <p:spPr>
          <a:xfrm>
            <a:off x="7434072" y="1874520"/>
            <a:ext cx="4059936" cy="41148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điểm F1: sửa lỗi so với chỉ chuẩn hoá (3 thực thể đúng thêm)</a:t>
            </a:r>
            <a:endParaRPr lang="en-US" sz="1100" dirty="0"/>
          </a:p>
        </p:txBody>
      </p:sp>
      <p:sp>
        <p:nvSpPr>
          <p:cNvPr id="18" name="Shape 15"/>
          <p:cNvSpPr/>
          <p:nvPr/>
        </p:nvSpPr>
        <p:spPr>
          <a:xfrm>
            <a:off x="7269480" y="2468880"/>
            <a:ext cx="4389120" cy="1143000"/>
          </a:xfrm>
          <a:prstGeom prst="roundRect">
            <a:avLst>
              <a:gd name="adj" fmla="val 6400"/>
            </a:avLst>
          </a:prstGeom>
          <a:solidFill>
            <a:srgbClr val="E3F3F1"/>
          </a:solidFill>
          <a:ln w="12700">
            <a:solidFill>
              <a:srgbClr val="E3F3F1"/>
            </a:solidFill>
            <a:prstDash val="solid"/>
          </a:ln>
        </p:spPr>
      </p:sp>
      <p:sp>
        <p:nvSpPr>
          <p:cNvPr id="19" name="Text 16"/>
          <p:cNvSpPr txBox="1"/>
          <p:nvPr/>
        </p:nvSpPr>
        <p:spPr>
          <a:xfrm>
            <a:off x="7434072" y="2542032"/>
            <a:ext cx="4059936" cy="594360"/>
          </a:xfrm>
          <a:prstGeom prst="rect">
            <a:avLst/>
          </a:prstGeom>
          <a:noFill/>
          <a:ln/>
        </p:spPr>
        <p:txBody>
          <a:bodyPr wrap="square" lIns="0" tIns="0" rIns="0" bIns="0" rtlCol="0" anchor="ctr"/>
          <a:lstStyle/>
          <a:p>
            <a:pPr indent="0" marL="0">
              <a:buNone/>
            </a:pPr>
            <a:r>
              <a:rPr lang="en-US" sz="2400" b="1" dirty="0">
                <a:solidFill>
                  <a:srgbClr val="2A9D8F"/>
                </a:solidFill>
                <a:latin typeface="Cambria" pitchFamily="34" charset="0"/>
                <a:ea typeface="Cambria" pitchFamily="34" charset="-122"/>
                <a:cs typeface="Cambria" pitchFamily="34" charset="-120"/>
              </a:rPr>
              <a:t>+1,35</a:t>
            </a:r>
            <a:endParaRPr lang="en-US" sz="2400" dirty="0"/>
          </a:p>
        </p:txBody>
      </p:sp>
      <p:sp>
        <p:nvSpPr>
          <p:cNvPr id="20" name="Text 17"/>
          <p:cNvSpPr txBox="1"/>
          <p:nvPr/>
        </p:nvSpPr>
        <p:spPr>
          <a:xfrm>
            <a:off x="7434072" y="3154680"/>
            <a:ext cx="4059936" cy="41148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điểm F1: chỉ viết thường + bỏ dấu câu</a:t>
            </a:r>
            <a:endParaRPr lang="en-US" sz="1100" dirty="0"/>
          </a:p>
        </p:txBody>
      </p:sp>
      <p:sp>
        <p:nvSpPr>
          <p:cNvPr id="21" name="Shape 18"/>
          <p:cNvSpPr/>
          <p:nvPr/>
        </p:nvSpPr>
        <p:spPr>
          <a:xfrm>
            <a:off x="7269480" y="3749040"/>
            <a:ext cx="4389120" cy="2560320"/>
          </a:xfrm>
          <a:prstGeom prst="roundRect">
            <a:avLst>
              <a:gd name="adj" fmla="val 2857"/>
            </a:avLst>
          </a:prstGeom>
          <a:solidFill>
            <a:srgbClr val="EEF4F7"/>
          </a:solidFill>
          <a:ln w="12700">
            <a:solidFill>
              <a:srgbClr val="EEF4F7"/>
            </a:solidFill>
            <a:prstDash val="solid"/>
          </a:ln>
        </p:spPr>
      </p:sp>
      <p:sp>
        <p:nvSpPr>
          <p:cNvPr id="22" name="Text 19"/>
          <p:cNvSpPr txBox="1"/>
          <p:nvPr/>
        </p:nvSpPr>
        <p:spPr>
          <a:xfrm>
            <a:off x="7452360" y="3840480"/>
            <a:ext cx="4023360" cy="365760"/>
          </a:xfrm>
          <a:prstGeom prst="rect">
            <a:avLst/>
          </a:prstGeom>
          <a:noFill/>
          <a:ln/>
        </p:spPr>
        <p:txBody>
          <a:bodyPr wrap="square" lIns="0" tIns="0" rIns="0" bIns="0" rtlCol="0" anchor="ctr"/>
          <a:lstStyle/>
          <a:p>
            <a:pPr indent="0" marL="0">
              <a:buNone/>
            </a:pPr>
            <a:r>
              <a:rPr lang="en-US" sz="1500" b="1" dirty="0">
                <a:solidFill>
                  <a:srgbClr val="0F2A3D"/>
                </a:solidFill>
                <a:latin typeface="Cambria" pitchFamily="34" charset="0"/>
                <a:ea typeface="Cambria" pitchFamily="34" charset="-122"/>
                <a:cs typeface="Cambria" pitchFamily="34" charset="-120"/>
              </a:rPr>
              <a:t>Vì sao chuẩn hoá giúp?</a:t>
            </a:r>
            <a:endParaRPr lang="en-US" sz="1500" dirty="0"/>
          </a:p>
        </p:txBody>
      </p:sp>
      <p:sp>
        <p:nvSpPr>
          <p:cNvPr id="23" name="Text 20"/>
          <p:cNvSpPr txBox="1"/>
          <p:nvPr/>
        </p:nvSpPr>
        <p:spPr>
          <a:xfrm>
            <a:off x="7452360" y="4206240"/>
            <a:ext cx="4069080" cy="2057400"/>
          </a:xfrm>
          <a:prstGeom prst="rect">
            <a:avLst/>
          </a:prstGeom>
          <a:noFill/>
          <a:ln/>
        </p:spPr>
        <p:txBody>
          <a:bodyPr wrap="square" lIns="635" tIns="635" rIns="635" bIns="635" rtlCol="0" anchor="t"/>
          <a:lstStyle/>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3.436/3.437 transcript PhoWhisper kết thúc bằng </a:t>
            </a:r>
            <a:r>
              <a:rPr lang="en-US" sz="1300" b="1" dirty="0">
                <a:solidFill>
                  <a:srgbClr val="1B2733"/>
                </a:solidFill>
                <a:latin typeface="Calibri" pitchFamily="34" charset="0"/>
                <a:ea typeface="Calibri" pitchFamily="34" charset="-122"/>
                <a:cs typeface="Calibri" pitchFamily="34" charset="-120"/>
              </a:rPr>
              <a:t>dấu chấm</a:t>
            </a:r>
            <a:r>
              <a:rPr lang="en-US" sz="1300" dirty="0">
                <a:solidFill>
                  <a:srgbClr val="1B2733"/>
                </a:solidFill>
                <a:latin typeface="Calibri" pitchFamily="34" charset="0"/>
                <a:ea typeface="Calibri" pitchFamily="34" charset="-122"/>
                <a:cs typeface="Calibri" pitchFamily="34" charset="-120"/>
              </a:rPr>
              <a:t>; NER học trên văn bản không dấu câu</a:t>
            </a:r>
            <a:endParaRPr lang="en-US" sz="1300" dirty="0"/>
          </a:p>
          <a:p>
            <a:pPr marL="203200" indent="-203200">
              <a:spcAft>
                <a:spcPts val="600"/>
              </a:spcAft>
              <a:buSzPct val="100000"/>
              <a:buChar char="•"/>
            </a:pPr>
            <a:r>
              <a:rPr lang="en-US" sz="1300" dirty="0">
                <a:solidFill>
                  <a:srgbClr val="1B2733"/>
                </a:solidFill>
                <a:latin typeface="Calibri" pitchFamily="34" charset="0"/>
                <a:ea typeface="Calibri" pitchFamily="34" charset="-122"/>
                <a:cs typeface="Calibri" pitchFamily="34" charset="-120"/>
              </a:rPr>
              <a:t>Whisper-small của demo: </a:t>
            </a:r>
            <a:r>
              <a:rPr lang="en-US" sz="1300" b="1" dirty="0">
                <a:solidFill>
                  <a:srgbClr val="1B2733"/>
                </a:solidFill>
                <a:latin typeface="Calibri" pitchFamily="34" charset="0"/>
                <a:ea typeface="Calibri" pitchFamily="34" charset="-122"/>
                <a:cs typeface="Calibri" pitchFamily="34" charset="-120"/>
              </a:rPr>
              <a:t>0%</a:t>
            </a:r>
            <a:r>
              <a:rPr lang="en-US" sz="1300" dirty="0">
                <a:solidFill>
                  <a:srgbClr val="1B2733"/>
                </a:solidFill>
                <a:latin typeface="Calibri" pitchFamily="34" charset="0"/>
                <a:ea typeface="Calibri" pitchFamily="34" charset="-122"/>
                <a:cs typeface="Calibri" pitchFamily="34" charset="-120"/>
              </a:rPr>
              <a:t> câu có dấu câu ⇒ chuẩn hoá </a:t>
            </a:r>
            <a:r>
              <a:rPr lang="en-US" sz="1300" b="1" dirty="0">
                <a:solidFill>
                  <a:srgbClr val="1B2733"/>
                </a:solidFill>
                <a:latin typeface="Calibri" pitchFamily="34" charset="0"/>
                <a:ea typeface="Calibri" pitchFamily="34" charset="-122"/>
                <a:cs typeface="Calibri" pitchFamily="34" charset="-120"/>
              </a:rPr>
              <a:t>không thay đổi gì</a:t>
            </a:r>
            <a:r>
              <a:rPr lang="en-US" sz="1300" dirty="0">
                <a:solidFill>
                  <a:srgbClr val="1B2733"/>
                </a:solidFill>
                <a:latin typeface="Calibri" pitchFamily="34" charset="0"/>
                <a:ea typeface="Calibri" pitchFamily="34" charset="-122"/>
                <a:cs typeface="Calibri" pitchFamily="34" charset="-120"/>
              </a:rPr>
              <a:t> cho demo</a:t>
            </a:r>
            <a:endParaRPr lang="en-US" sz="1300" dirty="0"/>
          </a:p>
        </p:txBody>
      </p:sp>
      <p:sp>
        <p:nvSpPr>
          <p:cNvPr id="24" name="Shape 21"/>
          <p:cNvSpPr/>
          <p:nvPr/>
        </p:nvSpPr>
        <p:spPr>
          <a:xfrm>
            <a:off x="548640" y="5303520"/>
            <a:ext cx="6492240" cy="1005840"/>
          </a:xfrm>
          <a:prstGeom prst="roundRect">
            <a:avLst>
              <a:gd name="adj" fmla="val 7273"/>
            </a:avLst>
          </a:prstGeom>
          <a:solidFill>
            <a:srgbClr val="FBF1DF"/>
          </a:solidFill>
          <a:ln w="12700">
            <a:solidFill>
              <a:srgbClr val="FBF1DF"/>
            </a:solidFill>
            <a:prstDash val="solid"/>
          </a:ln>
        </p:spPr>
      </p:sp>
      <p:sp>
        <p:nvSpPr>
          <p:cNvPr id="25" name="Text 22"/>
          <p:cNvSpPr txBox="1"/>
          <p:nvPr/>
        </p:nvSpPr>
        <p:spPr>
          <a:xfrm>
            <a:off x="731520" y="5303520"/>
            <a:ext cx="6217920" cy="1005840"/>
          </a:xfrm>
          <a:prstGeom prst="rect">
            <a:avLst/>
          </a:prstGeom>
          <a:noFill/>
          <a:ln/>
        </p:spPr>
        <p:txBody>
          <a:bodyPr wrap="square" lIns="0" tIns="0" rIns="0" bIns="0" rtlCol="0" anchor="ctr"/>
          <a:lstStyle/>
          <a:p>
            <a:pPr algn="l" indent="0" marL="0">
              <a:buNone/>
            </a:pPr>
            <a:r>
              <a:rPr lang="en-US" sz="1300" b="1" dirty="0">
                <a:solidFill>
                  <a:srgbClr val="1B2733"/>
                </a:solidFill>
                <a:latin typeface="Calibri" pitchFamily="34" charset="0"/>
                <a:ea typeface="Calibri" pitchFamily="34" charset="-122"/>
                <a:cs typeface="Calibri" pitchFamily="34" charset="-120"/>
              </a:rPr>
              <a:t>Không đưa mô hình sửa lỗi vào demo.</a:t>
            </a:r>
            <a:r>
              <a:rPr lang="en-US" sz="1300" dirty="0">
                <a:solidFill>
                  <a:srgbClr val="1B2733"/>
                </a:solidFill>
                <a:latin typeface="Calibri" pitchFamily="34" charset="0"/>
                <a:ea typeface="Calibri" pitchFamily="34" charset="-122"/>
                <a:cs typeface="Calibri" pitchFamily="34" charset="-120"/>
              </a:rPr>
              <a:t> Kết quả trên PhoWhisper, không ước lượng trực tiếp pipeline Whisper-small. Khoảng cách chuẩn → ASR: 62,45% → 50,43%.</a:t>
            </a:r>
            <a:endParaRPr lang="en-US" sz="1300" dirty="0"/>
          </a:p>
        </p:txBody>
      </p:sp>
      <p:sp>
        <p:nvSpPr>
          <p:cNvPr id="26" name="Text 23"/>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experiments/005-correction-before-ner/results.json (ner, normalized_comparison, text_changes), README.md; asr_eda.json (style)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Phía âm thanh: 78,5% thực thể còn nguyên sau ASR</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2A9D8F"/>
          </a:solidFill>
          <a:ln w="12700">
            <a:solidFill>
              <a:srgbClr val="2A9D8F"/>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2A9D8F"/>
          </a:solidFill>
          <a:ln w="12700">
            <a:solidFill>
              <a:srgbClr val="2A9D8F"/>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E4572E"/>
          </a:solidFill>
          <a:ln w="12700">
            <a:solidFill>
              <a:srgbClr val="E4572E"/>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20 / 22</a:t>
            </a:r>
            <a:endParaRPr lang="en-US" sz="1000" dirty="0"/>
          </a:p>
        </p:txBody>
      </p:sp>
      <p:pic>
        <p:nvPicPr>
          <p:cNvPr id="14" name="Image 0" descr="fig_asr_overview.png">    </p:cNvPr>
          <p:cNvPicPr>
            <a:picLocks noChangeAspect="1"/>
          </p:cNvPicPr>
          <p:nvPr/>
        </p:nvPicPr>
        <p:blipFill>
          <a:blip r:embed="rId1"/>
          <a:stretch>
            <a:fillRect/>
          </a:stretch>
        </p:blipFill>
        <p:spPr>
          <a:xfrm>
            <a:off x="365760" y="1143000"/>
            <a:ext cx="11430000" cy="3286125"/>
          </a:xfrm>
          <a:prstGeom prst="rect">
            <a:avLst/>
          </a:prstGeom>
        </p:spPr>
      </p:pic>
      <p:sp>
        <p:nvSpPr>
          <p:cNvPr id="15" name="Shape 12"/>
          <p:cNvSpPr/>
          <p:nvPr/>
        </p:nvSpPr>
        <p:spPr>
          <a:xfrm>
            <a:off x="548640" y="4617720"/>
            <a:ext cx="1325880" cy="868680"/>
          </a:xfrm>
          <a:prstGeom prst="roundRect">
            <a:avLst>
              <a:gd name="adj" fmla="val 8421"/>
            </a:avLst>
          </a:prstGeom>
          <a:solidFill>
            <a:srgbClr val="EEF4F7"/>
          </a:solidFill>
          <a:ln w="12700">
            <a:solidFill>
              <a:srgbClr val="D5DEE5"/>
            </a:solidFill>
            <a:prstDash val="solid"/>
          </a:ln>
        </p:spPr>
      </p:sp>
      <p:sp>
        <p:nvSpPr>
          <p:cNvPr id="16" name="Text 13"/>
          <p:cNvSpPr txBox="1"/>
          <p:nvPr/>
        </p:nvSpPr>
        <p:spPr>
          <a:xfrm>
            <a:off x="548640" y="4645152"/>
            <a:ext cx="1325880" cy="411480"/>
          </a:xfrm>
          <a:prstGeom prst="rect">
            <a:avLst/>
          </a:prstGeom>
          <a:noFill/>
          <a:ln/>
        </p:spPr>
        <p:txBody>
          <a:bodyPr wrap="square" lIns="0" tIns="0" rIns="0" bIns="0" rtlCol="0" anchor="ctr"/>
          <a:lstStyle/>
          <a:p>
            <a:pPr algn="ctr" indent="0" marL="0">
              <a:buNone/>
            </a:pPr>
            <a:r>
              <a:rPr lang="en-US" sz="1200" b="1" dirty="0">
                <a:solidFill>
                  <a:srgbClr val="0F2A3D"/>
                </a:solidFill>
                <a:latin typeface="Cambria" pitchFamily="34" charset="0"/>
                <a:ea typeface="Cambria" pitchFamily="34" charset="-122"/>
                <a:cs typeface="Cambria" pitchFamily="34" charset="-120"/>
              </a:rPr>
              <a:t>Audio</a:t>
            </a:r>
            <a:endParaRPr lang="en-US" sz="1200" dirty="0"/>
          </a:p>
        </p:txBody>
      </p:sp>
      <p:sp>
        <p:nvSpPr>
          <p:cNvPr id="17" name="Text 14"/>
          <p:cNvSpPr txBox="1"/>
          <p:nvPr/>
        </p:nvSpPr>
        <p:spPr>
          <a:xfrm>
            <a:off x="548640" y="5029200"/>
            <a:ext cx="1325880" cy="365760"/>
          </a:xfrm>
          <a:prstGeom prst="rect">
            <a:avLst/>
          </a:prstGeom>
          <a:noFill/>
          <a:ln/>
        </p:spPr>
        <p:txBody>
          <a:bodyPr wrap="square" lIns="0" tIns="0" rIns="0" bIns="0" rtlCol="0" anchor="ctr"/>
          <a:lstStyle/>
          <a:p>
            <a:pPr algn="ctr" indent="0" marL="0">
              <a:buNone/>
            </a:pPr>
            <a:r>
              <a:rPr lang="en-US" sz="900" dirty="0">
                <a:solidFill>
                  <a:srgbClr val="5B6B7A"/>
                </a:solidFill>
                <a:latin typeface="Calibri" pitchFamily="34" charset="0"/>
                <a:ea typeface="Calibri" pitchFamily="34" charset="-122"/>
                <a:cs typeface="Calibri" pitchFamily="34" charset="-120"/>
              </a:rPr>
              <a:t>hội thoại y tế</a:t>
            </a:r>
            <a:endParaRPr lang="en-US" sz="900" dirty="0"/>
          </a:p>
        </p:txBody>
      </p:sp>
      <p:sp>
        <p:nvSpPr>
          <p:cNvPr id="18" name="Text 15"/>
          <p:cNvSpPr txBox="1"/>
          <p:nvPr/>
        </p:nvSpPr>
        <p:spPr>
          <a:xfrm>
            <a:off x="1856232" y="4846320"/>
            <a:ext cx="182880" cy="365760"/>
          </a:xfrm>
          <a:prstGeom prst="rect">
            <a:avLst/>
          </a:prstGeom>
          <a:noFill/>
          <a:ln/>
        </p:spPr>
        <p:txBody>
          <a:bodyPr wrap="square" lIns="0" tIns="0" rIns="0" bIns="0" rtlCol="0" anchor="ctr"/>
          <a:lstStyle/>
          <a:p>
            <a:pPr algn="ctr" indent="0" marL="0">
              <a:buNone/>
            </a:pPr>
            <a:r>
              <a:rPr lang="en-US" sz="1400" dirty="0">
                <a:solidFill>
                  <a:srgbClr val="5B6B7A"/>
                </a:solidFill>
              </a:rPr>
              <a:t>→</a:t>
            </a:r>
            <a:endParaRPr lang="en-US" sz="1400" dirty="0"/>
          </a:p>
        </p:txBody>
      </p:sp>
      <p:sp>
        <p:nvSpPr>
          <p:cNvPr id="19" name="Shape 16"/>
          <p:cNvSpPr/>
          <p:nvPr/>
        </p:nvSpPr>
        <p:spPr>
          <a:xfrm>
            <a:off x="2029968" y="4617720"/>
            <a:ext cx="1325880" cy="868680"/>
          </a:xfrm>
          <a:prstGeom prst="roundRect">
            <a:avLst>
              <a:gd name="adj" fmla="val 8421"/>
            </a:avLst>
          </a:prstGeom>
          <a:solidFill>
            <a:srgbClr val="EEF4F7"/>
          </a:solidFill>
          <a:ln w="12700">
            <a:solidFill>
              <a:srgbClr val="D5DEE5"/>
            </a:solidFill>
            <a:prstDash val="solid"/>
          </a:ln>
        </p:spPr>
      </p:sp>
      <p:sp>
        <p:nvSpPr>
          <p:cNvPr id="20" name="Text 17"/>
          <p:cNvSpPr txBox="1"/>
          <p:nvPr/>
        </p:nvSpPr>
        <p:spPr>
          <a:xfrm>
            <a:off x="2029968" y="4645152"/>
            <a:ext cx="1325880" cy="411480"/>
          </a:xfrm>
          <a:prstGeom prst="rect">
            <a:avLst/>
          </a:prstGeom>
          <a:noFill/>
          <a:ln/>
        </p:spPr>
        <p:txBody>
          <a:bodyPr wrap="square" lIns="0" tIns="0" rIns="0" bIns="0" rtlCol="0" anchor="ctr"/>
          <a:lstStyle/>
          <a:p>
            <a:pPr algn="ctr" indent="0" marL="0">
              <a:buNone/>
            </a:pPr>
            <a:r>
              <a:rPr lang="en-US" sz="1200" b="1" dirty="0">
                <a:solidFill>
                  <a:srgbClr val="0F2A3D"/>
                </a:solidFill>
                <a:latin typeface="Cambria" pitchFamily="34" charset="0"/>
                <a:ea typeface="Cambria" pitchFamily="34" charset="-122"/>
                <a:cs typeface="Cambria" pitchFamily="34" charset="-120"/>
              </a:rPr>
              <a:t>Whisper-small</a:t>
            </a:r>
            <a:endParaRPr lang="en-US" sz="1200" dirty="0"/>
          </a:p>
        </p:txBody>
      </p:sp>
      <p:sp>
        <p:nvSpPr>
          <p:cNvPr id="21" name="Text 18"/>
          <p:cNvSpPr txBox="1"/>
          <p:nvPr/>
        </p:nvSpPr>
        <p:spPr>
          <a:xfrm>
            <a:off x="2029968" y="5029200"/>
            <a:ext cx="1325880" cy="365760"/>
          </a:xfrm>
          <a:prstGeom prst="rect">
            <a:avLst/>
          </a:prstGeom>
          <a:noFill/>
          <a:ln/>
        </p:spPr>
        <p:txBody>
          <a:bodyPr wrap="square" lIns="0" tIns="0" rIns="0" bIns="0" rtlCol="0" anchor="ctr"/>
          <a:lstStyle/>
          <a:p>
            <a:pPr algn="ctr" indent="0" marL="0">
              <a:buNone/>
            </a:pPr>
            <a:r>
              <a:rPr lang="en-US" sz="900" dirty="0">
                <a:solidFill>
                  <a:srgbClr val="5B6B7A"/>
                </a:solidFill>
                <a:latin typeface="Calibri" pitchFamily="34" charset="0"/>
                <a:ea typeface="Calibri" pitchFamily="34" charset="-122"/>
                <a:cs typeface="Calibri" pitchFamily="34" charset="-120"/>
              </a:rPr>
              <a:t>MultiMed-ST</a:t>
            </a:r>
            <a:endParaRPr lang="en-US" sz="900" dirty="0"/>
          </a:p>
        </p:txBody>
      </p:sp>
      <p:sp>
        <p:nvSpPr>
          <p:cNvPr id="22" name="Text 19"/>
          <p:cNvSpPr txBox="1"/>
          <p:nvPr/>
        </p:nvSpPr>
        <p:spPr>
          <a:xfrm>
            <a:off x="3337560" y="4846320"/>
            <a:ext cx="182880" cy="365760"/>
          </a:xfrm>
          <a:prstGeom prst="rect">
            <a:avLst/>
          </a:prstGeom>
          <a:noFill/>
          <a:ln/>
        </p:spPr>
        <p:txBody>
          <a:bodyPr wrap="square" lIns="0" tIns="0" rIns="0" bIns="0" rtlCol="0" anchor="ctr"/>
          <a:lstStyle/>
          <a:p>
            <a:pPr algn="ctr" indent="0" marL="0">
              <a:buNone/>
            </a:pPr>
            <a:r>
              <a:rPr lang="en-US" sz="1400" dirty="0">
                <a:solidFill>
                  <a:srgbClr val="5B6B7A"/>
                </a:solidFill>
              </a:rPr>
              <a:t>→</a:t>
            </a:r>
            <a:endParaRPr lang="en-US" sz="1400" dirty="0"/>
          </a:p>
        </p:txBody>
      </p:sp>
      <p:sp>
        <p:nvSpPr>
          <p:cNvPr id="23" name="Shape 20"/>
          <p:cNvSpPr/>
          <p:nvPr/>
        </p:nvSpPr>
        <p:spPr>
          <a:xfrm>
            <a:off x="3511296" y="4617720"/>
            <a:ext cx="1325880" cy="868680"/>
          </a:xfrm>
          <a:prstGeom prst="roundRect">
            <a:avLst>
              <a:gd name="adj" fmla="val 8421"/>
            </a:avLst>
          </a:prstGeom>
          <a:solidFill>
            <a:srgbClr val="EEF4F7"/>
          </a:solidFill>
          <a:ln w="12700">
            <a:solidFill>
              <a:srgbClr val="D5DEE5"/>
            </a:solidFill>
            <a:prstDash val="solid"/>
          </a:ln>
        </p:spPr>
      </p:sp>
      <p:sp>
        <p:nvSpPr>
          <p:cNvPr id="24" name="Text 21"/>
          <p:cNvSpPr txBox="1"/>
          <p:nvPr/>
        </p:nvSpPr>
        <p:spPr>
          <a:xfrm>
            <a:off x="3511296" y="4645152"/>
            <a:ext cx="1325880" cy="411480"/>
          </a:xfrm>
          <a:prstGeom prst="rect">
            <a:avLst/>
          </a:prstGeom>
          <a:noFill/>
          <a:ln/>
        </p:spPr>
        <p:txBody>
          <a:bodyPr wrap="square" lIns="0" tIns="0" rIns="0" bIns="0" rtlCol="0" anchor="ctr"/>
          <a:lstStyle/>
          <a:p>
            <a:pPr algn="ctr" indent="0" marL="0">
              <a:buNone/>
            </a:pPr>
            <a:r>
              <a:rPr lang="en-US" sz="1200" b="1" dirty="0">
                <a:solidFill>
                  <a:srgbClr val="0F2A3D"/>
                </a:solidFill>
                <a:latin typeface="Cambria" pitchFamily="34" charset="0"/>
                <a:ea typeface="Cambria" pitchFamily="34" charset="-122"/>
                <a:cs typeface="Cambria" pitchFamily="34" charset="-120"/>
              </a:rPr>
              <a:t>Văn bản</a:t>
            </a:r>
            <a:endParaRPr lang="en-US" sz="1200" dirty="0"/>
          </a:p>
        </p:txBody>
      </p:sp>
      <p:sp>
        <p:nvSpPr>
          <p:cNvPr id="25" name="Text 22"/>
          <p:cNvSpPr txBox="1"/>
          <p:nvPr/>
        </p:nvSpPr>
        <p:spPr>
          <a:xfrm>
            <a:off x="3511296" y="5029200"/>
            <a:ext cx="1325880" cy="365760"/>
          </a:xfrm>
          <a:prstGeom prst="rect">
            <a:avLst/>
          </a:prstGeom>
          <a:noFill/>
          <a:ln/>
        </p:spPr>
        <p:txBody>
          <a:bodyPr wrap="square" lIns="0" tIns="0" rIns="0" bIns="0" rtlCol="0" anchor="ctr"/>
          <a:lstStyle/>
          <a:p>
            <a:pPr algn="ctr" indent="0" marL="0">
              <a:buNone/>
            </a:pPr>
            <a:r>
              <a:rPr lang="en-US" sz="900" dirty="0">
                <a:solidFill>
                  <a:srgbClr val="5B6B7A"/>
                </a:solidFill>
                <a:latin typeface="Calibri" pitchFamily="34" charset="0"/>
                <a:ea typeface="Calibri" pitchFamily="34" charset="-122"/>
                <a:cs typeface="Calibri" pitchFamily="34" charset="-120"/>
              </a:rPr>
              <a:t>thường, không dấu câu</a:t>
            </a:r>
            <a:endParaRPr lang="en-US" sz="900" dirty="0"/>
          </a:p>
        </p:txBody>
      </p:sp>
      <p:sp>
        <p:nvSpPr>
          <p:cNvPr id="26" name="Text 23"/>
          <p:cNvSpPr txBox="1"/>
          <p:nvPr/>
        </p:nvSpPr>
        <p:spPr>
          <a:xfrm>
            <a:off x="4818888" y="4846320"/>
            <a:ext cx="182880" cy="365760"/>
          </a:xfrm>
          <a:prstGeom prst="rect">
            <a:avLst/>
          </a:prstGeom>
          <a:noFill/>
          <a:ln/>
        </p:spPr>
        <p:txBody>
          <a:bodyPr wrap="square" lIns="0" tIns="0" rIns="0" bIns="0" rtlCol="0" anchor="ctr"/>
          <a:lstStyle/>
          <a:p>
            <a:pPr algn="ctr" indent="0" marL="0">
              <a:buNone/>
            </a:pPr>
            <a:r>
              <a:rPr lang="en-US" sz="1400" dirty="0">
                <a:solidFill>
                  <a:srgbClr val="5B6B7A"/>
                </a:solidFill>
              </a:rPr>
              <a:t>→</a:t>
            </a:r>
            <a:endParaRPr lang="en-US" sz="1400" dirty="0"/>
          </a:p>
        </p:txBody>
      </p:sp>
      <p:sp>
        <p:nvSpPr>
          <p:cNvPr id="27" name="Shape 24"/>
          <p:cNvSpPr/>
          <p:nvPr/>
        </p:nvSpPr>
        <p:spPr>
          <a:xfrm>
            <a:off x="4992624" y="4617720"/>
            <a:ext cx="1325880" cy="868680"/>
          </a:xfrm>
          <a:prstGeom prst="roundRect">
            <a:avLst>
              <a:gd name="adj" fmla="val 8421"/>
            </a:avLst>
          </a:prstGeom>
          <a:solidFill>
            <a:srgbClr val="E4572E"/>
          </a:solidFill>
          <a:ln w="12700">
            <a:solidFill>
              <a:srgbClr val="E4572E"/>
            </a:solidFill>
            <a:prstDash val="solid"/>
          </a:ln>
        </p:spPr>
      </p:sp>
      <p:sp>
        <p:nvSpPr>
          <p:cNvPr id="28" name="Text 25"/>
          <p:cNvSpPr txBox="1"/>
          <p:nvPr/>
        </p:nvSpPr>
        <p:spPr>
          <a:xfrm>
            <a:off x="4992624" y="4645152"/>
            <a:ext cx="13258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PhoBERT NER</a:t>
            </a:r>
            <a:endParaRPr lang="en-US" sz="1200" dirty="0"/>
          </a:p>
        </p:txBody>
      </p:sp>
      <p:sp>
        <p:nvSpPr>
          <p:cNvPr id="29" name="Text 26"/>
          <p:cNvSpPr txBox="1"/>
          <p:nvPr/>
        </p:nvSpPr>
        <p:spPr>
          <a:xfrm>
            <a:off x="4992624" y="5029200"/>
            <a:ext cx="132588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checkpoint demo</a:t>
            </a:r>
            <a:endParaRPr lang="en-US" sz="900" dirty="0"/>
          </a:p>
        </p:txBody>
      </p:sp>
      <p:sp>
        <p:nvSpPr>
          <p:cNvPr id="30" name="Text 27"/>
          <p:cNvSpPr txBox="1"/>
          <p:nvPr/>
        </p:nvSpPr>
        <p:spPr>
          <a:xfrm>
            <a:off x="548640" y="5577840"/>
            <a:ext cx="5760720" cy="274320"/>
          </a:xfrm>
          <a:prstGeom prst="rect">
            <a:avLst/>
          </a:prstGeom>
          <a:noFill/>
          <a:ln/>
        </p:spPr>
        <p:txBody>
          <a:bodyPr wrap="square" lIns="0" tIns="0" rIns="0" bIns="0" rtlCol="0" anchor="t"/>
          <a:lstStyle/>
          <a:p>
            <a:pPr algn="l" indent="0" marL="0">
              <a:buNone/>
            </a:pPr>
            <a:r>
              <a:rPr lang="en-US" sz="1100" i="1" dirty="0">
                <a:solidFill>
                  <a:srgbClr val="5B6B7A"/>
                </a:solidFill>
                <a:latin typeface="Calibri" pitchFamily="34" charset="0"/>
                <a:ea typeface="Calibri" pitchFamily="34" charset="-122"/>
                <a:cs typeface="Calibri" pitchFamily="34" charset="-120"/>
              </a:rPr>
              <a:t>Pipeline demo</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0" y="4572000"/>
          <a:ext cx="5074920" cy="914400"/>
        </p:xfrm>
        <a:graphic>
          <a:graphicData uri="http://schemas.openxmlformats.org/drawingml/2006/table">
            <a:tbl>
              <a:tblPr/>
              <a:tblGrid>
                <a:gridCol w="1874520"/>
                <a:gridCol w="822960"/>
                <a:gridCol w="914400"/>
                <a:gridCol w="146304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Hệ ASR</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Số câu</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WER</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Thực thể còn nguyên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4747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PhoWhisper-medium</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3.437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23,9%</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78,5%</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4747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PhoWhisper-medium</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82,8%</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B2733"/>
                          </a:solidFill>
                          <a:latin typeface="Calibri" pitchFamily="34" charset="0"/>
                          <a:ea typeface="Calibri" pitchFamily="34" charset="-122"/>
                          <a:cs typeface="Calibri" pitchFamily="34" charset="-120"/>
                        </a:rPr>
                        <a:t>Whisper-small (demo)</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25,3%</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61,4%</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bl>
          </a:graphicData>
        </a:graphic>
      </p:graphicFrame>
      <p:sp>
        <p:nvSpPr>
          <p:cNvPr id="32" name="Text 28"/>
          <p:cNvSpPr txBox="1"/>
          <p:nvPr/>
        </p:nvSpPr>
        <p:spPr>
          <a:xfrm>
            <a:off x="6583680" y="5989320"/>
            <a:ext cx="5074920" cy="411480"/>
          </a:xfrm>
          <a:prstGeom prst="rect">
            <a:avLst/>
          </a:prstGeom>
          <a:noFill/>
          <a:ln/>
        </p:spPr>
        <p:txBody>
          <a:bodyPr wrap="square" lIns="0" tIns="0" rIns="0" bIns="0" rtlCol="0" anchor="t"/>
          <a:lstStyle/>
          <a:p>
            <a:pPr algn="l" indent="0" marL="0">
              <a:buNone/>
            </a:pPr>
            <a:r>
              <a:rPr lang="en-US" sz="1150" i="1" dirty="0">
                <a:solidFill>
                  <a:srgbClr val="5B6B7A"/>
                </a:solidFill>
                <a:latin typeface="Calibri" pitchFamily="34" charset="0"/>
                <a:ea typeface="Calibri" pitchFamily="34" charset="-122"/>
                <a:cs typeface="Calibri" pitchFamily="34" charset="-120"/>
              </a:rPr>
              <a:t>Lỗi ASR: sai dấu chỉ 2,4%; chèn / xoá ở hai đầu câu 55,5% (PhoWhisper).</a:t>
            </a:r>
            <a:endParaRPr lang="en-US" sz="1150" dirty="0"/>
          </a:p>
        </p:txBody>
      </p:sp>
      <p:sp>
        <p:nvSpPr>
          <p:cNvPr id="33" name="Text 29"/>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asr_eda.json (systems: wer, entity_survival, errors), fig_asr_overview.png; experiments/005 README (demo = Whisper-small + PhoBERT)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589520" cy="777240"/>
          </a:xfrm>
          <a:prstGeom prst="rect">
            <a:avLst/>
          </a:prstGeom>
          <a:noFill/>
          <a:ln/>
        </p:spPr>
        <p:txBody>
          <a:bodyPr wrap="square" lIns="0" tIns="0" rIns="0" bIns="0" rtlCol="0" anchor="ctr"/>
          <a:lstStyle/>
          <a:p>
            <a:pPr indent="0" marL="0">
              <a:buNone/>
            </a:pPr>
            <a:r>
              <a:rPr lang="en-US" sz="2300" b="1" dirty="0">
                <a:solidFill>
                  <a:srgbClr val="0F2A3D"/>
                </a:solidFill>
                <a:latin typeface="Cambria" pitchFamily="34" charset="0"/>
                <a:ea typeface="Cambria" pitchFamily="34" charset="-122"/>
                <a:cs typeface="Cambria" pitchFamily="34" charset="-120"/>
              </a:rPr>
              <a:t>Bài học và giới hạn</a:t>
            </a:r>
            <a:endParaRPr lang="en-US" sz="2300" dirty="0"/>
          </a:p>
        </p:txBody>
      </p:sp>
      <p:sp>
        <p:nvSpPr>
          <p:cNvPr id="3" name="Shape 1"/>
          <p:cNvSpPr/>
          <p:nvPr/>
        </p:nvSpPr>
        <p:spPr>
          <a:xfrm>
            <a:off x="8275320" y="384048"/>
            <a:ext cx="649224" cy="73152"/>
          </a:xfrm>
          <a:prstGeom prst="rect">
            <a:avLst/>
          </a:prstGeom>
          <a:solidFill>
            <a:srgbClr val="2A9D8F"/>
          </a:solidFill>
          <a:ln w="12700">
            <a:solidFill>
              <a:srgbClr val="2A9D8F"/>
            </a:solidFill>
            <a:prstDash val="solid"/>
          </a:ln>
        </p:spPr>
      </p:sp>
      <p:sp>
        <p:nvSpPr>
          <p:cNvPr id="4" name="Text 2"/>
          <p:cNvSpPr txBox="1"/>
          <p:nvPr/>
        </p:nvSpPr>
        <p:spPr>
          <a:xfrm>
            <a:off x="82570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Dữ liệu</a:t>
            </a:r>
            <a:endParaRPr lang="en-US" sz="850" dirty="0"/>
          </a:p>
        </p:txBody>
      </p:sp>
      <p:sp>
        <p:nvSpPr>
          <p:cNvPr id="5" name="Shape 3"/>
          <p:cNvSpPr/>
          <p:nvPr/>
        </p:nvSpPr>
        <p:spPr>
          <a:xfrm>
            <a:off x="8961120" y="384048"/>
            <a:ext cx="649224" cy="73152"/>
          </a:xfrm>
          <a:prstGeom prst="rect">
            <a:avLst/>
          </a:prstGeom>
          <a:solidFill>
            <a:srgbClr val="2A9D8F"/>
          </a:solidFill>
          <a:ln w="12700">
            <a:solidFill>
              <a:srgbClr val="2A9D8F"/>
            </a:solidFill>
            <a:prstDash val="solid"/>
          </a:ln>
        </p:spPr>
      </p:sp>
      <p:sp>
        <p:nvSpPr>
          <p:cNvPr id="6" name="Text 4"/>
          <p:cNvSpPr txBox="1"/>
          <p:nvPr/>
        </p:nvSpPr>
        <p:spPr>
          <a:xfrm>
            <a:off x="89428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Mô hình</a:t>
            </a:r>
            <a:endParaRPr lang="en-US" sz="850" dirty="0"/>
          </a:p>
        </p:txBody>
      </p:sp>
      <p:sp>
        <p:nvSpPr>
          <p:cNvPr id="7" name="Shape 5"/>
          <p:cNvSpPr/>
          <p:nvPr/>
        </p:nvSpPr>
        <p:spPr>
          <a:xfrm>
            <a:off x="9646920" y="384048"/>
            <a:ext cx="649224" cy="73152"/>
          </a:xfrm>
          <a:prstGeom prst="rect">
            <a:avLst/>
          </a:prstGeom>
          <a:solidFill>
            <a:srgbClr val="2A9D8F"/>
          </a:solidFill>
          <a:ln w="12700">
            <a:solidFill>
              <a:srgbClr val="2A9D8F"/>
            </a:solidFill>
            <a:prstDash val="solid"/>
          </a:ln>
        </p:spPr>
      </p:sp>
      <p:sp>
        <p:nvSpPr>
          <p:cNvPr id="8" name="Text 6"/>
          <p:cNvSpPr txBox="1"/>
          <p:nvPr/>
        </p:nvSpPr>
        <p:spPr>
          <a:xfrm>
            <a:off x="96286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Kết quả</a:t>
            </a:r>
            <a:endParaRPr lang="en-US" sz="850" dirty="0"/>
          </a:p>
        </p:txBody>
      </p:sp>
      <p:sp>
        <p:nvSpPr>
          <p:cNvPr id="9" name="Shape 7"/>
          <p:cNvSpPr/>
          <p:nvPr/>
        </p:nvSpPr>
        <p:spPr>
          <a:xfrm>
            <a:off x="10332720" y="384048"/>
            <a:ext cx="649224" cy="73152"/>
          </a:xfrm>
          <a:prstGeom prst="rect">
            <a:avLst/>
          </a:prstGeom>
          <a:solidFill>
            <a:srgbClr val="2A9D8F"/>
          </a:solidFill>
          <a:ln w="12700">
            <a:solidFill>
              <a:srgbClr val="2A9D8F"/>
            </a:solidFill>
            <a:prstDash val="solid"/>
          </a:ln>
        </p:spPr>
      </p:sp>
      <p:sp>
        <p:nvSpPr>
          <p:cNvPr id="10" name="Text 8"/>
          <p:cNvSpPr txBox="1"/>
          <p:nvPr/>
        </p:nvSpPr>
        <p:spPr>
          <a:xfrm>
            <a:off x="10314432" y="484632"/>
            <a:ext cx="685800" cy="27432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Thử thêm</a:t>
            </a:r>
            <a:endParaRPr lang="en-US" sz="850" dirty="0"/>
          </a:p>
        </p:txBody>
      </p:sp>
      <p:sp>
        <p:nvSpPr>
          <p:cNvPr id="11" name="Shape 9"/>
          <p:cNvSpPr/>
          <p:nvPr/>
        </p:nvSpPr>
        <p:spPr>
          <a:xfrm>
            <a:off x="11018520" y="384048"/>
            <a:ext cx="649224" cy="73152"/>
          </a:xfrm>
          <a:prstGeom prst="rect">
            <a:avLst/>
          </a:prstGeom>
          <a:solidFill>
            <a:srgbClr val="E4572E"/>
          </a:solidFill>
          <a:ln w="12700">
            <a:solidFill>
              <a:srgbClr val="E4572E"/>
            </a:solidFill>
            <a:prstDash val="solid"/>
          </a:ln>
        </p:spPr>
      </p:sp>
      <p:sp>
        <p:nvSpPr>
          <p:cNvPr id="12" name="Text 10"/>
          <p:cNvSpPr txBox="1"/>
          <p:nvPr/>
        </p:nvSpPr>
        <p:spPr>
          <a:xfrm>
            <a:off x="11000232" y="484632"/>
            <a:ext cx="685800" cy="274320"/>
          </a:xfrm>
          <a:prstGeom prst="rect">
            <a:avLst/>
          </a:prstGeom>
          <a:noFill/>
          <a:ln/>
        </p:spPr>
        <p:txBody>
          <a:bodyPr wrap="square" lIns="0" tIns="0" rIns="0" bIns="0" rtlCol="0" anchor="ctr"/>
          <a:lstStyle/>
          <a:p>
            <a:pPr algn="ctr" indent="0" marL="0">
              <a:buNone/>
            </a:pPr>
            <a:r>
              <a:rPr lang="en-US" sz="850" b="1" dirty="0">
                <a:solidFill>
                  <a:srgbClr val="E4572E"/>
                </a:solidFill>
                <a:latin typeface="Calibri" pitchFamily="34" charset="0"/>
                <a:ea typeface="Calibri" pitchFamily="34" charset="-122"/>
                <a:cs typeface="Calibri" pitchFamily="34" charset="-120"/>
              </a:rPr>
              <a:t>Hệ thống</a:t>
            </a:r>
            <a:endParaRPr lang="en-US" sz="850" dirty="0"/>
          </a:p>
        </p:txBody>
      </p:sp>
      <p:sp>
        <p:nvSpPr>
          <p:cNvPr id="13" name="Text 1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21 / 22</a:t>
            </a:r>
            <a:endParaRPr lang="en-US" sz="1000" dirty="0"/>
          </a:p>
        </p:txBody>
      </p:sp>
      <p:sp>
        <p:nvSpPr>
          <p:cNvPr id="14" name="Shape 12"/>
          <p:cNvSpPr/>
          <p:nvPr/>
        </p:nvSpPr>
        <p:spPr>
          <a:xfrm>
            <a:off x="548640" y="1234440"/>
            <a:ext cx="5486400" cy="5074920"/>
          </a:xfrm>
          <a:prstGeom prst="roundRect">
            <a:avLst>
              <a:gd name="adj" fmla="val 1441"/>
            </a:avLst>
          </a:prstGeom>
          <a:solidFill>
            <a:srgbClr val="E3F3F1"/>
          </a:solidFill>
          <a:ln w="12700">
            <a:solidFill>
              <a:srgbClr val="E3F3F1"/>
            </a:solidFill>
            <a:prstDash val="solid"/>
          </a:ln>
        </p:spPr>
      </p:sp>
      <p:sp>
        <p:nvSpPr>
          <p:cNvPr id="15" name="Text 13"/>
          <p:cNvSpPr txBox="1"/>
          <p:nvPr/>
        </p:nvSpPr>
        <p:spPr>
          <a:xfrm>
            <a:off x="749808" y="1325880"/>
            <a:ext cx="5120640" cy="365760"/>
          </a:xfrm>
          <a:prstGeom prst="rect">
            <a:avLst/>
          </a:prstGeom>
          <a:noFill/>
          <a:ln/>
        </p:spPr>
        <p:txBody>
          <a:bodyPr wrap="square" lIns="0" tIns="0" rIns="0" bIns="0" rtlCol="0" anchor="ctr"/>
          <a:lstStyle/>
          <a:p>
            <a:pPr indent="0" marL="0">
              <a:buNone/>
            </a:pPr>
            <a:r>
              <a:rPr lang="en-US" sz="1700" b="1" dirty="0">
                <a:solidFill>
                  <a:srgbClr val="2A9D8F"/>
                </a:solidFill>
                <a:latin typeface="Cambria" pitchFamily="34" charset="0"/>
                <a:ea typeface="Cambria" pitchFamily="34" charset="-122"/>
                <a:cs typeface="Cambria" pitchFamily="34" charset="-120"/>
              </a:rPr>
              <a:t>Bài học</a:t>
            </a:r>
            <a:endParaRPr lang="en-US" sz="1700" dirty="0"/>
          </a:p>
        </p:txBody>
      </p:sp>
      <p:sp>
        <p:nvSpPr>
          <p:cNvPr id="16" name="Text 14"/>
          <p:cNvSpPr txBox="1"/>
          <p:nvPr/>
        </p:nvSpPr>
        <p:spPr>
          <a:xfrm>
            <a:off x="749808" y="1737360"/>
            <a:ext cx="5120640" cy="4480560"/>
          </a:xfrm>
          <a:prstGeom prst="rect">
            <a:avLst/>
          </a:prstGeom>
          <a:noFill/>
          <a:ln/>
        </p:spPr>
        <p:txBody>
          <a:bodyPr wrap="square" lIns="635" tIns="635" rIns="635" bIns="635" rtlCol="0" anchor="t"/>
          <a:lstStyle/>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Kiểm tra nhãn trước khi tin thước đo:</a:t>
            </a:r>
            <a:r>
              <a:rPr lang="en-US" sz="1700" dirty="0">
                <a:solidFill>
                  <a:srgbClr val="1B2733"/>
                </a:solidFill>
                <a:latin typeface="Calibri" pitchFamily="34" charset="0"/>
                <a:ea typeface="Calibri" pitchFamily="34" charset="-122"/>
                <a:cs typeface="Calibri" pitchFamily="34" charset="-120"/>
              </a:rPr>
              <a:t> "0" ≠ "O" đã làm lệch mọi số Transformer</a:t>
            </a:r>
            <a:endParaRPr lang="en-US" sz="1700" dirty="0"/>
          </a:p>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EDA quyết định cách đánh giá:</a:t>
            </a:r>
            <a:r>
              <a:rPr lang="en-US" sz="1700" dirty="0">
                <a:solidFill>
                  <a:srgbClr val="1B2733"/>
                </a:solidFill>
                <a:latin typeface="Calibri" pitchFamily="34" charset="0"/>
                <a:ea typeface="Calibri" pitchFamily="34" charset="-122"/>
                <a:cs typeface="Calibri" pitchFamily="34" charset="-120"/>
              </a:rPr>
              <a:t> lệch miền ⇒ tách thực thể đã gặp / chưa gặp</a:t>
            </a:r>
            <a:endParaRPr lang="en-US" sz="1700" dirty="0"/>
          </a:p>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Luôn có nhánh đối chứng:</a:t>
            </a:r>
            <a:r>
              <a:rPr lang="en-US" sz="1700" dirty="0">
                <a:solidFill>
                  <a:srgbClr val="1B2733"/>
                </a:solidFill>
                <a:latin typeface="Calibri" pitchFamily="34" charset="0"/>
                <a:ea typeface="Calibri" pitchFamily="34" charset="-122"/>
                <a:cs typeface="Calibri" pitchFamily="34" charset="-120"/>
              </a:rPr>
              <a:t> phần tăng của sửa lỗi hoá ra là của việc bỏ dấu chấm</a:t>
            </a:r>
            <a:endParaRPr lang="en-US" sz="1700" dirty="0"/>
          </a:p>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Kiểm định chênh lệch:</a:t>
            </a:r>
            <a:r>
              <a:rPr lang="en-US" sz="1700" dirty="0">
                <a:solidFill>
                  <a:srgbClr val="1B2733"/>
                </a:solidFill>
                <a:latin typeface="Calibri" pitchFamily="34" charset="0"/>
                <a:ea typeface="Calibri" pitchFamily="34" charset="-122"/>
                <a:cs typeface="Calibri" pitchFamily="34" charset="-120"/>
              </a:rPr>
              <a:t> bootstrap và nhiều seed cho thấy PhoBERT ≈ ViHealthBERT</a:t>
            </a:r>
            <a:endParaRPr lang="en-US" sz="1700" dirty="0"/>
          </a:p>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Mô hình đơn giản vẫn mạnh:</a:t>
            </a:r>
            <a:r>
              <a:rPr lang="en-US" sz="1700" dirty="0">
                <a:solidFill>
                  <a:srgbClr val="1B2733"/>
                </a:solidFill>
                <a:latin typeface="Calibri" pitchFamily="34" charset="0"/>
                <a:ea typeface="Calibri" pitchFamily="34" charset="-122"/>
                <a:cs typeface="Calibri" pitchFamily="34" charset="-120"/>
              </a:rPr>
              <a:t> CRF thắng khi dữ liệu lặp lại thuật ngữ</a:t>
            </a:r>
            <a:endParaRPr lang="en-US" sz="1700" dirty="0"/>
          </a:p>
        </p:txBody>
      </p:sp>
      <p:sp>
        <p:nvSpPr>
          <p:cNvPr id="17" name="Shape 15"/>
          <p:cNvSpPr/>
          <p:nvPr/>
        </p:nvSpPr>
        <p:spPr>
          <a:xfrm>
            <a:off x="6263640" y="1234440"/>
            <a:ext cx="5394960" cy="5074920"/>
          </a:xfrm>
          <a:prstGeom prst="roundRect">
            <a:avLst>
              <a:gd name="adj" fmla="val 1441"/>
            </a:avLst>
          </a:prstGeom>
          <a:solidFill>
            <a:srgbClr val="FCE9E3"/>
          </a:solidFill>
          <a:ln w="12700">
            <a:solidFill>
              <a:srgbClr val="FCE9E3"/>
            </a:solidFill>
            <a:prstDash val="solid"/>
          </a:ln>
        </p:spPr>
      </p:sp>
      <p:sp>
        <p:nvSpPr>
          <p:cNvPr id="18" name="Text 16"/>
          <p:cNvSpPr txBox="1"/>
          <p:nvPr/>
        </p:nvSpPr>
        <p:spPr>
          <a:xfrm>
            <a:off x="6464808" y="1325880"/>
            <a:ext cx="502920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Giới hạn</a:t>
            </a:r>
            <a:endParaRPr lang="en-US" sz="1700" dirty="0"/>
          </a:p>
        </p:txBody>
      </p:sp>
      <p:sp>
        <p:nvSpPr>
          <p:cNvPr id="19" name="Text 17"/>
          <p:cNvSpPr txBox="1"/>
          <p:nvPr/>
        </p:nvSpPr>
        <p:spPr>
          <a:xfrm>
            <a:off x="6464808" y="1737360"/>
            <a:ext cx="5029200" cy="4480560"/>
          </a:xfrm>
          <a:prstGeom prst="rect">
            <a:avLst/>
          </a:prstGeom>
          <a:noFill/>
          <a:ln/>
        </p:spPr>
        <p:txBody>
          <a:bodyPr wrap="square" lIns="635" tIns="635" rIns="635" bIns="635" rtlCol="0" anchor="t"/>
          <a:lstStyle/>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Lớp hiếm (ORGANIZATION 19, TRANSPORTATION 5 mẫu train): F1 theo loại không đáng tin</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Lưới dò Transformer chấm trước khi sửa lỗi "0", cấu hình tốt nhất ở biên lưới; chưa dò lại</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Vi-Ner chưa rõ nguồn gốc, giấy phép; chỉ 3 seed</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Thí nghiệm sửa lỗi dùng PhoWhisper; Whisper-small chỉ có 500 câu transcript</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Chưa thử BERT-CRF, trọng số lớp, dữ liệu cùng miền test</a:t>
            </a:r>
            <a:endParaRPr lang="en-US" sz="1700" dirty="0"/>
          </a:p>
        </p:txBody>
      </p:sp>
      <p:sp>
        <p:nvSpPr>
          <p:cNvPr id="20" name="Text 18"/>
          <p:cNvSpPr txBox="1"/>
          <p:nvPr/>
        </p:nvSpPr>
        <p:spPr>
          <a:xfrm>
            <a:off x="548640" y="6446520"/>
            <a:ext cx="9875520" cy="274320"/>
          </a:xfrm>
          <a:prstGeom prst="rect">
            <a:avLst/>
          </a:prstGeom>
          <a:noFill/>
          <a:ln/>
        </p:spPr>
        <p:txBody>
          <a:bodyPr wrap="square" lIns="0" tIns="0" rIns="0" bIns="0" rtlCol="0" anchor="ctr"/>
          <a:lstStyle/>
          <a:p>
            <a:pPr indent="0" marL="0">
              <a:buNone/>
            </a:pPr>
            <a:r>
              <a:rPr lang="en-US" sz="850" i="1" dirty="0">
                <a:solidFill>
                  <a:srgbClr val="5B6B7A"/>
                </a:solidFill>
                <a:latin typeface="Calibri" pitchFamily="34" charset="0"/>
                <a:ea typeface="Calibri" pitchFamily="34" charset="-122"/>
                <a:cs typeface="Calibri" pitchFamily="34" charset="-120"/>
              </a:rPr>
              <a:t>Nguồn: tổng hợp từ các slide trước</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A3D"/>
        </a:solidFill>
      </p:bgPr>
    </p:bg>
    <p:spTree>
      <p:nvGrpSpPr>
        <p:cNvPr id="1" name=""/>
        <p:cNvGrpSpPr/>
        <p:nvPr/>
      </p:nvGrpSpPr>
      <p:grpSpPr>
        <a:xfrm>
          <a:off x="0" y="0"/>
          <a:ext cx="0" cy="0"/>
          <a:chOff x="0" y="0"/>
          <a:chExt cx="0" cy="0"/>
        </a:xfrm>
      </p:grpSpPr>
      <p:sp>
        <p:nvSpPr>
          <p:cNvPr id="2" name="Text 0"/>
          <p:cNvSpPr txBox="1"/>
          <p:nvPr/>
        </p:nvSpPr>
        <p:spPr>
          <a:xfrm>
            <a:off x="731520" y="457200"/>
            <a:ext cx="1069848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Kết luận</a:t>
            </a:r>
            <a:endParaRPr lang="en-US" sz="3200" dirty="0"/>
          </a:p>
        </p:txBody>
      </p:sp>
      <p:sp>
        <p:nvSpPr>
          <p:cNvPr id="3" name="Shape 1"/>
          <p:cNvSpPr/>
          <p:nvPr/>
        </p:nvSpPr>
        <p:spPr>
          <a:xfrm>
            <a:off x="731520" y="1463040"/>
            <a:ext cx="2560320" cy="1920240"/>
          </a:xfrm>
          <a:prstGeom prst="roundRect">
            <a:avLst>
              <a:gd name="adj" fmla="val 3810"/>
            </a:avLst>
          </a:prstGeom>
          <a:solidFill>
            <a:srgbClr val="17384F"/>
          </a:solidFill>
          <a:ln w="12700">
            <a:solidFill>
              <a:srgbClr val="2F5A76"/>
            </a:solidFill>
            <a:prstDash val="solid"/>
          </a:ln>
        </p:spPr>
      </p:sp>
      <p:sp>
        <p:nvSpPr>
          <p:cNvPr id="4" name="Text 2"/>
          <p:cNvSpPr txBox="1"/>
          <p:nvPr/>
        </p:nvSpPr>
        <p:spPr>
          <a:xfrm>
            <a:off x="868680" y="1600200"/>
            <a:ext cx="2286000" cy="822960"/>
          </a:xfrm>
          <a:prstGeom prst="rect">
            <a:avLst/>
          </a:prstGeom>
          <a:noFill/>
          <a:ln/>
        </p:spPr>
        <p:txBody>
          <a:bodyPr wrap="square" lIns="0" tIns="0" rIns="0" bIns="0" rtlCol="0" anchor="ctr"/>
          <a:lstStyle/>
          <a:p>
            <a:pPr indent="0" marL="0">
              <a:buNone/>
            </a:pPr>
            <a:r>
              <a:rPr lang="en-US" sz="2400" b="1" dirty="0">
                <a:solidFill>
                  <a:srgbClr val="F4A58A"/>
                </a:solidFill>
                <a:latin typeface="Cambria" pitchFamily="34" charset="0"/>
                <a:ea typeface="Cambria" pitchFamily="34" charset="-122"/>
                <a:cs typeface="Cambria" pitchFamily="34" charset="-120"/>
              </a:rPr>
              <a:t>63,80%</a:t>
            </a:r>
            <a:endParaRPr lang="en-US" sz="2400" dirty="0"/>
          </a:p>
        </p:txBody>
      </p:sp>
      <p:sp>
        <p:nvSpPr>
          <p:cNvPr id="5" name="Text 3"/>
          <p:cNvSpPr txBox="1"/>
          <p:nvPr/>
        </p:nvSpPr>
        <p:spPr>
          <a:xfrm>
            <a:off x="868680" y="2468880"/>
            <a:ext cx="2286000" cy="822960"/>
          </a:xfrm>
          <a:prstGeom prst="rect">
            <a:avLst/>
          </a:prstGeom>
          <a:noFill/>
          <a:ln/>
        </p:spPr>
        <p:txBody>
          <a:bodyPr wrap="square" lIns="0" tIns="0" rIns="0" bIns="0" rtlCol="0" anchor="t"/>
          <a:lstStyle/>
          <a:p>
            <a:pPr indent="0" marL="0">
              <a:buNone/>
            </a:pPr>
            <a:r>
              <a:rPr lang="en-US" sz="1300" dirty="0">
                <a:solidFill>
                  <a:srgbClr val="D6E2EA"/>
                </a:solidFill>
                <a:latin typeface="Calibri" pitchFamily="34" charset="0"/>
                <a:ea typeface="Calibri" pitchFamily="34" charset="-122"/>
                <a:cs typeface="Calibri" pitchFamily="34" charset="-120"/>
              </a:rPr>
              <a:t>CRF: F1 test cao nhất (strict)</a:t>
            </a:r>
            <a:endParaRPr lang="en-US" sz="1300" dirty="0"/>
          </a:p>
        </p:txBody>
      </p:sp>
      <p:sp>
        <p:nvSpPr>
          <p:cNvPr id="6" name="Shape 4"/>
          <p:cNvSpPr/>
          <p:nvPr/>
        </p:nvSpPr>
        <p:spPr>
          <a:xfrm>
            <a:off x="3456432" y="1463040"/>
            <a:ext cx="2560320" cy="1920240"/>
          </a:xfrm>
          <a:prstGeom prst="roundRect">
            <a:avLst>
              <a:gd name="adj" fmla="val 3810"/>
            </a:avLst>
          </a:prstGeom>
          <a:solidFill>
            <a:srgbClr val="17384F"/>
          </a:solidFill>
          <a:ln w="12700">
            <a:solidFill>
              <a:srgbClr val="2F5A76"/>
            </a:solidFill>
            <a:prstDash val="solid"/>
          </a:ln>
        </p:spPr>
      </p:sp>
      <p:sp>
        <p:nvSpPr>
          <p:cNvPr id="7" name="Text 5"/>
          <p:cNvSpPr txBox="1"/>
          <p:nvPr/>
        </p:nvSpPr>
        <p:spPr>
          <a:xfrm>
            <a:off x="3593592" y="1600200"/>
            <a:ext cx="2286000" cy="822960"/>
          </a:xfrm>
          <a:prstGeom prst="rect">
            <a:avLst/>
          </a:prstGeom>
          <a:noFill/>
          <a:ln/>
        </p:spPr>
        <p:txBody>
          <a:bodyPr wrap="square" lIns="0" tIns="0" rIns="0" bIns="0" rtlCol="0" anchor="ctr"/>
          <a:lstStyle/>
          <a:p>
            <a:pPr indent="0" marL="0">
              <a:buNone/>
            </a:pPr>
            <a:r>
              <a:rPr lang="en-US" sz="2400" b="1" dirty="0">
                <a:solidFill>
                  <a:srgbClr val="9FD8CF"/>
                </a:solidFill>
                <a:latin typeface="Cambria" pitchFamily="34" charset="0"/>
                <a:ea typeface="Cambria" pitchFamily="34" charset="-122"/>
                <a:cs typeface="Cambria" pitchFamily="34" charset="-120"/>
              </a:rPr>
              <a:t>62,42 ≈ 62,74</a:t>
            </a:r>
            <a:endParaRPr lang="en-US" sz="2400" dirty="0"/>
          </a:p>
        </p:txBody>
      </p:sp>
      <p:sp>
        <p:nvSpPr>
          <p:cNvPr id="8" name="Text 6"/>
          <p:cNvSpPr txBox="1"/>
          <p:nvPr/>
        </p:nvSpPr>
        <p:spPr>
          <a:xfrm>
            <a:off x="3593592" y="2468880"/>
            <a:ext cx="2286000" cy="822960"/>
          </a:xfrm>
          <a:prstGeom prst="rect">
            <a:avLst/>
          </a:prstGeom>
          <a:noFill/>
          <a:ln/>
        </p:spPr>
        <p:txBody>
          <a:bodyPr wrap="square" lIns="0" tIns="0" rIns="0" bIns="0" rtlCol="0" anchor="t"/>
          <a:lstStyle/>
          <a:p>
            <a:pPr indent="0" marL="0">
              <a:buNone/>
            </a:pPr>
            <a:r>
              <a:rPr lang="en-US" sz="1300" dirty="0">
                <a:solidFill>
                  <a:srgbClr val="D6E2EA"/>
                </a:solidFill>
                <a:latin typeface="Calibri" pitchFamily="34" charset="0"/>
                <a:ea typeface="Calibri" pitchFamily="34" charset="-122"/>
                <a:cs typeface="Calibri" pitchFamily="34" charset="-120"/>
              </a:rPr>
              <a:t>PhoBERT ≈ ViHealthBERT (CI chứa 0)</a:t>
            </a:r>
            <a:endParaRPr lang="en-US" sz="1300" dirty="0"/>
          </a:p>
        </p:txBody>
      </p:sp>
      <p:sp>
        <p:nvSpPr>
          <p:cNvPr id="9" name="Shape 7"/>
          <p:cNvSpPr/>
          <p:nvPr/>
        </p:nvSpPr>
        <p:spPr>
          <a:xfrm>
            <a:off x="6181344" y="1463040"/>
            <a:ext cx="2560320" cy="1920240"/>
          </a:xfrm>
          <a:prstGeom prst="roundRect">
            <a:avLst>
              <a:gd name="adj" fmla="val 3810"/>
            </a:avLst>
          </a:prstGeom>
          <a:solidFill>
            <a:srgbClr val="17384F"/>
          </a:solidFill>
          <a:ln w="12700">
            <a:solidFill>
              <a:srgbClr val="2F5A76"/>
            </a:solidFill>
            <a:prstDash val="solid"/>
          </a:ln>
        </p:spPr>
      </p:sp>
      <p:sp>
        <p:nvSpPr>
          <p:cNvPr id="10" name="Text 8"/>
          <p:cNvSpPr txBox="1"/>
          <p:nvPr/>
        </p:nvSpPr>
        <p:spPr>
          <a:xfrm>
            <a:off x="6318504" y="1600200"/>
            <a:ext cx="2286000" cy="822960"/>
          </a:xfrm>
          <a:prstGeom prst="rect">
            <a:avLst/>
          </a:prstGeom>
          <a:noFill/>
          <a:ln/>
        </p:spPr>
        <p:txBody>
          <a:bodyPr wrap="square" lIns="0" tIns="0" rIns="0" bIns="0" rtlCol="0" anchor="ctr"/>
          <a:lstStyle/>
          <a:p>
            <a:pPr indent="0" marL="0">
              <a:buNone/>
            </a:pPr>
            <a:r>
              <a:rPr lang="en-US" sz="2400" b="1" dirty="0">
                <a:solidFill>
                  <a:srgbClr val="9FD8CF"/>
                </a:solidFill>
                <a:latin typeface="Cambria" pitchFamily="34" charset="0"/>
                <a:ea typeface="Cambria" pitchFamily="34" charset="-122"/>
                <a:cs typeface="Cambria" pitchFamily="34" charset="-120"/>
              </a:rPr>
              <a:t>41,9%</a:t>
            </a:r>
            <a:endParaRPr lang="en-US" sz="2400" dirty="0"/>
          </a:p>
        </p:txBody>
      </p:sp>
      <p:sp>
        <p:nvSpPr>
          <p:cNvPr id="11" name="Text 9"/>
          <p:cNvSpPr txBox="1"/>
          <p:nvPr/>
        </p:nvSpPr>
        <p:spPr>
          <a:xfrm>
            <a:off x="6318504" y="2468880"/>
            <a:ext cx="2286000" cy="822960"/>
          </a:xfrm>
          <a:prstGeom prst="rect">
            <a:avLst/>
          </a:prstGeom>
          <a:noFill/>
          <a:ln/>
        </p:spPr>
        <p:txBody>
          <a:bodyPr wrap="square" lIns="0" tIns="0" rIns="0" bIns="0" rtlCol="0" anchor="t"/>
          <a:lstStyle/>
          <a:p>
            <a:pPr indent="0" marL="0">
              <a:buNone/>
            </a:pPr>
            <a:r>
              <a:rPr lang="en-US" sz="1300" dirty="0">
                <a:solidFill>
                  <a:srgbClr val="D6E2EA"/>
                </a:solidFill>
                <a:latin typeface="Calibri" pitchFamily="34" charset="0"/>
                <a:ea typeface="Calibri" pitchFamily="34" charset="-122"/>
                <a:cs typeface="Calibri" pitchFamily="34" charset="-120"/>
              </a:rPr>
              <a:t>ViHealthBERT: thực thể chưa gặp, cao nhất</a:t>
            </a:r>
            <a:endParaRPr lang="en-US" sz="1300" dirty="0"/>
          </a:p>
        </p:txBody>
      </p:sp>
      <p:sp>
        <p:nvSpPr>
          <p:cNvPr id="12" name="Shape 10"/>
          <p:cNvSpPr/>
          <p:nvPr/>
        </p:nvSpPr>
        <p:spPr>
          <a:xfrm>
            <a:off x="8906256" y="1463040"/>
            <a:ext cx="2560320" cy="1920240"/>
          </a:xfrm>
          <a:prstGeom prst="roundRect">
            <a:avLst>
              <a:gd name="adj" fmla="val 3810"/>
            </a:avLst>
          </a:prstGeom>
          <a:solidFill>
            <a:srgbClr val="17384F"/>
          </a:solidFill>
          <a:ln w="12700">
            <a:solidFill>
              <a:srgbClr val="2F5A76"/>
            </a:solidFill>
            <a:prstDash val="solid"/>
          </a:ln>
        </p:spPr>
      </p:sp>
      <p:sp>
        <p:nvSpPr>
          <p:cNvPr id="13" name="Text 11"/>
          <p:cNvSpPr txBox="1"/>
          <p:nvPr/>
        </p:nvSpPr>
        <p:spPr>
          <a:xfrm>
            <a:off x="9043416" y="1600200"/>
            <a:ext cx="2286000" cy="822960"/>
          </a:xfrm>
          <a:prstGeom prst="rect">
            <a:avLst/>
          </a:prstGeom>
          <a:noFill/>
          <a:ln/>
        </p:spPr>
        <p:txBody>
          <a:bodyPr wrap="square" lIns="0" tIns="0" rIns="0" bIns="0" rtlCol="0" anchor="ctr"/>
          <a:lstStyle/>
          <a:p>
            <a:pPr indent="0" marL="0">
              <a:buNone/>
            </a:pPr>
            <a:r>
              <a:rPr lang="en-US" sz="2400" b="1" dirty="0">
                <a:solidFill>
                  <a:srgbClr val="9FD8CF"/>
                </a:solidFill>
                <a:latin typeface="Cambria" pitchFamily="34" charset="0"/>
                <a:ea typeface="Cambria" pitchFamily="34" charset="-122"/>
                <a:cs typeface="Cambria" pitchFamily="34" charset="-120"/>
              </a:rPr>
              <a:t>+0,054</a:t>
            </a:r>
            <a:endParaRPr lang="en-US" sz="2400" dirty="0"/>
          </a:p>
        </p:txBody>
      </p:sp>
      <p:sp>
        <p:nvSpPr>
          <p:cNvPr id="14" name="Text 12"/>
          <p:cNvSpPr txBox="1"/>
          <p:nvPr/>
        </p:nvSpPr>
        <p:spPr>
          <a:xfrm>
            <a:off x="9043416" y="2468880"/>
            <a:ext cx="2286000" cy="822960"/>
          </a:xfrm>
          <a:prstGeom prst="rect">
            <a:avLst/>
          </a:prstGeom>
          <a:noFill/>
          <a:ln/>
        </p:spPr>
        <p:txBody>
          <a:bodyPr wrap="square" lIns="0" tIns="0" rIns="0" bIns="0" rtlCol="0" anchor="t"/>
          <a:lstStyle/>
          <a:p>
            <a:pPr indent="0" marL="0">
              <a:buNone/>
            </a:pPr>
            <a:r>
              <a:rPr lang="en-US" sz="1300" dirty="0">
                <a:solidFill>
                  <a:srgbClr val="D6E2EA"/>
                </a:solidFill>
                <a:latin typeface="Calibri" pitchFamily="34" charset="0"/>
                <a:ea typeface="Calibri" pitchFamily="34" charset="-122"/>
                <a:cs typeface="Calibri" pitchFamily="34" charset="-120"/>
              </a:rPr>
              <a:t>Sửa lỗi transcript trước NER: không đáng kể</a:t>
            </a:r>
            <a:endParaRPr lang="en-US" sz="1300" dirty="0"/>
          </a:p>
        </p:txBody>
      </p:sp>
      <p:sp>
        <p:nvSpPr>
          <p:cNvPr id="15" name="Text 13"/>
          <p:cNvSpPr txBox="1"/>
          <p:nvPr/>
        </p:nvSpPr>
        <p:spPr>
          <a:xfrm>
            <a:off x="731520" y="3703320"/>
            <a:ext cx="10698480" cy="82296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Nút thắt nằm ở dữ liệu — lệch miền, lớp hiếm, ranh giới nhãn — hơn là ở việc chọn mô hình.</a:t>
            </a:r>
            <a:endParaRPr lang="en-US" sz="2100" dirty="0"/>
          </a:p>
        </p:txBody>
      </p:sp>
      <p:sp>
        <p:nvSpPr>
          <p:cNvPr id="16" name="Text 14"/>
          <p:cNvSpPr txBox="1"/>
          <p:nvPr/>
        </p:nvSpPr>
        <p:spPr>
          <a:xfrm>
            <a:off x="731520" y="5029200"/>
            <a:ext cx="10698480" cy="731520"/>
          </a:xfrm>
          <a:prstGeom prst="rect">
            <a:avLst/>
          </a:prstGeom>
          <a:noFill/>
          <a:ln/>
        </p:spPr>
        <p:txBody>
          <a:bodyPr wrap="square" lIns="0" tIns="0" rIns="0" bIns="0" rtlCol="0" anchor="ctr"/>
          <a:lstStyle/>
          <a:p>
            <a:pPr algn="ctr" indent="0" marL="0">
              <a:buNone/>
            </a:pPr>
            <a:r>
              <a:rPr lang="en-US" sz="2600" b="1" dirty="0">
                <a:solidFill>
                  <a:srgbClr val="9FD8CF"/>
                </a:solidFill>
                <a:latin typeface="Cambria" pitchFamily="34" charset="0"/>
                <a:ea typeface="Cambria" pitchFamily="34" charset="-122"/>
                <a:cs typeface="Cambria" pitchFamily="34" charset="-120"/>
              </a:rPr>
              <a:t>Cảm ơn Thầy và các bạn đã lắng nghe!  ·  Hỏi &amp; đáp</a:t>
            </a:r>
            <a:endParaRPr lang="en-US" sz="2600" dirty="0"/>
          </a:p>
        </p:txBody>
      </p:sp>
      <p:sp>
        <p:nvSpPr>
          <p:cNvPr id="17"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9FB3C2"/>
                </a:solidFill>
                <a:latin typeface="Calibri" pitchFamily="34" charset="0"/>
                <a:ea typeface="Calibri" pitchFamily="34" charset="-122"/>
                <a:cs typeface="Calibri" pitchFamily="34" charset="-120"/>
              </a:rPr>
              <a:t>22 / 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Hành trình huấn luyện VietMed-NER</dc:title>
  <dc:subject>PptxGenJS Presentation</dc:subject>
  <dc:creator>PptxGenJS</dc:creator>
  <cp:lastModifiedBy>PptxGenJS</cp:lastModifiedBy>
  <cp:revision>1</cp:revision>
  <dcterms:created xsi:type="dcterms:W3CDTF">2026-09-27T19:29:02Z</dcterms:created>
  <dcterms:modified xsi:type="dcterms:W3CDTF">2026-09-27T19:29:02Z</dcterms:modified>
</cp:coreProperties>
</file>