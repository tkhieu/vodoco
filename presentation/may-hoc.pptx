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Số thực thể theo loại và theo tập</a:t>
            </a:r>
          </a:p>
        </c:rich>
      </c:tx>
      <c:layout/>
      <c:overlay val="0"/>
    </c:title>
    <c:autoTitleDeleted val="0"/>
    <c:plotArea>
      <c:layout/>
      <c:barChart>
        <c:barDir val="col"/>
        <c:grouping val="clustered"/>
        <c:varyColors val="0"/>
        <c:ser>
          <c:idx val="0"/>
          <c:order val="0"/>
          <c:tx>
            <c:strRef>
              <c:f>Sheet1!$B$1</c:f>
              <c:strCache>
                <c:ptCount val="1"/>
                <c:pt idx="0">
                  <c:v>train</c:v>
                </c:pt>
              </c:strCache>
            </c:strRef>
          </c:tx>
          <c:spPr>
            <a:solidFill>
              <a:srgbClr val="4C72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Sheet1!$B$2:$B$19</c:f>
              <c:numCache>
                <c:formatCode>General</c:formatCode>
                <c:ptCount val="18"/>
                <c:pt idx="0">
                  <c:v>2975</c:v>
                </c:pt>
                <c:pt idx="1">
                  <c:v>1972</c:v>
                </c:pt>
                <c:pt idx="2">
                  <c:v>1127</c:v>
                </c:pt>
                <c:pt idx="3">
                  <c:v>822</c:v>
                </c:pt>
                <c:pt idx="4">
                  <c:v>740</c:v>
                </c:pt>
                <c:pt idx="5">
                  <c:v>698</c:v>
                </c:pt>
                <c:pt idx="6">
                  <c:v>547</c:v>
                </c:pt>
                <c:pt idx="7">
                  <c:v>456</c:v>
                </c:pt>
                <c:pt idx="8">
                  <c:v>384</c:v>
                </c:pt>
                <c:pt idx="9">
                  <c:v>373</c:v>
                </c:pt>
                <c:pt idx="10">
                  <c:v>343</c:v>
                </c:pt>
                <c:pt idx="11">
                  <c:v>327</c:v>
                </c:pt>
                <c:pt idx="12">
                  <c:v>292</c:v>
                </c:pt>
                <c:pt idx="13">
                  <c:v>257</c:v>
                </c:pt>
                <c:pt idx="14">
                  <c:v>210</c:v>
                </c:pt>
                <c:pt idx="15">
                  <c:v>200</c:v>
                </c:pt>
                <c:pt idx="16">
                  <c:v>19</c:v>
                </c:pt>
                <c:pt idx="17">
                  <c:v>5</c:v>
                </c:pt>
              </c:numCache>
            </c:numRef>
          </c:val>
        </c:ser>
        <c:ser>
          <c:idx val="1"/>
          <c:order val="1"/>
          <c:tx>
            <c:strRef>
              <c:f>Sheet1!$C$1</c:f>
              <c:strCache>
                <c:ptCount val="1"/>
                <c:pt idx="0">
                  <c:v>validation</c:v>
                </c:pt>
              </c:strCache>
            </c:strRef>
          </c:tx>
          <c:spPr>
            <a:solidFill>
              <a:srgbClr val="DD84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Sheet1!$C$2:$C$19</c:f>
              <c:numCache>
                <c:formatCode>General</c:formatCode>
                <c:ptCount val="18"/>
                <c:pt idx="0">
                  <c:v>746</c:v>
                </c:pt>
                <c:pt idx="1">
                  <c:v>485</c:v>
                </c:pt>
                <c:pt idx="2">
                  <c:v>278</c:v>
                </c:pt>
                <c:pt idx="3">
                  <c:v>220</c:v>
                </c:pt>
                <c:pt idx="4">
                  <c:v>178</c:v>
                </c:pt>
                <c:pt idx="5">
                  <c:v>166</c:v>
                </c:pt>
                <c:pt idx="6">
                  <c:v>134</c:v>
                </c:pt>
                <c:pt idx="7">
                  <c:v>109</c:v>
                </c:pt>
                <c:pt idx="8">
                  <c:v>89</c:v>
                </c:pt>
                <c:pt idx="9">
                  <c:v>91</c:v>
                </c:pt>
                <c:pt idx="10">
                  <c:v>80</c:v>
                </c:pt>
                <c:pt idx="11">
                  <c:v>68</c:v>
                </c:pt>
                <c:pt idx="12">
                  <c:v>77</c:v>
                </c:pt>
                <c:pt idx="13">
                  <c:v>56</c:v>
                </c:pt>
                <c:pt idx="14">
                  <c:v>51</c:v>
                </c:pt>
                <c:pt idx="15">
                  <c:v>56</c:v>
                </c:pt>
                <c:pt idx="16">
                  <c:v>2</c:v>
                </c:pt>
                <c:pt idx="17">
                  <c:v>3</c:v>
                </c:pt>
              </c:numCache>
            </c:numRef>
          </c:val>
        </c:ser>
        <c:ser>
          <c:idx val="2"/>
          <c:order val="2"/>
          <c:tx>
            <c:strRef>
              <c:f>Sheet1!$D$1</c:f>
              <c:strCache>
                <c:ptCount val="1"/>
                <c:pt idx="0">
                  <c:v>test</c:v>
                </c:pt>
              </c:strCache>
            </c:strRef>
          </c:tx>
          <c:spPr>
            <a:solidFill>
              <a:srgbClr val="55A86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DISEASESYMTOM</c:v>
                  </c:pt>
                  <c:pt idx="1">
                    <c:v>ORGAN</c:v>
                  </c:pt>
                  <c:pt idx="2">
                    <c:v>DRUGCHEMICAL</c:v>
                  </c:pt>
                  <c:pt idx="3">
                    <c:v>UNITCALIBRATOR</c:v>
                  </c:pt>
                  <c:pt idx="4">
                    <c:v>TREATMENT</c:v>
                  </c:pt>
                  <c:pt idx="5">
                    <c:v>DATETIME</c:v>
                  </c:pt>
                  <c:pt idx="6">
                    <c:v>OCCUPATION</c:v>
                  </c:pt>
                  <c:pt idx="7">
                    <c:v>AGE</c:v>
                  </c:pt>
                  <c:pt idx="8">
                    <c:v>PERSONALCARE</c:v>
                  </c:pt>
                  <c:pt idx="9">
                    <c:v>DIAGNOSTICS</c:v>
                  </c:pt>
                  <c:pt idx="10">
                    <c:v>PREVENTIVEMED</c:v>
                  </c:pt>
                  <c:pt idx="11">
                    <c:v>MEDDEVICETECHNIQUE</c:v>
                  </c:pt>
                  <c:pt idx="12">
                    <c:v>LOCATION</c:v>
                  </c:pt>
                  <c:pt idx="13">
                    <c:v>FOODDRINK</c:v>
                  </c:pt>
                  <c:pt idx="14">
                    <c:v>GENDER</c:v>
                  </c:pt>
                  <c:pt idx="15">
                    <c:v>SURGERY</c:v>
                  </c:pt>
                  <c:pt idx="16">
                    <c:v>ORGANIZATION</c:v>
                  </c:pt>
                  <c:pt idx="17">
                    <c:v>TRANSPORTATION</c:v>
                  </c:pt>
                </c:lvl>
              </c:multiLvlStrCache>
            </c:multiLvlStrRef>
          </c:cat>
          <c:val>
            <c:numRef>
              <c:f>Sheet1!$D$2:$D$19</c:f>
              <c:numCache>
                <c:formatCode>General</c:formatCode>
                <c:ptCount val="18"/>
                <c:pt idx="0">
                  <c:v>1467</c:v>
                </c:pt>
                <c:pt idx="1">
                  <c:v>1260</c:v>
                </c:pt>
                <c:pt idx="2">
                  <c:v>709</c:v>
                </c:pt>
                <c:pt idx="3">
                  <c:v>257</c:v>
                </c:pt>
                <c:pt idx="4">
                  <c:v>232</c:v>
                </c:pt>
                <c:pt idx="5">
                  <c:v>667</c:v>
                </c:pt>
                <c:pt idx="6">
                  <c:v>565</c:v>
                </c:pt>
                <c:pt idx="7">
                  <c:v>622</c:v>
                </c:pt>
                <c:pt idx="8">
                  <c:v>95</c:v>
                </c:pt>
                <c:pt idx="9">
                  <c:v>299</c:v>
                </c:pt>
                <c:pt idx="10">
                  <c:v>18</c:v>
                </c:pt>
                <c:pt idx="11">
                  <c:v>635</c:v>
                </c:pt>
                <c:pt idx="12">
                  <c:v>329</c:v>
                </c:pt>
                <c:pt idx="13">
                  <c:v>261</c:v>
                </c:pt>
                <c:pt idx="14">
                  <c:v>558</c:v>
                </c:pt>
                <c:pt idx="15">
                  <c:v>276</c:v>
                </c:pt>
                <c:pt idx="16">
                  <c:v>61</c:v>
                </c:pt>
                <c:pt idx="17">
                  <c:v>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3000000"/>
          <a:lstStyle/>
          <a:p>
            <a:pPr>
              <a:defRPr sz="9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CF0"/>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Số thực thể</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F1 trên train / validation / test</a:t>
            </a:r>
          </a:p>
        </c:rich>
      </c:tx>
      <c:layout/>
      <c:overlay val="0"/>
    </c:title>
    <c:autoTitleDeleted val="0"/>
    <c:plotArea>
      <c:layout/>
      <c:barChart>
        <c:barDir val="col"/>
        <c:grouping val="clustered"/>
        <c:varyColors val="0"/>
        <c:ser>
          <c:idx val="0"/>
          <c:order val="0"/>
          <c:tx>
            <c:strRef>
              <c:f>Sheet1!$B$1</c:f>
              <c:strCache>
                <c:ptCount val="1"/>
                <c:pt idx="0">
                  <c:v>train</c:v>
                </c:pt>
              </c:strCache>
            </c:strRef>
          </c:tx>
          <c:spPr>
            <a:solidFill>
              <a:srgbClr val="4C72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Sheet1!$B$2:$B$7</c:f>
              <c:numCache>
                <c:formatCode>General</c:formatCode>
                <c:ptCount val="6"/>
                <c:pt idx="0">
                  <c:v>99.4</c:v>
                </c:pt>
                <c:pt idx="1">
                  <c:v>98.6</c:v>
                </c:pt>
                <c:pt idx="2">
                  <c:v>100</c:v>
                </c:pt>
                <c:pt idx="3">
                  <c:v>80.5</c:v>
                </c:pt>
                <c:pt idx="4">
                  <c:v>94.9</c:v>
                </c:pt>
                <c:pt idx="5">
                  <c:v>96.7</c:v>
                </c:pt>
              </c:numCache>
            </c:numRef>
          </c:val>
        </c:ser>
        <c:ser>
          <c:idx val="1"/>
          <c:order val="1"/>
          <c:tx>
            <c:strRef>
              <c:f>Sheet1!$C$1</c:f>
              <c:strCache>
                <c:ptCount val="1"/>
                <c:pt idx="0">
                  <c:v>validation</c:v>
                </c:pt>
              </c:strCache>
            </c:strRef>
          </c:tx>
          <c:spPr>
            <a:solidFill>
              <a:srgbClr val="DD84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Sheet1!$C$2:$C$7</c:f>
              <c:numCache>
                <c:formatCode>General</c:formatCode>
                <c:ptCount val="6"/>
                <c:pt idx="0">
                  <c:v>83.2</c:v>
                </c:pt>
                <c:pt idx="1">
                  <c:v>84.5</c:v>
                </c:pt>
                <c:pt idx="2">
                  <c:v>89.2</c:v>
                </c:pt>
                <c:pt idx="3">
                  <c:v>79.9</c:v>
                </c:pt>
                <c:pt idx="4">
                  <c:v>85.2</c:v>
                </c:pt>
                <c:pt idx="5">
                  <c:v>85.2</c:v>
                </c:pt>
              </c:numCache>
            </c:numRef>
          </c:val>
        </c:ser>
        <c:ser>
          <c:idx val="2"/>
          <c:order val="2"/>
          <c:tx>
            <c:strRef>
              <c:f>Sheet1!$D$1</c:f>
              <c:strCache>
                <c:ptCount val="1"/>
                <c:pt idx="0">
                  <c:v>test</c:v>
                </c:pt>
              </c:strCache>
            </c:strRef>
          </c:tx>
          <c:spPr>
            <a:solidFill>
              <a:srgbClr val="55A86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Sheet1!$D$2:$D$7</c:f>
              <c:numCache>
                <c:formatCode>General</c:formatCode>
                <c:ptCount val="6"/>
                <c:pt idx="0">
                  <c:v>56.2</c:v>
                </c:pt>
                <c:pt idx="1">
                  <c:v>58.1</c:v>
                </c:pt>
                <c:pt idx="2">
                  <c:v>63.8</c:v>
                </c:pt>
                <c:pt idx="3">
                  <c:v>58.6</c:v>
                </c:pt>
                <c:pt idx="4">
                  <c:v>62.4</c:v>
                </c:pt>
                <c:pt idx="5">
                  <c:v>62.7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ViHealthBERT: F1 (%) theo epoch</a:t>
            </a:r>
          </a:p>
        </c:rich>
      </c:tx>
      <c:layout/>
      <c:overlay val="0"/>
    </c:title>
    <c:autoTitleDeleted val="0"/>
    <c:plotArea>
      <c:layout/>
      <c:lineChart>
        <c:varyColors val="0"/>
        <c:ser>
          <c:idx val="0"/>
          <c:order val="0"/>
          <c:tx>
            <c:strRef>
              <c:f>Sheet1!$B$1</c:f>
              <c:strCache>
                <c:ptCount val="1"/>
                <c:pt idx="0">
                  <c:v>train</c:v>
                </c:pt>
              </c:strCache>
            </c:strRef>
          </c:tx>
          <c:spPr>
            <a:solidFill>
              <a:srgbClr val="4C72B0"/>
            </a:solidFill>
            <a:ln w="31750" cap="flat">
              <a:solidFill>
                <a:srgbClr val="4C72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C72B0"/>
              </a:solidFill>
              <a:ln w="9525" cap="flat">
                <a:solidFill>
                  <a:srgbClr val="4C72B0"/>
                </a:solidFill>
                <a:prstDash val="solid"/>
                <a:round/>
              </a:ln>
              <a:effectLst/>
            </c:spPr>
          </c:marker>
          <c:cat>
            <c:multiLvlStrRef>
              <c:f>Sheet1!$A$2:$A$9</c:f>
              <c:multiLvlStrCache>
                <c:ptCount val="8"/>
                <c:lvl>
                  <c:pt idx="0">
                    <c:v>Epoch 1</c:v>
                  </c:pt>
                  <c:pt idx="1">
                    <c:v>Epoch 2</c:v>
                  </c:pt>
                  <c:pt idx="2">
                    <c:v>Epoch 3</c:v>
                  </c:pt>
                  <c:pt idx="3">
                    <c:v>Epoch 4</c:v>
                  </c:pt>
                  <c:pt idx="4">
                    <c:v>Epoch 5</c:v>
                  </c:pt>
                  <c:pt idx="5">
                    <c:v>Epoch 6</c:v>
                  </c:pt>
                  <c:pt idx="6">
                    <c:v>Epoch 7</c:v>
                  </c:pt>
                  <c:pt idx="7">
                    <c:v>Epoch 8</c:v>
                  </c:pt>
                </c:lvl>
              </c:multiLvlStrCache>
            </c:multiLvlStrRef>
          </c:cat>
          <c:val>
            <c:numRef>
              <c:f>Sheet1!$B$2:$B$9</c:f>
              <c:numCache>
                <c:formatCode>General</c:formatCode>
                <c:ptCount val="8"/>
                <c:pt idx="0">
                  <c:v>60</c:v>
                </c:pt>
                <c:pt idx="1">
                  <c:v>81.4</c:v>
                </c:pt>
                <c:pt idx="2">
                  <c:v>87.3</c:v>
                </c:pt>
                <c:pt idx="3">
                  <c:v>91.6</c:v>
                </c:pt>
                <c:pt idx="4">
                  <c:v>93.9</c:v>
                </c:pt>
                <c:pt idx="5">
                  <c:v>95.2</c:v>
                </c:pt>
                <c:pt idx="6">
                  <c:v>96.5</c:v>
                </c:pt>
                <c:pt idx="7">
                  <c:v>96.8</c:v>
                </c:pt>
              </c:numCache>
            </c:numRef>
          </c:val>
          <c:smooth val="0"/>
        </c:ser>
        <c:ser>
          <c:idx val="1"/>
          <c:order val="1"/>
          <c:tx>
            <c:strRef>
              <c:f>Sheet1!$C$1</c:f>
              <c:strCache>
                <c:ptCount val="1"/>
                <c:pt idx="0">
                  <c:v>validation</c:v>
                </c:pt>
              </c:strCache>
            </c:strRef>
          </c:tx>
          <c:spPr>
            <a:solidFill>
              <a:srgbClr val="DD8452"/>
            </a:solidFill>
            <a:ln w="31750" cap="flat">
              <a:solidFill>
                <a:srgbClr val="DD84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D8452"/>
              </a:solidFill>
              <a:ln w="9525" cap="flat">
                <a:solidFill>
                  <a:srgbClr val="DD8452"/>
                </a:solidFill>
                <a:prstDash val="solid"/>
                <a:round/>
              </a:ln>
              <a:effectLst/>
            </c:spPr>
          </c:marker>
          <c:cat>
            <c:multiLvlStrRef>
              <c:f>Sheet1!$A$2:$A$9</c:f>
              <c:multiLvlStrCache>
                <c:ptCount val="8"/>
                <c:lvl>
                  <c:pt idx="0">
                    <c:v>Epoch 1</c:v>
                  </c:pt>
                  <c:pt idx="1">
                    <c:v>Epoch 2</c:v>
                  </c:pt>
                  <c:pt idx="2">
                    <c:v>Epoch 3</c:v>
                  </c:pt>
                  <c:pt idx="3">
                    <c:v>Epoch 4</c:v>
                  </c:pt>
                  <c:pt idx="4">
                    <c:v>Epoch 5</c:v>
                  </c:pt>
                  <c:pt idx="5">
                    <c:v>Epoch 6</c:v>
                  </c:pt>
                  <c:pt idx="6">
                    <c:v>Epoch 7</c:v>
                  </c:pt>
                  <c:pt idx="7">
                    <c:v>Epoch 8</c:v>
                  </c:pt>
                </c:lvl>
              </c:multiLvlStrCache>
            </c:multiLvlStrRef>
          </c:cat>
          <c:val>
            <c:numRef>
              <c:f>Sheet1!$C$2:$C$9</c:f>
              <c:numCache>
                <c:formatCode>General</c:formatCode>
                <c:ptCount val="8"/>
                <c:pt idx="0">
                  <c:v>58.5</c:v>
                </c:pt>
                <c:pt idx="1">
                  <c:v>75.7</c:v>
                </c:pt>
                <c:pt idx="2">
                  <c:v>81.2</c:v>
                </c:pt>
                <c:pt idx="3">
                  <c:v>83</c:v>
                </c:pt>
                <c:pt idx="4">
                  <c:v>84.4</c:v>
                </c:pt>
                <c:pt idx="5">
                  <c:v>84.2</c:v>
                </c:pt>
                <c:pt idx="6">
                  <c:v>85.2</c:v>
                </c:pt>
                <c:pt idx="7">
                  <c:v>85.1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CRF: F1 (%) theo kích thước tập train</a:t>
            </a:r>
          </a:p>
        </c:rich>
      </c:tx>
      <c:layout/>
      <c:overlay val="0"/>
    </c:title>
    <c:autoTitleDeleted val="0"/>
    <c:plotArea>
      <c:layout/>
      <c:lineChart>
        <c:varyColors val="0"/>
        <c:ser>
          <c:idx val="0"/>
          <c:order val="0"/>
          <c:tx>
            <c:strRef>
              <c:f>Sheet1!$B$1</c:f>
              <c:strCache>
                <c:ptCount val="1"/>
                <c:pt idx="0">
                  <c:v>train</c:v>
                </c:pt>
              </c:strCache>
            </c:strRef>
          </c:tx>
          <c:spPr>
            <a:solidFill>
              <a:srgbClr val="4C72B0"/>
            </a:solidFill>
            <a:ln w="31750" cap="flat">
              <a:solidFill>
                <a:srgbClr val="4C72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C72B0"/>
              </a:solidFill>
              <a:ln w="9525" cap="flat">
                <a:solidFill>
                  <a:srgbClr val="4C72B0"/>
                </a:solidFill>
                <a:prstDash val="solid"/>
                <a:round/>
              </a:ln>
              <a:effectLst/>
            </c:spPr>
          </c:marker>
          <c:cat>
            <c:multiLvlStrRef>
              <c:f>Sheet1!$A$2:$A$6</c:f>
              <c:multiLvlStrCache>
                <c:ptCount val="5"/>
                <c:lvl>
                  <c:pt idx="0">
                    <c:v>461 câu</c:v>
                  </c:pt>
                  <c:pt idx="1">
                    <c:v>1.154 câu</c:v>
                  </c:pt>
                  <c:pt idx="2">
                    <c:v>2.308 câu</c:v>
                  </c:pt>
                  <c:pt idx="3">
                    <c:v>3.462 câu</c:v>
                  </c:pt>
                  <c:pt idx="4">
                    <c:v>4.616 câu</c:v>
                  </c:pt>
                </c:lvl>
              </c:multiLvlStrCache>
            </c:multiLvlStrRef>
          </c:cat>
          <c:val>
            <c:numRef>
              <c:f>Sheet1!$B$2:$B$6</c:f>
              <c:numCache>
                <c:formatCode>General</c:formatCode>
                <c:ptCount val="5"/>
                <c:pt idx="0">
                  <c:v>100</c:v>
                </c:pt>
                <c:pt idx="1">
                  <c:v>100</c:v>
                </c:pt>
                <c:pt idx="2">
                  <c:v>100</c:v>
                </c:pt>
                <c:pt idx="3">
                  <c:v>100</c:v>
                </c:pt>
                <c:pt idx="4">
                  <c:v>100</c:v>
                </c:pt>
              </c:numCache>
            </c:numRef>
          </c:val>
          <c:smooth val="0"/>
        </c:ser>
        <c:ser>
          <c:idx val="1"/>
          <c:order val="1"/>
          <c:tx>
            <c:strRef>
              <c:f>Sheet1!$C$1</c:f>
              <c:strCache>
                <c:ptCount val="1"/>
                <c:pt idx="0">
                  <c:v>validation</c:v>
                </c:pt>
              </c:strCache>
            </c:strRef>
          </c:tx>
          <c:spPr>
            <a:solidFill>
              <a:srgbClr val="DD8452"/>
            </a:solidFill>
            <a:ln w="31750" cap="flat">
              <a:solidFill>
                <a:srgbClr val="DD84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D8452"/>
              </a:solidFill>
              <a:ln w="9525" cap="flat">
                <a:solidFill>
                  <a:srgbClr val="DD8452"/>
                </a:solidFill>
                <a:prstDash val="solid"/>
                <a:round/>
              </a:ln>
              <a:effectLst/>
            </c:spPr>
          </c:marker>
          <c:cat>
            <c:multiLvlStrRef>
              <c:f>Sheet1!$A$2:$A$6</c:f>
              <c:multiLvlStrCache>
                <c:ptCount val="5"/>
                <c:lvl>
                  <c:pt idx="0">
                    <c:v>461 câu</c:v>
                  </c:pt>
                  <c:pt idx="1">
                    <c:v>1.154 câu</c:v>
                  </c:pt>
                  <c:pt idx="2">
                    <c:v>2.308 câu</c:v>
                  </c:pt>
                  <c:pt idx="3">
                    <c:v>3.462 câu</c:v>
                  </c:pt>
                  <c:pt idx="4">
                    <c:v>4.616 câu</c:v>
                  </c:pt>
                </c:lvl>
              </c:multiLvlStrCache>
            </c:multiLvlStrRef>
          </c:cat>
          <c:val>
            <c:numRef>
              <c:f>Sheet1!$C$2:$C$6</c:f>
              <c:numCache>
                <c:formatCode>General</c:formatCode>
                <c:ptCount val="5"/>
                <c:pt idx="0">
                  <c:v>70.3</c:v>
                </c:pt>
                <c:pt idx="1">
                  <c:v>79.2</c:v>
                </c:pt>
                <c:pt idx="2">
                  <c:v>84.2</c:v>
                </c:pt>
                <c:pt idx="3">
                  <c:v>86.8</c:v>
                </c:pt>
                <c:pt idx="4">
                  <c:v>89.2</c:v>
                </c:pt>
              </c:numCache>
            </c:numRef>
          </c:val>
          <c:smooth val="0"/>
        </c:ser>
        <c:ser>
          <c:idx val="2"/>
          <c:order val="2"/>
          <c:tx>
            <c:strRef>
              <c:f>Sheet1!$D$1</c:f>
              <c:strCache>
                <c:ptCount val="1"/>
                <c:pt idx="0">
                  <c:v>test</c:v>
                </c:pt>
              </c:strCache>
            </c:strRef>
          </c:tx>
          <c:spPr>
            <a:solidFill>
              <a:srgbClr val="55A868"/>
            </a:solidFill>
            <a:ln w="31750" cap="flat">
              <a:solidFill>
                <a:srgbClr val="55A86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5A868"/>
              </a:solidFill>
              <a:ln w="9525" cap="flat">
                <a:solidFill>
                  <a:srgbClr val="55A868"/>
                </a:solidFill>
                <a:prstDash val="solid"/>
                <a:round/>
              </a:ln>
              <a:effectLst/>
            </c:spPr>
          </c:marker>
          <c:cat>
            <c:multiLvlStrRef>
              <c:f>Sheet1!$A$2:$A$6</c:f>
              <c:multiLvlStrCache>
                <c:ptCount val="5"/>
                <c:lvl>
                  <c:pt idx="0">
                    <c:v>461 câu</c:v>
                  </c:pt>
                  <c:pt idx="1">
                    <c:v>1.154 câu</c:v>
                  </c:pt>
                  <c:pt idx="2">
                    <c:v>2.308 câu</c:v>
                  </c:pt>
                  <c:pt idx="3">
                    <c:v>3.462 câu</c:v>
                  </c:pt>
                  <c:pt idx="4">
                    <c:v>4.616 câu</c:v>
                  </c:pt>
                </c:lvl>
              </c:multiLvlStrCache>
            </c:multiLvlStrRef>
          </c:cat>
          <c:val>
            <c:numRef>
              <c:f>Sheet1!$D$2:$D$6</c:f>
              <c:numCache>
                <c:formatCode>General</c:formatCode>
                <c:ptCount val="5"/>
                <c:pt idx="0">
                  <c:v>41.1</c:v>
                </c:pt>
                <c:pt idx="1">
                  <c:v>47.8</c:v>
                </c:pt>
                <c:pt idx="2">
                  <c:v>56.9</c:v>
                </c:pt>
                <c:pt idx="3">
                  <c:v>62.4</c:v>
                </c:pt>
                <c:pt idx="4">
                  <c:v>63.8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3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Arial"/>
              </a:defRPr>
            </a:pPr>
            <a:r>
              <a:rPr sz="1300" b="0" i="0" u="none" strike="noStrike">
                <a:solidFill>
                  <a:srgbClr val="0F2A3D"/>
                </a:solidFill>
                <a:latin typeface="Arial"/>
              </a:rPr>
              <a:t>Recall trên test (%)</a:t>
            </a:r>
          </a:p>
        </c:rich>
      </c:tx>
      <c:layout/>
      <c:overlay val="0"/>
    </c:title>
    <c:autoTitleDeleted val="0"/>
    <c:plotArea>
      <c:layout/>
      <c:barChart>
        <c:barDir val="col"/>
        <c:grouping val="clustered"/>
        <c:varyColors val="0"/>
        <c:ser>
          <c:idx val="0"/>
          <c:order val="0"/>
          <c:tx>
            <c:strRef>
              <c:f>Sheet1!$B$1</c:f>
              <c:strCache>
                <c:ptCount val="1"/>
                <c:pt idx="0">
                  <c:v>Đã gặp trong train</c:v>
                </c:pt>
              </c:strCache>
            </c:strRef>
          </c:tx>
          <c:spPr>
            <a:solidFill>
              <a:srgbClr val="4C72B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Sheet1!$B$2:$B$7</c:f>
              <c:numCache>
                <c:formatCode>General</c:formatCode>
                <c:ptCount val="6"/>
                <c:pt idx="0">
                  <c:v>81.2</c:v>
                </c:pt>
                <c:pt idx="1">
                  <c:v>87.1</c:v>
                </c:pt>
                <c:pt idx="2">
                  <c:v>83.2</c:v>
                </c:pt>
                <c:pt idx="3">
                  <c:v>77.3</c:v>
                </c:pt>
                <c:pt idx="4">
                  <c:v>84.3</c:v>
                </c:pt>
                <c:pt idx="5">
                  <c:v>83.9</c:v>
                </c:pt>
              </c:numCache>
            </c:numRef>
          </c:val>
        </c:ser>
        <c:ser>
          <c:idx val="1"/>
          <c:order val="1"/>
          <c:tx>
            <c:strRef>
              <c:f>Sheet1!$C$1</c:f>
              <c:strCache>
                <c:ptCount val="1"/>
                <c:pt idx="0">
                  <c:v>Chưa gặp trong train</c:v>
                </c:pt>
              </c:strCache>
            </c:strRef>
          </c:tx>
          <c:spPr>
            <a:solidFill>
              <a:srgbClr val="E4572E"/>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LogReg</c:v>
                  </c:pt>
                  <c:pt idx="1">
                    <c:v>Linear SVM</c:v>
                  </c:pt>
                  <c:pt idx="2">
                    <c:v>CRF</c:v>
                  </c:pt>
                  <c:pt idx="3">
                    <c:v>XLM-R</c:v>
                  </c:pt>
                  <c:pt idx="4">
                    <c:v>PhoBERT</c:v>
                  </c:pt>
                  <c:pt idx="5">
                    <c:v>ViHealthBERT</c:v>
                  </c:pt>
                </c:lvl>
              </c:multiLvlStrCache>
            </c:multiLvlStrRef>
          </c:cat>
          <c:val>
            <c:numRef>
              <c:f>Sheet1!$C$2:$C$7</c:f>
              <c:numCache>
                <c:formatCode>General</c:formatCode>
                <c:ptCount val="6"/>
                <c:pt idx="0">
                  <c:v>4.9</c:v>
                </c:pt>
                <c:pt idx="1">
                  <c:v>5.4</c:v>
                </c:pt>
                <c:pt idx="2">
                  <c:v>13.9</c:v>
                </c:pt>
                <c:pt idx="3">
                  <c:v>41.2</c:v>
                </c:pt>
                <c:pt idx="4">
                  <c:v>35.6</c:v>
                </c:pt>
                <c:pt idx="5">
                  <c:v>41.9</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và các bạn. Nhóm 8 trình bày đồ án môn Máy học: nhận dạng thực thể y tế trong hội thoại tiếng Việt. Nhóm so sánh sáu mô hình, từ Logistic Regression, Linear SVM, CRF đến ba Transformer XLM-RoBERTa, PhoBERT và ViHealthBERT, trên bộ dữ liệu VietMed-NER. Giảng viên hướng dẫn: Thầy Đặng Văn Thìn. Thời gian: 30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là nhận dạng thực thể có tên trong transcript hội thoại y tế. Đây là một khâu trong hệ thống âm thanh → ASR → văn bản → NER, dùng để hỗ trợ ghi chép hồ sơ y tế; đồ án tập trung vào khâu NER. Mỗi âm tiết được gán một nhãn BIO: B-X là âm tiết đầu của thực thể loại X, I-X là âm tiết tiếp theo, O là ngoài thực thể. Có 18 loại thực thể, tức 37 nhãn. Ví dụ lấy từ tập test: "rong huyết" và "rong kinh" đều là DISEASESYMTOM. Dữ liệu là văn bản, không phải bảng, ảnh hay video, nên EDA và tiền xử lý được thiết kế riêng cho văn bản. Thời gian: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leduckhai/VietMed-NER được xây dựng từ transcript của VietMed, bộ dữ liệu âm thanh y tế tiếng Việt thật. Có sẵn ba tập: train 4.616 câu, validation 1.154 câu, test 3.497 câu; tổng cộng 9.267 câu và 22.974 thực thể. Về gán nhãn: hai người gán nhãn độc lập, một người có nền tảng y khoa; xung đột được giải quyết qua thảo luận, sau đó hai người khác rà soát toàn bộ corpus nhiều lần. Lưu ý test có câu ngắn hơn: trung vị 20 âm tiết so với 26 ở train. Thời gian: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Mất cân bằng lớp rất nặng. Khoảng 78,5% token ở train mang nhãn O. Ở mức thực thể, lớp lớn nhất DISEASESYMTOM có 2.975 mẫu train, nhiều gấp khoảng 600 lần lớp nhỏ nhất TRANSPORTATION chỉ có 5 mẫu. ORGANIZATION và TRANSPORTATION có dưới 20 mẫu train. Mất cân bằng còn xảy ra giữa các tập: train và validation có phân bố gần giống nhau, nhưng test lệch rõ. PREVENTIVEMED chiếm 2,9% thực thể ở train nhưng chỉ 0,2% ở test; MEDDEVICETECHNIQUE tăng từ 2,8% lên 7,6%; GENDER tăng từ 1,8% lên 6,7%. Hệ quả: accuracy mức token không có ý nghĩa (đoán toàn O đã đạt gần 79%), nên nhóm dùng F1 mức thực thể.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đối chiếu từng câu của VietMed-NER với transcript gốc của VietMed. 100% câu của train và validation khớp với VietMed train, dev và cv, tổng 5.770 câu, và hai tập này được chia ngẫu nhiên từ chung một nguồn. Test gồm 3.437 câu khớp VietMed test và 60 câu không khớp chính xác. Nhóm bệnh ICD-10 và ngữ cảnh ghi âm của ba tập VietMed gần như không trùng nhau: test chủ yếu là podcast, talkshow, bài giảng, tin tức. Bằng chứng định lượng rõ nhất: tỉ lệ token chưa gặp là 0,42% ở validation nhưng 1,83% ở test; tỉ lệ thực thể có dạng chữ chưa gặp là 6,7% so với 30,7%. Điều này dự báo mô hình dựa vào ghi nhớ từ vựng sẽ giữ điểm cao trên validation nhưng giảm mạnh trên test.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tra chất lượng: không có câu rỗng, token rỗng, không lệch số âm tiết và số nhãn, không có token chưa chuẩn hoá NFC, không chữ hoa, không dấu câu. Nghĩa là không có giá trị thiếu và không phải điền hay loại bỏ mẫu nào. Có 23 chuỗi BIO lỗi, 16 ở train và 7 ở test, chiếm chưa tới 0,02% token; nhóm giữ nguyên để không làm thay đổi tập đánh giá chính thức, seqeval coi I- đó là đầu thực thể mới. Mã hoá: 37 nhãn được ánh xạ sang số nguyên chỉ dựa trên train; nhãn O của dataset được lưu là chuỗi "0", nhóm đổi thành "O". Với Transformer, nhãn gán cho subword đầu, các subword còn lại nhận -100. Với mô hình cổ điển, đặc trưng thủ công được DictVectorizer biến thành vector thưa 77.424 chiều. Thời gian: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mô hình đi từ đơn giản đến phức tạp: hai mô hình phân loại từng token độc lập là Logistic Regression và Linear SVM; một mô hình chuỗi cổ điển là CRF; và ba Transformer. Siêu tham số cổ điển: Logistic Regression thử C ∈ {0,1; 1; 10; 30}, chọn C = 10; Linear SVM thử C ∈ {0,01; 0,1; 1; 3; 10}, chọn C = 1; CRF dò lưới c1 × c2, tốt nhất c1 = 0,1, c2 = 0,01. XLM-R là checkpoint của tác giả bộ dữ liệu, không train lại. PhoBERT và ViHealthBERT: lưới 18 cấu hình gồm learning rate {5e-6; 1e-5; 3e-5} × số epoch {4; 6; 8} × weight decay {0,01; 0,05}; cấu hình tốt nhất huấn luyện lại với 3 seed và chọn theo F1 validation. Hình: F1 validation tăng đơn điệu theo learning rate và số epoch. Với lr 5e-6 và 4 epoch, PhoBERT chỉ đạt 36,65%: underfitting. Cấu hình tốt nhất nằm ở biên lưới. Lưu ý: số trong hình dùng cách chấm của notebook gốc nên thấp hơn các bảng sau khoảng 1–2 điểm.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Tất cả được chấm cùng một thước đo: F1 mức thực thể, seqeval strict, khớp chính xác cả ranh giới lẫn loại. Mô hình tốt nhất trên test là CRF với F1 63,80%. ViHealthBERT 62,74% và PhoBERT 62,42% đứng ngay sau. Linear SVM 58,10%, Logistic Regression 56,23%, XLM-R 58,62%. PhoBERT và ViHealthBERT có recall cao, khoảng 69,4–71,0%, nhưng precision thấp, khoảng 56,2–56,7%, tức đoán dư thực thể. CRF là mô hình duy nhất có precision cao hơn recall, 65,8% so với 61,9%: nó chỉ gán nhãn khi gặp mẫu quen thuộc. Macro F1 thấp hơn micro F1 khoảng 5–11 điểm vì các lớp hiếm có F1 gần 0. Biểu đồ: khoảng cách giữa validation và test lớn hơn nhiều so với giữa train và validation. Thời gian: 1 phút 30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biết chênh lệch có thật hay do ngẫu nhiên, nhóm dùng paired bootstrap: lấy mẫu lại 3.497 câu test 2.000 lần, dùng cùng các mẫu cho mọi mô hình, rồi lấy khoảng 2,5–97,5% của hiệu F1. CRF hơn ViHealthBERT 1,05 điểm; khoảng tin cậy +0,08 đến +2,05 nằm trên 0 nhưng cận dưới rất sát 0, nên đây là lợi thế nhỏ. ViHealthBERT và PhoBERT không có ý nghĩa thống kê, khoảng tin cậy −0,41 đến +1,04 chứa 0, tức hai mô hình ngang nhau. Việc thêm quan hệ giữa các nhãn liền kề, tức CRF so với Linear SVM dùng cùng đặc trưng, mang lại 5,70 điểm và có ý nghĩa thống kê.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có đường cong học theo epoch, nhóm huấn luyện lại ViHealthBERT với cấu hình đã chọn và sau mỗi epoch chấm lại loss và F1 trên toàn bộ train và validation. Ở epoch 1, train F1 60,0% và validation F1 58,5% đều thấp: underfitting. Từ epoch 2 đến 5, hai đường cùng tăng nhanh. Từ epoch 5, train loss tiếp tục giảm từ 0,056 xuống 0,032, train F1 lên 96,81%, trong khi validation loss đi ngang quanh 0,178 và validation F1 dừng ở khoảng 84,4–85,2%. Khoảng cách 11,7 điểm ở epoch cuối là overfitting ở mức vừa phải. Bản huấn luyện lại đạt F1 test 62,15%, gần checkpoint gốc 62,74%, tức kết quả tái lập được. CRF: train F1 gần 100% ở mọi kích thước tập train, tức ghi nhớ gần như toàn bộ dữ liệu. Validation F1 tăng từ 70,3% lên 89,2%, test F1 tăng từ 41,1% lên 63,8% và chưa bão hoà. Tổng hợp: khoảng cách train–validation của các mô hình được huấn luyện là 9,6–16,2 điểm, còn khoảng cách validation–test 21–27 điểm lớn hơn, nên lệch miền mới là nguyên nhân chính, không phải overfitting. Thời gian: 1 phút 30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confusion matrix mức token của ViHealthBERT trên test, chuẩn hoá theo hàng; báo cáo có đủ confusion matrix cho cả sáu mô hình. Các cặp hay bị nhầm: DISEASESYMTOM bị cắt thành ORGAN, ví dụ "tiêu xương" thành "xương" 24 lần, "ra máu" thành "máu" 11 lần: mô hình nhận ra tên cơ quan nhưng bỏ phần mô tả bệnh. SURGERY bị đoán thành MEDDEVICETECHNIQUE: "implant" 40 lần, "cấy que tránh thai" 14 lần. MEDDEVICETECHNIQUE chỉ khoảng một phần ba token được đoán đúng. ORGANIZATION bị đoán thành LOCATION: "chính phủ" 9 lần. Bảng bên phải: ở mọi mô hình, phần lớn lỗi là lệch ranh giới và đoán thừa. Hai mô hình phân loại từng token có nhiều lỗi lệch ranh giới nhất; CRF bỏ sót nhiều nhất nhưng đoán thừa ít nhất.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dữ liệu ảnh, độ khó của mẫu có thể là ảnh mờ hay rõ. Với văn bản, yếu tố tương đương là thực thể đã gặp trong train hay chưa. Với thực thể đã gặp, các mô hình khá gần nhau, khoảng 77–87%, Linear SVM thậm chí cao nhất. Với thực thể chưa gặp, khác biệt rất lớn: ba mô hình cổ điển chỉ nhận ra 4,9–13,9%, còn ViHealthBERT nhận ra 41,9%. CRF: 83,2% với thực thể đã gặp nhưng chỉ 13,9% với thực thể chưa gặp; ViHealthBERT: 83,9% và 41,9%, gấp khoảng 3 lần CRF. Ví dụ thật trên test: "rong huyết như vậy mình sẽ phân biệt với rong kinh và rong huyết". ViHealthBERT đúng cả 3 thực thể; CRF chỉ nhận "huyết" thành ORGAN, hai lần. Vì 69% thực thể trong test đã gặp ở train, lợi thế ghi nhớ đủ để CRF dẫn đầu về F1 tổng.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từng token so với mô hình chuỗi: Logistic Regression và Linear SVM dùng cùng đặc trưng với CRF nhưng kém CRF 7,6 và 5,7 điểm F1 test. Chúng dự đoán từng âm tiết độc lập nên tạo nhiều chuỗi nhãn vô lý: trên test, Logistic Regression sinh 1.127 và Linear SVM 1.175 lần chuyển nhãn không hợp lệ; CRF chỉ có 9 lần, các Transformer 595–778 lần. CRF học xác suất chuyển giữa nhãn liền kề nên ranh giới chính xác hơn. CRF thắng trên test nhờ đặc trưng từ vựng giúp nhớ chính xác thuật ngữ y khoa, và 69% thực thể test đã xuất hiện trong train; nhược điểm là overfit mạnh và chỉ nhận ra 13,9% thực thể mới. ViHealthBERT tổng quát hoá tốt nhất: 41,9% thực thể mới, gấp khoảng 3 lần CRF, nhờ pretrain thêm trên văn bản y tế. XLM-R kém nhất trong nhóm Transformer dù nhiều tham số nhất. Kết luận chọn mô hình: dữ liệu lặp lại thuật ngữ đã có thì CRF; hội thoại chủ đề bệnh mới như tập test thì ViHealthBERT.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báo VietMed-NER báo XLM-R base đạt F1 0,69 và PhoBERT-base-v2 đạt 0,74 trên test, cao hơn nhiều so với số của nhóm. Nguyên nhân là khác thước đo: bài báo dùng F1 kiểu SLUE, so khớp tập hợp các cặp loại và âm tiết mà không xét ranh giới thực thể. Thước đo này dễ hơn seqeval strict. Chấm lại cùng các dự đoán bằng SLUE: với cùng checkpoint XLM-R của tác giả, nhóm được 68,53%, khớp với 69% của bài báo. Như vậy phần lớn khoảng cách đến từ thước đo. PhoBERT vẫn thấp hơn bài báo khoảng 3 điểm, có thể do bài báo dùng input đã tách từ và huấn luyện 50 epoch với batch 64. Theo SLUE, ViHealthBERT đứng đầu với 71,82% và CRF đứng sau các Transformer, vì Transformer nhận ra nhiều âm tiết thuộc thực thể hơn dù ranh giới chưa chính xác. Nhóm chọn strict vì ứng dụng cần trích xuất đúng cả cụm.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trên validation cùng miền, năm mô hình do nhóm huấn luyện đạt F1 khoảng 83–89%; trên test khác miền chỉ đạt 56–64%. Theo strict, CRF là mô hình tốt nhất trên test với F1 63,80%, lợi thế nhỏ nhưng có ý nghĩa thống kê so với ViHealthBERT. Mô hình chuỗi CRF vượt rõ mô hình phân loại từng token dùng cùng đặc trưng. ViHealthBERT và PhoBERT ngang nhau, và ViHealthBERT tổng quát hoá sang thực thể mới tốt nhất. Nút thắt chính nằm ở dữ liệu: lệch miền, mất cân bằng lớp và ranh giới nhãn mơ hồ. Hướng phát triển: BERT-CRF; trọng số lớp hoặc oversampling; mở rộng lưới siêu tham số; tách từ VnCoreNLP cho PhoBERT; bổ sung dữ liệu cùng miền test hoặc từ điển thuật ngữ y khoa. Phần mở rộng pipeline âm thanh: với LoRA sửa lỗi transcript, train loss giảm đều qua 3 epoch trong khi WER dev tăng, nên early stopping chọn epoch 1: một ví dụ overfitting điển hình. Vì mô hình sửa nhầm 17–22% câu vốn đã đúng, chỉ nên gợi ý để người dùng duyệt, không áp dụng tự động. Thời gian: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đã lắng nghe. Nhóm sẵn sàng trả lời câu hỏi. Thời gian: 15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D"/>
        </a:solidFill>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roundRect">
            <a:avLst>
              <a:gd name="adj" fmla="val 8421"/>
            </a:avLst>
          </a:prstGeom>
          <a:solidFill>
            <a:srgbClr val="FFFFFF"/>
          </a:solidFill>
          <a:ln w="12700">
            <a:solidFill>
              <a:srgbClr val="FFFFFF"/>
            </a:solidFill>
            <a:prstDash val="solid"/>
          </a:ln>
        </p:spPr>
      </p:sp>
      <p:pic>
        <p:nvPicPr>
          <p:cNvPr id="3" name="Image 0" descr="Logo UIT">    </p:cNvPr>
          <p:cNvPicPr>
            <a:picLocks noChangeAspect="1"/>
          </p:cNvPicPr>
          <p:nvPr/>
        </p:nvPicPr>
        <p:blipFill>
          <a:blip r:embed="rId1"/>
          <a:stretch>
            <a:fillRect/>
          </a:stretch>
        </p:blipFill>
        <p:spPr>
          <a:xfrm>
            <a:off x="685800" y="548640"/>
            <a:ext cx="777240" cy="777240"/>
          </a:xfrm>
          <a:prstGeom prst="rect">
            <a:avLst/>
          </a:prstGeom>
        </p:spPr>
      </p:pic>
      <p:sp>
        <p:nvSpPr>
          <p:cNvPr id="4" name="Text 1"/>
          <p:cNvSpPr txBox="1"/>
          <p:nvPr/>
        </p:nvSpPr>
        <p:spPr>
          <a:xfrm>
            <a:off x="1691640" y="566928"/>
            <a:ext cx="548640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TRƯỜNG ĐẠI HỌC CÔNG NGHỆ THÔNG TIN</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ĐẠI HỌC QUỐC GIA TP. HỒ CHÍ MINH</a:t>
            </a:r>
            <a:endParaRPr lang="en-US" sz="1300" dirty="0"/>
          </a:p>
        </p:txBody>
      </p:sp>
      <p:sp>
        <p:nvSpPr>
          <p:cNvPr id="5" name="Text 2"/>
          <p:cNvSpPr txBox="1"/>
          <p:nvPr/>
        </p:nvSpPr>
        <p:spPr>
          <a:xfrm>
            <a:off x="640080" y="1828800"/>
            <a:ext cx="749808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Nhận dạng thực thể y tế</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trong hội thoại tiếng Việt</a:t>
            </a:r>
            <a:endParaRPr lang="en-US" sz="4400" dirty="0"/>
          </a:p>
        </p:txBody>
      </p:sp>
      <p:sp>
        <p:nvSpPr>
          <p:cNvPr id="6" name="Text 3"/>
          <p:cNvSpPr txBox="1"/>
          <p:nvPr/>
        </p:nvSpPr>
        <p:spPr>
          <a:xfrm>
            <a:off x="640080" y="3611880"/>
            <a:ext cx="7498080" cy="457200"/>
          </a:xfrm>
          <a:prstGeom prst="rect">
            <a:avLst/>
          </a:prstGeom>
          <a:noFill/>
          <a:ln/>
        </p:spPr>
        <p:txBody>
          <a:bodyPr wrap="square" lIns="0" tIns="0" rIns="0" bIns="0" rtlCol="0" anchor="ctr"/>
          <a:lstStyle/>
          <a:p>
            <a:pPr indent="0" marL="0">
              <a:buNone/>
            </a:pPr>
            <a:r>
              <a:rPr lang="en-US" sz="2000" dirty="0">
                <a:solidFill>
                  <a:srgbClr val="9FD8CF"/>
                </a:solidFill>
                <a:latin typeface="Calibri" pitchFamily="34" charset="0"/>
                <a:ea typeface="Calibri" pitchFamily="34" charset="-122"/>
                <a:cs typeface="Calibri" pitchFamily="34" charset="-120"/>
              </a:rPr>
              <a:t>So sánh 6 mô hình học máy trên VietMed-NER</a:t>
            </a:r>
            <a:endParaRPr lang="en-US" sz="2000" dirty="0"/>
          </a:p>
        </p:txBody>
      </p:sp>
      <p:sp>
        <p:nvSpPr>
          <p:cNvPr id="7" name="Text 4"/>
          <p:cNvSpPr txBox="1"/>
          <p:nvPr/>
        </p:nvSpPr>
        <p:spPr>
          <a:xfrm>
            <a:off x="640080" y="4754880"/>
            <a:ext cx="6400800" cy="1097280"/>
          </a:xfrm>
          <a:prstGeom prst="rect">
            <a:avLst/>
          </a:prstGeom>
          <a:noFill/>
          <a:ln/>
        </p:spPr>
        <p:txBody>
          <a:bodyPr wrap="square" lIns="0" tIns="0" rIns="0" bIns="0" rtlCol="0" anchor="ctr"/>
          <a:lstStyle/>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Môn học: Máy học</a:t>
            </a:r>
            <a:endParaRPr lang="en-US" sz="1600" dirty="0"/>
          </a:p>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Giảng viên hướng dẫn: Đặng Văn Thìn</a:t>
            </a:r>
            <a:endParaRPr lang="en-US" sz="1600" dirty="0"/>
          </a:p>
          <a:p>
            <a:pPr indent="0" marL="0">
              <a:spcAft>
                <a:spcPts val="400"/>
              </a:spcAft>
              <a:buNone/>
            </a:pPr>
            <a:r>
              <a:rPr lang="en-US" sz="1600" dirty="0">
                <a:solidFill>
                  <a:srgbClr val="D6E2EA"/>
                </a:solidFill>
                <a:latin typeface="Calibri" pitchFamily="34" charset="0"/>
                <a:ea typeface="Calibri" pitchFamily="34" charset="-122"/>
                <a:cs typeface="Calibri" pitchFamily="34" charset="-120"/>
              </a:rPr>
              <a:t>Nhóm thực hiện: Nhóm 8</a:t>
            </a:r>
            <a:endParaRPr lang="en-US" sz="1600" dirty="0"/>
          </a:p>
        </p:txBody>
      </p:sp>
      <p:sp>
        <p:nvSpPr>
          <p:cNvPr id="8" name="Shape 5"/>
          <p:cNvSpPr/>
          <p:nvPr/>
        </p:nvSpPr>
        <p:spPr>
          <a:xfrm>
            <a:off x="8595360" y="1737360"/>
            <a:ext cx="2971800" cy="1188720"/>
          </a:xfrm>
          <a:prstGeom prst="roundRect">
            <a:avLst>
              <a:gd name="adj" fmla="val 7692"/>
            </a:avLst>
          </a:prstGeom>
          <a:solidFill>
            <a:srgbClr val="17384F"/>
          </a:solidFill>
          <a:ln w="12700">
            <a:solidFill>
              <a:srgbClr val="17384F"/>
            </a:solidFill>
            <a:prstDash val="solid"/>
          </a:ln>
        </p:spPr>
      </p:sp>
      <p:sp>
        <p:nvSpPr>
          <p:cNvPr id="9" name="Text 6"/>
          <p:cNvSpPr txBox="1"/>
          <p:nvPr/>
        </p:nvSpPr>
        <p:spPr>
          <a:xfrm>
            <a:off x="8778240" y="1828800"/>
            <a:ext cx="2651760" cy="594360"/>
          </a:xfrm>
          <a:prstGeom prst="rect">
            <a:avLst/>
          </a:prstGeom>
          <a:noFill/>
          <a:ln/>
        </p:spPr>
        <p:txBody>
          <a:bodyPr wrap="square" lIns="0" tIns="0" rIns="0" bIns="0" rtlCol="0" anchor="ctr"/>
          <a:lstStyle/>
          <a:p>
            <a:pPr indent="0" marL="0">
              <a:buNone/>
            </a:pPr>
            <a:r>
              <a:rPr lang="en-US" sz="3200" b="1" dirty="0">
                <a:solidFill>
                  <a:srgbClr val="E4572E"/>
                </a:solidFill>
                <a:latin typeface="Cambria" pitchFamily="34" charset="0"/>
                <a:ea typeface="Cambria" pitchFamily="34" charset="-122"/>
                <a:cs typeface="Cambria" pitchFamily="34" charset="-120"/>
              </a:rPr>
              <a:t>6</a:t>
            </a:r>
            <a:endParaRPr lang="en-US" sz="3200" dirty="0"/>
          </a:p>
        </p:txBody>
      </p:sp>
      <p:sp>
        <p:nvSpPr>
          <p:cNvPr id="10" name="Text 7"/>
          <p:cNvSpPr txBox="1"/>
          <p:nvPr/>
        </p:nvSpPr>
        <p:spPr>
          <a:xfrm>
            <a:off x="8778240" y="2423160"/>
            <a:ext cx="2651760" cy="41148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mô hình, từ Logistic Regression đến ViHealthBERT</a:t>
            </a:r>
            <a:endParaRPr lang="en-US" sz="1200" dirty="0"/>
          </a:p>
        </p:txBody>
      </p:sp>
      <p:sp>
        <p:nvSpPr>
          <p:cNvPr id="11" name="Shape 8"/>
          <p:cNvSpPr/>
          <p:nvPr/>
        </p:nvSpPr>
        <p:spPr>
          <a:xfrm>
            <a:off x="8595360" y="3154680"/>
            <a:ext cx="2971800" cy="1188720"/>
          </a:xfrm>
          <a:prstGeom prst="roundRect">
            <a:avLst>
              <a:gd name="adj" fmla="val 7692"/>
            </a:avLst>
          </a:prstGeom>
          <a:solidFill>
            <a:srgbClr val="17384F"/>
          </a:solidFill>
          <a:ln w="12700">
            <a:solidFill>
              <a:srgbClr val="17384F"/>
            </a:solidFill>
            <a:prstDash val="solid"/>
          </a:ln>
        </p:spPr>
      </p:sp>
      <p:sp>
        <p:nvSpPr>
          <p:cNvPr id="12" name="Text 9"/>
          <p:cNvSpPr txBox="1"/>
          <p:nvPr/>
        </p:nvSpPr>
        <p:spPr>
          <a:xfrm>
            <a:off x="8778240" y="3246120"/>
            <a:ext cx="2651760" cy="594360"/>
          </a:xfrm>
          <a:prstGeom prst="rect">
            <a:avLst/>
          </a:prstGeom>
          <a:noFill/>
          <a:ln/>
        </p:spPr>
        <p:txBody>
          <a:bodyPr wrap="square" lIns="0" tIns="0" rIns="0" bIns="0" rtlCol="0" anchor="ctr"/>
          <a:lstStyle/>
          <a:p>
            <a:pPr indent="0" marL="0">
              <a:buNone/>
            </a:pPr>
            <a:r>
              <a:rPr lang="en-US" sz="3200" b="1" dirty="0">
                <a:solidFill>
                  <a:srgbClr val="9FD8CF"/>
                </a:solidFill>
                <a:latin typeface="Cambria" pitchFamily="34" charset="0"/>
                <a:ea typeface="Cambria" pitchFamily="34" charset="-122"/>
                <a:cs typeface="Cambria" pitchFamily="34" charset="-120"/>
              </a:rPr>
              <a:t>18</a:t>
            </a:r>
            <a:endParaRPr lang="en-US" sz="3200" dirty="0"/>
          </a:p>
        </p:txBody>
      </p:sp>
      <p:sp>
        <p:nvSpPr>
          <p:cNvPr id="13" name="Text 10"/>
          <p:cNvSpPr txBox="1"/>
          <p:nvPr/>
        </p:nvSpPr>
        <p:spPr>
          <a:xfrm>
            <a:off x="8778240" y="3840480"/>
            <a:ext cx="2651760" cy="41148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loại thực thể y tế, 37 nhãn BIO</a:t>
            </a:r>
            <a:endParaRPr lang="en-US" sz="1200" dirty="0"/>
          </a:p>
        </p:txBody>
      </p:sp>
      <p:sp>
        <p:nvSpPr>
          <p:cNvPr id="14" name="Shape 11"/>
          <p:cNvSpPr/>
          <p:nvPr/>
        </p:nvSpPr>
        <p:spPr>
          <a:xfrm>
            <a:off x="8595360" y="4572000"/>
            <a:ext cx="2971800" cy="1188720"/>
          </a:xfrm>
          <a:prstGeom prst="roundRect">
            <a:avLst>
              <a:gd name="adj" fmla="val 7692"/>
            </a:avLst>
          </a:prstGeom>
          <a:solidFill>
            <a:srgbClr val="17384F"/>
          </a:solidFill>
          <a:ln w="12700">
            <a:solidFill>
              <a:srgbClr val="17384F"/>
            </a:solidFill>
            <a:prstDash val="solid"/>
          </a:ln>
        </p:spPr>
      </p:sp>
      <p:sp>
        <p:nvSpPr>
          <p:cNvPr id="15" name="Text 12"/>
          <p:cNvSpPr txBox="1"/>
          <p:nvPr/>
        </p:nvSpPr>
        <p:spPr>
          <a:xfrm>
            <a:off x="8778240" y="4663440"/>
            <a:ext cx="2651760" cy="594360"/>
          </a:xfrm>
          <a:prstGeom prst="rect">
            <a:avLst/>
          </a:prstGeom>
          <a:noFill/>
          <a:ln/>
        </p:spPr>
        <p:txBody>
          <a:bodyPr wrap="square" lIns="0" tIns="0" rIns="0" bIns="0" rtlCol="0" anchor="ctr"/>
          <a:lstStyle/>
          <a:p>
            <a:pPr indent="0" marL="0">
              <a:buNone/>
            </a:pPr>
            <a:r>
              <a:rPr lang="en-US" sz="3200" b="1" dirty="0">
                <a:solidFill>
                  <a:srgbClr val="E9A23B"/>
                </a:solidFill>
                <a:latin typeface="Cambria" pitchFamily="34" charset="0"/>
                <a:ea typeface="Cambria" pitchFamily="34" charset="-122"/>
                <a:cs typeface="Cambria" pitchFamily="34" charset="-120"/>
              </a:rPr>
              <a:t>9.267</a:t>
            </a:r>
            <a:endParaRPr lang="en-US" sz="3200" dirty="0"/>
          </a:p>
        </p:txBody>
      </p:sp>
      <p:sp>
        <p:nvSpPr>
          <p:cNvPr id="16" name="Text 13"/>
          <p:cNvSpPr txBox="1"/>
          <p:nvPr/>
        </p:nvSpPr>
        <p:spPr>
          <a:xfrm>
            <a:off x="8778240" y="5257800"/>
            <a:ext cx="2651760" cy="41148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câu hội thoại có gán nhãn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Bài toán: gán nhãn chuỗi theo sơ đồ BIO</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 / 16</a:t>
            </a:r>
            <a:endParaRPr lang="en-US" sz="1000" dirty="0"/>
          </a:p>
        </p:txBody>
      </p:sp>
      <p:sp>
        <p:nvSpPr>
          <p:cNvPr id="4" name="Shape 2"/>
          <p:cNvSpPr/>
          <p:nvPr/>
        </p:nvSpPr>
        <p:spPr>
          <a:xfrm>
            <a:off x="548640" y="1234440"/>
            <a:ext cx="2377440" cy="960120"/>
          </a:xfrm>
          <a:prstGeom prst="roundRect">
            <a:avLst>
              <a:gd name="adj" fmla="val 9524"/>
            </a:avLst>
          </a:prstGeom>
          <a:solidFill>
            <a:srgbClr val="EEF4F7"/>
          </a:solidFill>
          <a:ln w="12700">
            <a:solidFill>
              <a:srgbClr val="EEF4F7"/>
            </a:solidFill>
            <a:prstDash val="solid"/>
          </a:ln>
        </p:spPr>
      </p:sp>
      <p:sp>
        <p:nvSpPr>
          <p:cNvPr id="5" name="Text 3"/>
          <p:cNvSpPr txBox="1"/>
          <p:nvPr/>
        </p:nvSpPr>
        <p:spPr>
          <a:xfrm>
            <a:off x="548640" y="1298448"/>
            <a:ext cx="2377440" cy="457200"/>
          </a:xfrm>
          <a:prstGeom prst="rect">
            <a:avLst/>
          </a:prstGeom>
          <a:noFill/>
          <a:ln/>
        </p:spPr>
        <p:txBody>
          <a:bodyPr wrap="square" lIns="0" tIns="0" rIns="0" bIns="0" rtlCol="0" anchor="ctr"/>
          <a:lstStyle/>
          <a:p>
            <a:pPr algn="ctr" indent="0" marL="0">
              <a:buNone/>
            </a:pPr>
            <a:r>
              <a:rPr lang="en-US" sz="2000" b="1" dirty="0">
                <a:solidFill>
                  <a:srgbClr val="0F2A3D"/>
                </a:solidFill>
                <a:latin typeface="Cambria" pitchFamily="34" charset="0"/>
                <a:ea typeface="Cambria" pitchFamily="34" charset="-122"/>
                <a:cs typeface="Cambria" pitchFamily="34" charset="-120"/>
              </a:rPr>
              <a:t>AUDIO</a:t>
            </a:r>
            <a:endParaRPr lang="en-US" sz="2000" dirty="0"/>
          </a:p>
        </p:txBody>
      </p:sp>
      <p:sp>
        <p:nvSpPr>
          <p:cNvPr id="6" name="Text 4"/>
          <p:cNvSpPr txBox="1"/>
          <p:nvPr/>
        </p:nvSpPr>
        <p:spPr>
          <a:xfrm>
            <a:off x="548640" y="1737360"/>
            <a:ext cx="2377440" cy="365760"/>
          </a:xfrm>
          <a:prstGeom prst="rect">
            <a:avLst/>
          </a:prstGeom>
          <a:noFill/>
          <a:ln/>
        </p:spPr>
        <p:txBody>
          <a:bodyPr wrap="square" lIns="0" tIns="0" rIns="0" bIns="0" rtlCol="0" anchor="ctr"/>
          <a:lstStyle/>
          <a:p>
            <a:pPr algn="ctr" indent="0" marL="0">
              <a:buNone/>
            </a:pPr>
            <a:r>
              <a:rPr lang="en-US" sz="1300" dirty="0">
                <a:solidFill>
                  <a:srgbClr val="5B6B7A"/>
                </a:solidFill>
                <a:latin typeface="Calibri" pitchFamily="34" charset="0"/>
                <a:ea typeface="Calibri" pitchFamily="34" charset="-122"/>
                <a:cs typeface="Calibri" pitchFamily="34" charset="-120"/>
              </a:rPr>
              <a:t>Hội thoại y tế</a:t>
            </a:r>
            <a:endParaRPr lang="en-US" sz="1300" dirty="0"/>
          </a:p>
        </p:txBody>
      </p:sp>
      <p:sp>
        <p:nvSpPr>
          <p:cNvPr id="7" name="Text 5"/>
          <p:cNvSpPr txBox="1"/>
          <p:nvPr/>
        </p:nvSpPr>
        <p:spPr>
          <a:xfrm>
            <a:off x="2926080" y="1417320"/>
            <a:ext cx="502920" cy="548640"/>
          </a:xfrm>
          <a:prstGeom prst="rect">
            <a:avLst/>
          </a:prstGeom>
          <a:noFill/>
          <a:ln/>
        </p:spPr>
        <p:txBody>
          <a:bodyPr wrap="square" lIns="0" tIns="0" rIns="0" bIns="0" rtlCol="0" anchor="ctr"/>
          <a:lstStyle/>
          <a:p>
            <a:pPr algn="ctr" indent="0" marL="0">
              <a:buNone/>
            </a:pPr>
            <a:r>
              <a:rPr lang="en-US" sz="2600" dirty="0">
                <a:solidFill>
                  <a:srgbClr val="5B6B7A"/>
                </a:solidFill>
              </a:rPr>
              <a:t>→</a:t>
            </a:r>
            <a:endParaRPr lang="en-US" sz="2600" dirty="0"/>
          </a:p>
        </p:txBody>
      </p:sp>
      <p:sp>
        <p:nvSpPr>
          <p:cNvPr id="8" name="Shape 6"/>
          <p:cNvSpPr/>
          <p:nvPr/>
        </p:nvSpPr>
        <p:spPr>
          <a:xfrm>
            <a:off x="3429000" y="1234440"/>
            <a:ext cx="2377440" cy="960120"/>
          </a:xfrm>
          <a:prstGeom prst="roundRect">
            <a:avLst>
              <a:gd name="adj" fmla="val 9524"/>
            </a:avLst>
          </a:prstGeom>
          <a:solidFill>
            <a:srgbClr val="EEF4F7"/>
          </a:solidFill>
          <a:ln w="12700">
            <a:solidFill>
              <a:srgbClr val="EEF4F7"/>
            </a:solidFill>
            <a:prstDash val="solid"/>
          </a:ln>
        </p:spPr>
      </p:sp>
      <p:sp>
        <p:nvSpPr>
          <p:cNvPr id="9" name="Text 7"/>
          <p:cNvSpPr txBox="1"/>
          <p:nvPr/>
        </p:nvSpPr>
        <p:spPr>
          <a:xfrm>
            <a:off x="3429000" y="1298448"/>
            <a:ext cx="2377440" cy="457200"/>
          </a:xfrm>
          <a:prstGeom prst="rect">
            <a:avLst/>
          </a:prstGeom>
          <a:noFill/>
          <a:ln/>
        </p:spPr>
        <p:txBody>
          <a:bodyPr wrap="square" lIns="0" tIns="0" rIns="0" bIns="0" rtlCol="0" anchor="ctr"/>
          <a:lstStyle/>
          <a:p>
            <a:pPr algn="ctr" indent="0" marL="0">
              <a:buNone/>
            </a:pPr>
            <a:r>
              <a:rPr lang="en-US" sz="2000" b="1" dirty="0">
                <a:solidFill>
                  <a:srgbClr val="0F2A3D"/>
                </a:solidFill>
                <a:latin typeface="Cambria" pitchFamily="34" charset="0"/>
                <a:ea typeface="Cambria" pitchFamily="34" charset="-122"/>
                <a:cs typeface="Cambria" pitchFamily="34" charset="-120"/>
              </a:rPr>
              <a:t>ASR</a:t>
            </a:r>
            <a:endParaRPr lang="en-US" sz="2000" dirty="0"/>
          </a:p>
        </p:txBody>
      </p:sp>
      <p:sp>
        <p:nvSpPr>
          <p:cNvPr id="10" name="Text 8"/>
          <p:cNvSpPr txBox="1"/>
          <p:nvPr/>
        </p:nvSpPr>
        <p:spPr>
          <a:xfrm>
            <a:off x="3429000" y="1737360"/>
            <a:ext cx="2377440" cy="365760"/>
          </a:xfrm>
          <a:prstGeom prst="rect">
            <a:avLst/>
          </a:prstGeom>
          <a:noFill/>
          <a:ln/>
        </p:spPr>
        <p:txBody>
          <a:bodyPr wrap="square" lIns="0" tIns="0" rIns="0" bIns="0" rtlCol="0" anchor="ctr"/>
          <a:lstStyle/>
          <a:p>
            <a:pPr algn="ctr" indent="0" marL="0">
              <a:buNone/>
            </a:pPr>
            <a:r>
              <a:rPr lang="en-US" sz="1300" dirty="0">
                <a:solidFill>
                  <a:srgbClr val="5B6B7A"/>
                </a:solidFill>
                <a:latin typeface="Calibri" pitchFamily="34" charset="0"/>
                <a:ea typeface="Calibri" pitchFamily="34" charset="-122"/>
                <a:cs typeface="Calibri" pitchFamily="34" charset="-120"/>
              </a:rPr>
              <a:t>Nhận dạng tiếng nói</a:t>
            </a:r>
            <a:endParaRPr lang="en-US" sz="1300" dirty="0"/>
          </a:p>
        </p:txBody>
      </p:sp>
      <p:sp>
        <p:nvSpPr>
          <p:cNvPr id="11" name="Text 9"/>
          <p:cNvSpPr txBox="1"/>
          <p:nvPr/>
        </p:nvSpPr>
        <p:spPr>
          <a:xfrm>
            <a:off x="5806440" y="1417320"/>
            <a:ext cx="502920" cy="548640"/>
          </a:xfrm>
          <a:prstGeom prst="rect">
            <a:avLst/>
          </a:prstGeom>
          <a:noFill/>
          <a:ln/>
        </p:spPr>
        <p:txBody>
          <a:bodyPr wrap="square" lIns="0" tIns="0" rIns="0" bIns="0" rtlCol="0" anchor="ctr"/>
          <a:lstStyle/>
          <a:p>
            <a:pPr algn="ctr" indent="0" marL="0">
              <a:buNone/>
            </a:pPr>
            <a:r>
              <a:rPr lang="en-US" sz="2600" dirty="0">
                <a:solidFill>
                  <a:srgbClr val="5B6B7A"/>
                </a:solidFill>
              </a:rPr>
              <a:t>→</a:t>
            </a:r>
            <a:endParaRPr lang="en-US" sz="2600" dirty="0"/>
          </a:p>
        </p:txBody>
      </p:sp>
      <p:sp>
        <p:nvSpPr>
          <p:cNvPr id="12" name="Shape 10"/>
          <p:cNvSpPr/>
          <p:nvPr/>
        </p:nvSpPr>
        <p:spPr>
          <a:xfrm>
            <a:off x="6309360" y="1234440"/>
            <a:ext cx="2377440" cy="960120"/>
          </a:xfrm>
          <a:prstGeom prst="roundRect">
            <a:avLst>
              <a:gd name="adj" fmla="val 9524"/>
            </a:avLst>
          </a:prstGeom>
          <a:solidFill>
            <a:srgbClr val="EEF4F7"/>
          </a:solidFill>
          <a:ln w="12700">
            <a:solidFill>
              <a:srgbClr val="EEF4F7"/>
            </a:solidFill>
            <a:prstDash val="solid"/>
          </a:ln>
        </p:spPr>
      </p:sp>
      <p:sp>
        <p:nvSpPr>
          <p:cNvPr id="13" name="Text 11"/>
          <p:cNvSpPr txBox="1"/>
          <p:nvPr/>
        </p:nvSpPr>
        <p:spPr>
          <a:xfrm>
            <a:off x="6309360" y="1298448"/>
            <a:ext cx="2377440" cy="457200"/>
          </a:xfrm>
          <a:prstGeom prst="rect">
            <a:avLst/>
          </a:prstGeom>
          <a:noFill/>
          <a:ln/>
        </p:spPr>
        <p:txBody>
          <a:bodyPr wrap="square" lIns="0" tIns="0" rIns="0" bIns="0" rtlCol="0" anchor="ctr"/>
          <a:lstStyle/>
          <a:p>
            <a:pPr algn="ctr" indent="0" marL="0">
              <a:buNone/>
            </a:pPr>
            <a:r>
              <a:rPr lang="en-US" sz="2000" b="1" dirty="0">
                <a:solidFill>
                  <a:srgbClr val="0F2A3D"/>
                </a:solidFill>
                <a:latin typeface="Cambria" pitchFamily="34" charset="0"/>
                <a:ea typeface="Cambria" pitchFamily="34" charset="-122"/>
                <a:cs typeface="Cambria" pitchFamily="34" charset="-120"/>
              </a:rPr>
              <a:t>TEXT</a:t>
            </a:r>
            <a:endParaRPr lang="en-US" sz="2000" dirty="0"/>
          </a:p>
        </p:txBody>
      </p:sp>
      <p:sp>
        <p:nvSpPr>
          <p:cNvPr id="14" name="Text 12"/>
          <p:cNvSpPr txBox="1"/>
          <p:nvPr/>
        </p:nvSpPr>
        <p:spPr>
          <a:xfrm>
            <a:off x="6309360" y="1737360"/>
            <a:ext cx="2377440" cy="365760"/>
          </a:xfrm>
          <a:prstGeom prst="rect">
            <a:avLst/>
          </a:prstGeom>
          <a:noFill/>
          <a:ln/>
        </p:spPr>
        <p:txBody>
          <a:bodyPr wrap="square" lIns="0" tIns="0" rIns="0" bIns="0" rtlCol="0" anchor="ctr"/>
          <a:lstStyle/>
          <a:p>
            <a:pPr algn="ctr" indent="0" marL="0">
              <a:buNone/>
            </a:pPr>
            <a:r>
              <a:rPr lang="en-US" sz="1300" dirty="0">
                <a:solidFill>
                  <a:srgbClr val="5B6B7A"/>
                </a:solidFill>
                <a:latin typeface="Calibri" pitchFamily="34" charset="0"/>
                <a:ea typeface="Calibri" pitchFamily="34" charset="-122"/>
                <a:cs typeface="Calibri" pitchFamily="34" charset="-120"/>
              </a:rPr>
              <a:t>Transcript âm tiết</a:t>
            </a:r>
            <a:endParaRPr lang="en-US" sz="1300" dirty="0"/>
          </a:p>
        </p:txBody>
      </p:sp>
      <p:sp>
        <p:nvSpPr>
          <p:cNvPr id="15" name="Text 13"/>
          <p:cNvSpPr txBox="1"/>
          <p:nvPr/>
        </p:nvSpPr>
        <p:spPr>
          <a:xfrm>
            <a:off x="8686800" y="1417320"/>
            <a:ext cx="502920" cy="548640"/>
          </a:xfrm>
          <a:prstGeom prst="rect">
            <a:avLst/>
          </a:prstGeom>
          <a:noFill/>
          <a:ln/>
        </p:spPr>
        <p:txBody>
          <a:bodyPr wrap="square" lIns="0" tIns="0" rIns="0" bIns="0" rtlCol="0" anchor="ctr"/>
          <a:lstStyle/>
          <a:p>
            <a:pPr algn="ctr" indent="0" marL="0">
              <a:buNone/>
            </a:pPr>
            <a:r>
              <a:rPr lang="en-US" sz="2600" dirty="0">
                <a:solidFill>
                  <a:srgbClr val="5B6B7A"/>
                </a:solidFill>
              </a:rPr>
              <a:t>→</a:t>
            </a:r>
            <a:endParaRPr lang="en-US" sz="2600" dirty="0"/>
          </a:p>
        </p:txBody>
      </p:sp>
      <p:sp>
        <p:nvSpPr>
          <p:cNvPr id="16" name="Shape 14"/>
          <p:cNvSpPr/>
          <p:nvPr/>
        </p:nvSpPr>
        <p:spPr>
          <a:xfrm>
            <a:off x="9189720" y="1234440"/>
            <a:ext cx="2377440" cy="960120"/>
          </a:xfrm>
          <a:prstGeom prst="roundRect">
            <a:avLst>
              <a:gd name="adj" fmla="val 9524"/>
            </a:avLst>
          </a:prstGeom>
          <a:solidFill>
            <a:srgbClr val="E4572E"/>
          </a:solidFill>
          <a:ln w="12700">
            <a:solidFill>
              <a:srgbClr val="E4572E"/>
            </a:solidFill>
            <a:prstDash val="solid"/>
          </a:ln>
        </p:spPr>
      </p:sp>
      <p:sp>
        <p:nvSpPr>
          <p:cNvPr id="17" name="Text 15"/>
          <p:cNvSpPr txBox="1"/>
          <p:nvPr/>
        </p:nvSpPr>
        <p:spPr>
          <a:xfrm>
            <a:off x="9189720" y="1298448"/>
            <a:ext cx="23774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NER</a:t>
            </a:r>
            <a:endParaRPr lang="en-US" sz="2000" dirty="0"/>
          </a:p>
        </p:txBody>
      </p:sp>
      <p:sp>
        <p:nvSpPr>
          <p:cNvPr id="18" name="Text 16"/>
          <p:cNvSpPr txBox="1"/>
          <p:nvPr/>
        </p:nvSpPr>
        <p:spPr>
          <a:xfrm>
            <a:off x="9189720" y="1737360"/>
            <a:ext cx="237744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Phạm vi đồ án</a:t>
            </a:r>
            <a:endParaRPr lang="en-US" sz="1300" dirty="0"/>
          </a:p>
        </p:txBody>
      </p:sp>
      <p:sp>
        <p:nvSpPr>
          <p:cNvPr id="19" name="Shape 17"/>
          <p:cNvSpPr/>
          <p:nvPr/>
        </p:nvSpPr>
        <p:spPr>
          <a:xfrm>
            <a:off x="548640" y="2560320"/>
            <a:ext cx="5394960" cy="3566160"/>
          </a:xfrm>
          <a:prstGeom prst="roundRect">
            <a:avLst>
              <a:gd name="adj" fmla="val 2051"/>
            </a:avLst>
          </a:prstGeom>
          <a:solidFill>
            <a:srgbClr val="EEF4F7"/>
          </a:solidFill>
          <a:ln w="12700">
            <a:solidFill>
              <a:srgbClr val="EEF4F7"/>
            </a:solidFill>
            <a:prstDash val="solid"/>
          </a:ln>
        </p:spPr>
      </p:sp>
      <p:sp>
        <p:nvSpPr>
          <p:cNvPr id="20" name="Text 18"/>
          <p:cNvSpPr txBox="1"/>
          <p:nvPr/>
        </p:nvSpPr>
        <p:spPr>
          <a:xfrm>
            <a:off x="777240" y="2724912"/>
            <a:ext cx="493776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Đầu vào → đầu ra</a:t>
            </a:r>
            <a:endParaRPr lang="en-US" sz="1800" dirty="0"/>
          </a:p>
        </p:txBody>
      </p:sp>
      <p:sp>
        <p:nvSpPr>
          <p:cNvPr id="21" name="Text 19"/>
          <p:cNvSpPr txBox="1"/>
          <p:nvPr/>
        </p:nvSpPr>
        <p:spPr>
          <a:xfrm>
            <a:off x="777240" y="3200400"/>
            <a:ext cx="4983480" cy="2743200"/>
          </a:xfrm>
          <a:prstGeom prst="rect">
            <a:avLst/>
          </a:prstGeom>
          <a:noFill/>
          <a:ln/>
        </p:spPr>
        <p:txBody>
          <a:bodyPr wrap="square" lIns="635" tIns="635" rIns="635" bIns="635" rtlCol="0" anchor="t"/>
          <a:lstStyle/>
          <a:p>
            <a:pPr marL="203200" indent="-203200">
              <a:spcAft>
                <a:spcPts val="600"/>
              </a:spcAft>
              <a:buSzPct val="100000"/>
              <a:buChar char="•"/>
            </a:pPr>
            <a:r>
              <a:rPr lang="en-US" sz="1600" b="1" dirty="0">
                <a:solidFill>
                  <a:srgbClr val="1B2733"/>
                </a:solidFill>
                <a:latin typeface="Calibri" pitchFamily="34" charset="0"/>
                <a:ea typeface="Calibri" pitchFamily="34" charset="-122"/>
                <a:cs typeface="Calibri" pitchFamily="34" charset="-120"/>
              </a:rPr>
              <a:t>Đầu vào:</a:t>
            </a:r>
            <a:r>
              <a:rPr lang="en-US" sz="1600" dirty="0">
                <a:solidFill>
                  <a:srgbClr val="1B2733"/>
                </a:solidFill>
                <a:latin typeface="Calibri" pitchFamily="34" charset="0"/>
                <a:ea typeface="Calibri" pitchFamily="34" charset="-122"/>
                <a:cs typeface="Calibri" pitchFamily="34" charset="-120"/>
              </a:rPr>
              <a:t> câu tiếng Việt đã tách theo âm tiết</a:t>
            </a:r>
            <a:endParaRPr lang="en-US" sz="1600" dirty="0"/>
          </a:p>
          <a:p>
            <a:pPr marL="203200" indent="-203200">
              <a:spcAft>
                <a:spcPts val="600"/>
              </a:spcAft>
              <a:buSzPct val="100000"/>
              <a:buChar char="•"/>
            </a:pPr>
            <a:r>
              <a:rPr lang="en-US" sz="1600" b="1" dirty="0">
                <a:solidFill>
                  <a:srgbClr val="1B2733"/>
                </a:solidFill>
                <a:latin typeface="Calibri" pitchFamily="34" charset="0"/>
                <a:ea typeface="Calibri" pitchFamily="34" charset="-122"/>
                <a:cs typeface="Calibri" pitchFamily="34" charset="-120"/>
              </a:rPr>
              <a:t>Đầu ra:</a:t>
            </a:r>
            <a:r>
              <a:rPr lang="en-US" sz="1600" dirty="0">
                <a:solidFill>
                  <a:srgbClr val="1B2733"/>
                </a:solidFill>
                <a:latin typeface="Calibri" pitchFamily="34" charset="0"/>
                <a:ea typeface="Calibri" pitchFamily="34" charset="-122"/>
                <a:cs typeface="Calibri" pitchFamily="34" charset="-120"/>
              </a:rPr>
              <a:t> một nhãn cho mỗi âm tiết</a:t>
            </a:r>
            <a:endParaRPr lang="en-US" sz="1600" dirty="0"/>
          </a:p>
          <a:p>
            <a:pPr marL="203200" indent="-203200">
              <a:spcAft>
                <a:spcPts val="600"/>
              </a:spcAft>
              <a:buSzPct val="100000"/>
              <a:buChar char="•"/>
            </a:pPr>
            <a:r>
              <a:rPr lang="en-US" sz="1600" b="1" dirty="0">
                <a:solidFill>
                  <a:srgbClr val="1B2733"/>
                </a:solidFill>
                <a:latin typeface="Calibri" pitchFamily="34" charset="0"/>
                <a:ea typeface="Calibri" pitchFamily="34" charset="-122"/>
                <a:cs typeface="Calibri" pitchFamily="34" charset="-120"/>
              </a:rPr>
              <a:t>B-X</a:t>
            </a:r>
            <a:r>
              <a:rPr lang="en-US" sz="1600" dirty="0">
                <a:solidFill>
                  <a:srgbClr val="1B2733"/>
                </a:solidFill>
                <a:latin typeface="Calibri" pitchFamily="34" charset="0"/>
                <a:ea typeface="Calibri" pitchFamily="34" charset="-122"/>
                <a:cs typeface="Calibri" pitchFamily="34" charset="-120"/>
              </a:rPr>
              <a:t> mở đầu thực thể loại X, </a:t>
            </a:r>
            <a:r>
              <a:rPr lang="en-US" sz="1600" b="1" dirty="0">
                <a:solidFill>
                  <a:srgbClr val="1B2733"/>
                </a:solidFill>
                <a:latin typeface="Calibri" pitchFamily="34" charset="0"/>
                <a:ea typeface="Calibri" pitchFamily="34" charset="-122"/>
                <a:cs typeface="Calibri" pitchFamily="34" charset="-120"/>
              </a:rPr>
              <a:t>I-X</a:t>
            </a:r>
            <a:r>
              <a:rPr lang="en-US" sz="1600" dirty="0">
                <a:solidFill>
                  <a:srgbClr val="1B2733"/>
                </a:solidFill>
                <a:latin typeface="Calibri" pitchFamily="34" charset="0"/>
                <a:ea typeface="Calibri" pitchFamily="34" charset="-122"/>
                <a:cs typeface="Calibri" pitchFamily="34" charset="-120"/>
              </a:rPr>
              <a:t> nối tiếp, </a:t>
            </a:r>
            <a:r>
              <a:rPr lang="en-US" sz="1600" b="1" dirty="0">
                <a:solidFill>
                  <a:srgbClr val="1B2733"/>
                </a:solidFill>
                <a:latin typeface="Calibri" pitchFamily="34" charset="0"/>
                <a:ea typeface="Calibri" pitchFamily="34" charset="-122"/>
                <a:cs typeface="Calibri" pitchFamily="34" charset="-120"/>
              </a:rPr>
              <a:t>O</a:t>
            </a:r>
            <a:r>
              <a:rPr lang="en-US" sz="1600" dirty="0">
                <a:solidFill>
                  <a:srgbClr val="1B2733"/>
                </a:solidFill>
                <a:latin typeface="Calibri" pitchFamily="34" charset="0"/>
                <a:ea typeface="Calibri" pitchFamily="34" charset="-122"/>
                <a:cs typeface="Calibri" pitchFamily="34" charset="-120"/>
              </a:rPr>
              <a:t> ngoài thực thể</a:t>
            </a:r>
            <a:endParaRPr lang="en-US" sz="1600" dirty="0"/>
          </a:p>
          <a:p>
            <a:pPr marL="203200" indent="-203200">
              <a:spcAft>
                <a:spcPts val="600"/>
              </a:spcAft>
              <a:buSzPct val="100000"/>
              <a:buChar char="•"/>
            </a:pPr>
            <a:r>
              <a:rPr lang="en-US" sz="1600" b="1" dirty="0">
                <a:solidFill>
                  <a:srgbClr val="1B2733"/>
                </a:solidFill>
                <a:latin typeface="Calibri" pitchFamily="34" charset="0"/>
                <a:ea typeface="Calibri" pitchFamily="34" charset="-122"/>
                <a:cs typeface="Calibri" pitchFamily="34" charset="-120"/>
              </a:rPr>
              <a:t>18 loại thực thể → 37 nhãn</a:t>
            </a:r>
            <a:r>
              <a:rPr lang="en-US" sz="1600" dirty="0">
                <a:solidFill>
                  <a:srgbClr val="1B2733"/>
                </a:solidFill>
                <a:latin typeface="Calibri" pitchFamily="34" charset="0"/>
                <a:ea typeface="Calibri" pitchFamily="34" charset="-122"/>
                <a:cs typeface="Calibri" pitchFamily="34" charset="-120"/>
              </a:rPr>
              <a:t> (18 × B/I + O)</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Loại dữ liệu: </a:t>
            </a:r>
            <a:r>
              <a:rPr lang="en-US" sz="1600" b="1" dirty="0">
                <a:solidFill>
                  <a:srgbClr val="1B2733"/>
                </a:solidFill>
                <a:latin typeface="Calibri" pitchFamily="34" charset="0"/>
                <a:ea typeface="Calibri" pitchFamily="34" charset="-122"/>
                <a:cs typeface="Calibri" pitchFamily="34" charset="-120"/>
              </a:rPr>
              <a:t>văn bản</a:t>
            </a:r>
            <a:r>
              <a:rPr lang="en-US" sz="1600" dirty="0">
                <a:solidFill>
                  <a:srgbClr val="1B2733"/>
                </a:solidFill>
                <a:latin typeface="Calibri" pitchFamily="34" charset="0"/>
                <a:ea typeface="Calibri" pitchFamily="34" charset="-122"/>
                <a:cs typeface="Calibri" pitchFamily="34" charset="-120"/>
              </a:rPr>
              <a:t> ⇒ EDA và tiền xử lý thiết kế riêng cho văn bản</a:t>
            </a:r>
            <a:endParaRPr lang="en-US" sz="1600" dirty="0"/>
          </a:p>
        </p:txBody>
      </p:sp>
      <p:sp>
        <p:nvSpPr>
          <p:cNvPr id="22" name="Shape 20"/>
          <p:cNvSpPr/>
          <p:nvPr/>
        </p:nvSpPr>
        <p:spPr>
          <a:xfrm>
            <a:off x="6263640" y="2560320"/>
            <a:ext cx="5394960" cy="3566160"/>
          </a:xfrm>
          <a:prstGeom prst="roundRect">
            <a:avLst>
              <a:gd name="adj" fmla="val 2051"/>
            </a:avLst>
          </a:prstGeom>
          <a:solidFill>
            <a:srgbClr val="FFFFFF"/>
          </a:solidFill>
          <a:ln w="12700">
            <a:solidFill>
              <a:srgbClr val="D5DEE5"/>
            </a:solidFill>
            <a:prstDash val="solid"/>
          </a:ln>
        </p:spPr>
      </p:sp>
      <p:sp>
        <p:nvSpPr>
          <p:cNvPr id="23" name="Text 21"/>
          <p:cNvSpPr txBox="1"/>
          <p:nvPr/>
        </p:nvSpPr>
        <p:spPr>
          <a:xfrm>
            <a:off x="6492240" y="2724912"/>
            <a:ext cx="493776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Ví dụ từ tập test</a:t>
            </a:r>
            <a:endParaRPr lang="en-US" sz="1800" dirty="0"/>
          </a:p>
        </p:txBody>
      </p:sp>
      <p:sp>
        <p:nvSpPr>
          <p:cNvPr id="24" name="Shape 22"/>
          <p:cNvSpPr/>
          <p:nvPr/>
        </p:nvSpPr>
        <p:spPr>
          <a:xfrm>
            <a:off x="6492240" y="3291840"/>
            <a:ext cx="1161288" cy="960120"/>
          </a:xfrm>
          <a:prstGeom prst="roundRect">
            <a:avLst>
              <a:gd name="adj" fmla="val 7619"/>
            </a:avLst>
          </a:prstGeom>
          <a:solidFill>
            <a:srgbClr val="FCE9E3"/>
          </a:solidFill>
          <a:ln w="12700">
            <a:solidFill>
              <a:srgbClr val="E4572E"/>
            </a:solidFill>
            <a:prstDash val="solid"/>
          </a:ln>
        </p:spPr>
      </p:sp>
      <p:sp>
        <p:nvSpPr>
          <p:cNvPr id="25" name="Text 23"/>
          <p:cNvSpPr txBox="1"/>
          <p:nvPr/>
        </p:nvSpPr>
        <p:spPr>
          <a:xfrm>
            <a:off x="6492240" y="3383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rong</a:t>
            </a:r>
            <a:endParaRPr lang="en-US" sz="1800" dirty="0"/>
          </a:p>
        </p:txBody>
      </p:sp>
      <p:sp>
        <p:nvSpPr>
          <p:cNvPr id="26" name="Text 24"/>
          <p:cNvSpPr txBox="1"/>
          <p:nvPr/>
        </p:nvSpPr>
        <p:spPr>
          <a:xfrm>
            <a:off x="6492240" y="3822192"/>
            <a:ext cx="1161288" cy="320040"/>
          </a:xfrm>
          <a:prstGeom prst="rect">
            <a:avLst/>
          </a:prstGeom>
          <a:noFill/>
          <a:ln/>
        </p:spPr>
        <p:txBody>
          <a:bodyPr wrap="square" lIns="0" tIns="0" rIns="0" bIns="0" rtlCol="0" anchor="ctr"/>
          <a:lstStyle/>
          <a:p>
            <a:pPr algn="ctr" indent="0" marL="0">
              <a:buNone/>
            </a:pPr>
            <a:r>
              <a:rPr lang="en-US" sz="850" dirty="0">
                <a:solidFill>
                  <a:srgbClr val="E4572E"/>
                </a:solidFill>
                <a:latin typeface="Calibri" pitchFamily="34" charset="0"/>
                <a:ea typeface="Calibri" pitchFamily="34" charset="-122"/>
                <a:cs typeface="Calibri" pitchFamily="34" charset="-120"/>
              </a:rPr>
              <a:t>B-DISEASESYMTOM</a:t>
            </a:r>
            <a:endParaRPr lang="en-US" sz="850" dirty="0"/>
          </a:p>
        </p:txBody>
      </p:sp>
      <p:sp>
        <p:nvSpPr>
          <p:cNvPr id="27" name="Shape 25"/>
          <p:cNvSpPr/>
          <p:nvPr/>
        </p:nvSpPr>
        <p:spPr>
          <a:xfrm>
            <a:off x="7744968" y="3291840"/>
            <a:ext cx="1161288" cy="960120"/>
          </a:xfrm>
          <a:prstGeom prst="roundRect">
            <a:avLst>
              <a:gd name="adj" fmla="val 7619"/>
            </a:avLst>
          </a:prstGeom>
          <a:solidFill>
            <a:srgbClr val="FCE9E3"/>
          </a:solidFill>
          <a:ln w="12700">
            <a:solidFill>
              <a:srgbClr val="E4572E"/>
            </a:solidFill>
            <a:prstDash val="solid"/>
          </a:ln>
        </p:spPr>
      </p:sp>
      <p:sp>
        <p:nvSpPr>
          <p:cNvPr id="28" name="Text 26"/>
          <p:cNvSpPr txBox="1"/>
          <p:nvPr/>
        </p:nvSpPr>
        <p:spPr>
          <a:xfrm>
            <a:off x="7744968" y="3383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huyết</a:t>
            </a:r>
            <a:endParaRPr lang="en-US" sz="1800" dirty="0"/>
          </a:p>
        </p:txBody>
      </p:sp>
      <p:sp>
        <p:nvSpPr>
          <p:cNvPr id="29" name="Text 27"/>
          <p:cNvSpPr txBox="1"/>
          <p:nvPr/>
        </p:nvSpPr>
        <p:spPr>
          <a:xfrm>
            <a:off x="7744968" y="3822192"/>
            <a:ext cx="1161288" cy="320040"/>
          </a:xfrm>
          <a:prstGeom prst="rect">
            <a:avLst/>
          </a:prstGeom>
          <a:noFill/>
          <a:ln/>
        </p:spPr>
        <p:txBody>
          <a:bodyPr wrap="square" lIns="0" tIns="0" rIns="0" bIns="0" rtlCol="0" anchor="ctr"/>
          <a:lstStyle/>
          <a:p>
            <a:pPr algn="ctr" indent="0" marL="0">
              <a:buNone/>
            </a:pPr>
            <a:r>
              <a:rPr lang="en-US" sz="850" dirty="0">
                <a:solidFill>
                  <a:srgbClr val="E4572E"/>
                </a:solidFill>
                <a:latin typeface="Calibri" pitchFamily="34" charset="0"/>
                <a:ea typeface="Calibri" pitchFamily="34" charset="-122"/>
                <a:cs typeface="Calibri" pitchFamily="34" charset="-120"/>
              </a:rPr>
              <a:t>I-DISEASESYMTOM</a:t>
            </a:r>
            <a:endParaRPr lang="en-US" sz="850" dirty="0"/>
          </a:p>
        </p:txBody>
      </p:sp>
      <p:sp>
        <p:nvSpPr>
          <p:cNvPr id="30" name="Shape 28"/>
          <p:cNvSpPr/>
          <p:nvPr/>
        </p:nvSpPr>
        <p:spPr>
          <a:xfrm>
            <a:off x="8997696" y="3291840"/>
            <a:ext cx="1161288" cy="960120"/>
          </a:xfrm>
          <a:prstGeom prst="roundRect">
            <a:avLst>
              <a:gd name="adj" fmla="val 7619"/>
            </a:avLst>
          </a:prstGeom>
          <a:solidFill>
            <a:srgbClr val="EEF4F7"/>
          </a:solidFill>
          <a:ln w="12700">
            <a:solidFill>
              <a:srgbClr val="D5DEE5"/>
            </a:solidFill>
            <a:prstDash val="solid"/>
          </a:ln>
        </p:spPr>
      </p:sp>
      <p:sp>
        <p:nvSpPr>
          <p:cNvPr id="31" name="Text 29"/>
          <p:cNvSpPr txBox="1"/>
          <p:nvPr/>
        </p:nvSpPr>
        <p:spPr>
          <a:xfrm>
            <a:off x="8997696" y="3383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như</a:t>
            </a:r>
            <a:endParaRPr lang="en-US" sz="1800" dirty="0"/>
          </a:p>
        </p:txBody>
      </p:sp>
      <p:sp>
        <p:nvSpPr>
          <p:cNvPr id="32" name="Text 30"/>
          <p:cNvSpPr txBox="1"/>
          <p:nvPr/>
        </p:nvSpPr>
        <p:spPr>
          <a:xfrm>
            <a:off x="8997696" y="3822192"/>
            <a:ext cx="1161288" cy="32004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O</a:t>
            </a:r>
            <a:endParaRPr lang="en-US" sz="850" dirty="0"/>
          </a:p>
        </p:txBody>
      </p:sp>
      <p:sp>
        <p:nvSpPr>
          <p:cNvPr id="33" name="Shape 31"/>
          <p:cNvSpPr/>
          <p:nvPr/>
        </p:nvSpPr>
        <p:spPr>
          <a:xfrm>
            <a:off x="10250424" y="3291840"/>
            <a:ext cx="1161288" cy="960120"/>
          </a:xfrm>
          <a:prstGeom prst="roundRect">
            <a:avLst>
              <a:gd name="adj" fmla="val 7619"/>
            </a:avLst>
          </a:prstGeom>
          <a:solidFill>
            <a:srgbClr val="EEF4F7"/>
          </a:solidFill>
          <a:ln w="12700">
            <a:solidFill>
              <a:srgbClr val="D5DEE5"/>
            </a:solidFill>
            <a:prstDash val="solid"/>
          </a:ln>
        </p:spPr>
      </p:sp>
      <p:sp>
        <p:nvSpPr>
          <p:cNvPr id="34" name="Text 32"/>
          <p:cNvSpPr txBox="1"/>
          <p:nvPr/>
        </p:nvSpPr>
        <p:spPr>
          <a:xfrm>
            <a:off x="10250424" y="3383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vậy</a:t>
            </a:r>
            <a:endParaRPr lang="en-US" sz="1800" dirty="0"/>
          </a:p>
        </p:txBody>
      </p:sp>
      <p:sp>
        <p:nvSpPr>
          <p:cNvPr id="35" name="Text 33"/>
          <p:cNvSpPr txBox="1"/>
          <p:nvPr/>
        </p:nvSpPr>
        <p:spPr>
          <a:xfrm>
            <a:off x="10250424" y="3822192"/>
            <a:ext cx="1161288" cy="32004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O</a:t>
            </a:r>
            <a:endParaRPr lang="en-US" sz="850" dirty="0"/>
          </a:p>
        </p:txBody>
      </p:sp>
      <p:sp>
        <p:nvSpPr>
          <p:cNvPr id="36" name="Shape 34"/>
          <p:cNvSpPr/>
          <p:nvPr/>
        </p:nvSpPr>
        <p:spPr>
          <a:xfrm>
            <a:off x="6492240" y="4434840"/>
            <a:ext cx="1161288" cy="960120"/>
          </a:xfrm>
          <a:prstGeom prst="roundRect">
            <a:avLst>
              <a:gd name="adj" fmla="val 7619"/>
            </a:avLst>
          </a:prstGeom>
          <a:solidFill>
            <a:srgbClr val="EEF4F7"/>
          </a:solidFill>
          <a:ln w="12700">
            <a:solidFill>
              <a:srgbClr val="D5DEE5"/>
            </a:solidFill>
            <a:prstDash val="solid"/>
          </a:ln>
        </p:spPr>
      </p:sp>
      <p:sp>
        <p:nvSpPr>
          <p:cNvPr id="37" name="Text 35"/>
          <p:cNvSpPr txBox="1"/>
          <p:nvPr/>
        </p:nvSpPr>
        <p:spPr>
          <a:xfrm>
            <a:off x="6492240" y="4526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a:t>
            </a:r>
            <a:endParaRPr lang="en-US" sz="1800" dirty="0"/>
          </a:p>
        </p:txBody>
      </p:sp>
      <p:sp>
        <p:nvSpPr>
          <p:cNvPr id="38" name="Text 36"/>
          <p:cNvSpPr txBox="1"/>
          <p:nvPr/>
        </p:nvSpPr>
        <p:spPr>
          <a:xfrm>
            <a:off x="6492240" y="4965192"/>
            <a:ext cx="1161288" cy="320040"/>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O</a:t>
            </a:r>
            <a:endParaRPr lang="en-US" sz="850" dirty="0"/>
          </a:p>
        </p:txBody>
      </p:sp>
      <p:sp>
        <p:nvSpPr>
          <p:cNvPr id="39" name="Shape 37"/>
          <p:cNvSpPr/>
          <p:nvPr/>
        </p:nvSpPr>
        <p:spPr>
          <a:xfrm>
            <a:off x="7744968" y="4434840"/>
            <a:ext cx="1161288" cy="960120"/>
          </a:xfrm>
          <a:prstGeom prst="roundRect">
            <a:avLst>
              <a:gd name="adj" fmla="val 7619"/>
            </a:avLst>
          </a:prstGeom>
          <a:solidFill>
            <a:srgbClr val="FCE9E3"/>
          </a:solidFill>
          <a:ln w="12700">
            <a:solidFill>
              <a:srgbClr val="E4572E"/>
            </a:solidFill>
            <a:prstDash val="solid"/>
          </a:ln>
        </p:spPr>
      </p:sp>
      <p:sp>
        <p:nvSpPr>
          <p:cNvPr id="40" name="Text 38"/>
          <p:cNvSpPr txBox="1"/>
          <p:nvPr/>
        </p:nvSpPr>
        <p:spPr>
          <a:xfrm>
            <a:off x="7744968" y="4526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rong</a:t>
            </a:r>
            <a:endParaRPr lang="en-US" sz="1800" dirty="0"/>
          </a:p>
        </p:txBody>
      </p:sp>
      <p:sp>
        <p:nvSpPr>
          <p:cNvPr id="41" name="Text 39"/>
          <p:cNvSpPr txBox="1"/>
          <p:nvPr/>
        </p:nvSpPr>
        <p:spPr>
          <a:xfrm>
            <a:off x="7744968" y="4965192"/>
            <a:ext cx="1161288" cy="320040"/>
          </a:xfrm>
          <a:prstGeom prst="rect">
            <a:avLst/>
          </a:prstGeom>
          <a:noFill/>
          <a:ln/>
        </p:spPr>
        <p:txBody>
          <a:bodyPr wrap="square" lIns="0" tIns="0" rIns="0" bIns="0" rtlCol="0" anchor="ctr"/>
          <a:lstStyle/>
          <a:p>
            <a:pPr algn="ctr" indent="0" marL="0">
              <a:buNone/>
            </a:pPr>
            <a:r>
              <a:rPr lang="en-US" sz="850" dirty="0">
                <a:solidFill>
                  <a:srgbClr val="E4572E"/>
                </a:solidFill>
                <a:latin typeface="Calibri" pitchFamily="34" charset="0"/>
                <a:ea typeface="Calibri" pitchFamily="34" charset="-122"/>
                <a:cs typeface="Calibri" pitchFamily="34" charset="-120"/>
              </a:rPr>
              <a:t>B-DISEASESYMTOM</a:t>
            </a:r>
            <a:endParaRPr lang="en-US" sz="850" dirty="0"/>
          </a:p>
        </p:txBody>
      </p:sp>
      <p:sp>
        <p:nvSpPr>
          <p:cNvPr id="42" name="Shape 40"/>
          <p:cNvSpPr/>
          <p:nvPr/>
        </p:nvSpPr>
        <p:spPr>
          <a:xfrm>
            <a:off x="8997696" y="4434840"/>
            <a:ext cx="1161288" cy="960120"/>
          </a:xfrm>
          <a:prstGeom prst="roundRect">
            <a:avLst>
              <a:gd name="adj" fmla="val 7619"/>
            </a:avLst>
          </a:prstGeom>
          <a:solidFill>
            <a:srgbClr val="FCE9E3"/>
          </a:solidFill>
          <a:ln w="12700">
            <a:solidFill>
              <a:srgbClr val="E4572E"/>
            </a:solidFill>
            <a:prstDash val="solid"/>
          </a:ln>
        </p:spPr>
      </p:sp>
      <p:sp>
        <p:nvSpPr>
          <p:cNvPr id="43" name="Text 41"/>
          <p:cNvSpPr txBox="1"/>
          <p:nvPr/>
        </p:nvSpPr>
        <p:spPr>
          <a:xfrm>
            <a:off x="8997696" y="4526280"/>
            <a:ext cx="1161288" cy="411480"/>
          </a:xfrm>
          <a:prstGeom prst="rect">
            <a:avLst/>
          </a:prstGeom>
          <a:noFill/>
          <a:ln/>
        </p:spPr>
        <p:txBody>
          <a:bodyPr wrap="square" lIns="0" tIns="0" rIns="0" bIns="0" rtlCol="0" anchor="ctr"/>
          <a:lstStyle/>
          <a:p>
            <a:pPr algn="ctr" indent="0" marL="0">
              <a:buNone/>
            </a:pPr>
            <a:r>
              <a:rPr lang="en-US" sz="1800" b="1" dirty="0">
                <a:solidFill>
                  <a:srgbClr val="1B2733"/>
                </a:solidFill>
                <a:latin typeface="Cambria" pitchFamily="34" charset="0"/>
                <a:ea typeface="Cambria" pitchFamily="34" charset="-122"/>
                <a:cs typeface="Cambria" pitchFamily="34" charset="-120"/>
              </a:rPr>
              <a:t>kinh</a:t>
            </a:r>
            <a:endParaRPr lang="en-US" sz="1800" dirty="0"/>
          </a:p>
        </p:txBody>
      </p:sp>
      <p:sp>
        <p:nvSpPr>
          <p:cNvPr id="44" name="Text 42"/>
          <p:cNvSpPr txBox="1"/>
          <p:nvPr/>
        </p:nvSpPr>
        <p:spPr>
          <a:xfrm>
            <a:off x="8997696" y="4965192"/>
            <a:ext cx="1161288" cy="320040"/>
          </a:xfrm>
          <a:prstGeom prst="rect">
            <a:avLst/>
          </a:prstGeom>
          <a:noFill/>
          <a:ln/>
        </p:spPr>
        <p:txBody>
          <a:bodyPr wrap="square" lIns="0" tIns="0" rIns="0" bIns="0" rtlCol="0" anchor="ctr"/>
          <a:lstStyle/>
          <a:p>
            <a:pPr algn="ctr" indent="0" marL="0">
              <a:buNone/>
            </a:pPr>
            <a:r>
              <a:rPr lang="en-US" sz="850" dirty="0">
                <a:solidFill>
                  <a:srgbClr val="E4572E"/>
                </a:solidFill>
                <a:latin typeface="Calibri" pitchFamily="34" charset="0"/>
                <a:ea typeface="Calibri" pitchFamily="34" charset="-122"/>
                <a:cs typeface="Calibri" pitchFamily="34" charset="-120"/>
              </a:rPr>
              <a:t>I-DISEASESYMTOM</a:t>
            </a:r>
            <a:endParaRPr lang="en-US" sz="850" dirty="0"/>
          </a:p>
        </p:txBody>
      </p:sp>
      <p:sp>
        <p:nvSpPr>
          <p:cNvPr id="45" name="Text 43"/>
          <p:cNvSpPr txBox="1"/>
          <p:nvPr/>
        </p:nvSpPr>
        <p:spPr>
          <a:xfrm>
            <a:off x="6492240" y="5623560"/>
            <a:ext cx="4937760" cy="320040"/>
          </a:xfrm>
          <a:prstGeom prst="rect">
            <a:avLst/>
          </a:prstGeom>
          <a:noFill/>
          <a:ln/>
        </p:spPr>
        <p:txBody>
          <a:bodyPr wrap="square" lIns="0" tIns="0" rIns="0" bIns="0"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Bệnh/triệu chứng, cơ quan, thuốc, thời gian, tuổi, nghề nghiệp,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Bộ dữ liệu VietMed-NER</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 / 16</a:t>
            </a:r>
            <a:endParaRPr lang="en-US" sz="1000" dirty="0"/>
          </a:p>
        </p:txBody>
      </p:sp>
      <p:sp>
        <p:nvSpPr>
          <p:cNvPr id="4" name="Shape 2"/>
          <p:cNvSpPr/>
          <p:nvPr/>
        </p:nvSpPr>
        <p:spPr>
          <a:xfrm>
            <a:off x="548640" y="1188720"/>
            <a:ext cx="3566160" cy="1143000"/>
          </a:xfrm>
          <a:prstGeom prst="roundRect">
            <a:avLst>
              <a:gd name="adj" fmla="val 6400"/>
            </a:avLst>
          </a:prstGeom>
          <a:solidFill>
            <a:srgbClr val="EEF4F7"/>
          </a:solidFill>
          <a:ln w="12700">
            <a:solidFill>
              <a:srgbClr val="EEF4F7"/>
            </a:solidFill>
            <a:prstDash val="solid"/>
          </a:ln>
        </p:spPr>
      </p:sp>
      <p:sp>
        <p:nvSpPr>
          <p:cNvPr id="5" name="Text 3"/>
          <p:cNvSpPr txBox="1"/>
          <p:nvPr/>
        </p:nvSpPr>
        <p:spPr>
          <a:xfrm>
            <a:off x="731520" y="1298448"/>
            <a:ext cx="3200400" cy="594360"/>
          </a:xfrm>
          <a:prstGeom prst="rect">
            <a:avLst/>
          </a:prstGeom>
          <a:noFill/>
          <a:ln/>
        </p:spPr>
        <p:txBody>
          <a:bodyPr wrap="square" lIns="0" tIns="0" rIns="0" bIns="0" rtlCol="0" anchor="ctr"/>
          <a:lstStyle/>
          <a:p>
            <a:pPr indent="0" marL="0">
              <a:buNone/>
            </a:pPr>
            <a:r>
              <a:rPr lang="en-US" sz="3000" b="1" dirty="0">
                <a:solidFill>
                  <a:srgbClr val="2A9D8F"/>
                </a:solidFill>
                <a:latin typeface="Cambria" pitchFamily="34" charset="0"/>
                <a:ea typeface="Cambria" pitchFamily="34" charset="-122"/>
                <a:cs typeface="Cambria" pitchFamily="34" charset="-120"/>
              </a:rPr>
              <a:t>9.267</a:t>
            </a:r>
            <a:endParaRPr lang="en-US" sz="3000" dirty="0"/>
          </a:p>
        </p:txBody>
      </p:sp>
      <p:sp>
        <p:nvSpPr>
          <p:cNvPr id="6" name="Text 4"/>
          <p:cNvSpPr txBox="1"/>
          <p:nvPr/>
        </p:nvSpPr>
        <p:spPr>
          <a:xfrm>
            <a:off x="731520" y="1874520"/>
            <a:ext cx="3200400" cy="40005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câu (3 tập chính thức)</a:t>
            </a:r>
            <a:endParaRPr lang="en-US" sz="1250" dirty="0"/>
          </a:p>
        </p:txBody>
      </p:sp>
      <p:sp>
        <p:nvSpPr>
          <p:cNvPr id="7" name="Shape 5"/>
          <p:cNvSpPr/>
          <p:nvPr/>
        </p:nvSpPr>
        <p:spPr>
          <a:xfrm>
            <a:off x="4315968" y="1188720"/>
            <a:ext cx="3566160" cy="1143000"/>
          </a:xfrm>
          <a:prstGeom prst="roundRect">
            <a:avLst>
              <a:gd name="adj" fmla="val 6400"/>
            </a:avLst>
          </a:prstGeom>
          <a:solidFill>
            <a:srgbClr val="EEF4F7"/>
          </a:solidFill>
          <a:ln w="12700">
            <a:solidFill>
              <a:srgbClr val="EEF4F7"/>
            </a:solidFill>
            <a:prstDash val="solid"/>
          </a:ln>
        </p:spPr>
      </p:sp>
      <p:sp>
        <p:nvSpPr>
          <p:cNvPr id="8" name="Text 6"/>
          <p:cNvSpPr txBox="1"/>
          <p:nvPr/>
        </p:nvSpPr>
        <p:spPr>
          <a:xfrm>
            <a:off x="4498848" y="1298448"/>
            <a:ext cx="3200400" cy="594360"/>
          </a:xfrm>
          <a:prstGeom prst="rect">
            <a:avLst/>
          </a:prstGeom>
          <a:noFill/>
          <a:ln/>
        </p:spPr>
        <p:txBody>
          <a:bodyPr wrap="square" lIns="0" tIns="0" rIns="0" bIns="0" rtlCol="0" anchor="ctr"/>
          <a:lstStyle/>
          <a:p>
            <a:pPr indent="0" marL="0">
              <a:buNone/>
            </a:pPr>
            <a:r>
              <a:rPr lang="en-US" sz="3000" b="1" dirty="0">
                <a:solidFill>
                  <a:srgbClr val="E9A23B"/>
                </a:solidFill>
                <a:latin typeface="Cambria" pitchFamily="34" charset="0"/>
                <a:ea typeface="Cambria" pitchFamily="34" charset="-122"/>
                <a:cs typeface="Cambria" pitchFamily="34" charset="-120"/>
              </a:rPr>
              <a:t>216.599</a:t>
            </a:r>
            <a:endParaRPr lang="en-US" sz="3000" dirty="0"/>
          </a:p>
        </p:txBody>
      </p:sp>
      <p:sp>
        <p:nvSpPr>
          <p:cNvPr id="9" name="Text 7"/>
          <p:cNvSpPr txBox="1"/>
          <p:nvPr/>
        </p:nvSpPr>
        <p:spPr>
          <a:xfrm>
            <a:off x="4498848" y="1874520"/>
            <a:ext cx="3200400" cy="40005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âm tiết (token)</a:t>
            </a:r>
            <a:endParaRPr lang="en-US" sz="1250" dirty="0"/>
          </a:p>
        </p:txBody>
      </p:sp>
      <p:sp>
        <p:nvSpPr>
          <p:cNvPr id="10" name="Shape 8"/>
          <p:cNvSpPr/>
          <p:nvPr/>
        </p:nvSpPr>
        <p:spPr>
          <a:xfrm>
            <a:off x="8083296" y="1188720"/>
            <a:ext cx="3566160" cy="1143000"/>
          </a:xfrm>
          <a:prstGeom prst="roundRect">
            <a:avLst>
              <a:gd name="adj" fmla="val 6400"/>
            </a:avLst>
          </a:prstGeom>
          <a:solidFill>
            <a:srgbClr val="EEF4F7"/>
          </a:solidFill>
          <a:ln w="12700">
            <a:solidFill>
              <a:srgbClr val="EEF4F7"/>
            </a:solidFill>
            <a:prstDash val="solid"/>
          </a:ln>
        </p:spPr>
      </p:sp>
      <p:sp>
        <p:nvSpPr>
          <p:cNvPr id="11" name="Text 9"/>
          <p:cNvSpPr txBox="1"/>
          <p:nvPr/>
        </p:nvSpPr>
        <p:spPr>
          <a:xfrm>
            <a:off x="8266176" y="1298448"/>
            <a:ext cx="3200400" cy="594360"/>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22.974</a:t>
            </a:r>
            <a:endParaRPr lang="en-US" sz="3000" dirty="0"/>
          </a:p>
        </p:txBody>
      </p:sp>
      <p:sp>
        <p:nvSpPr>
          <p:cNvPr id="12" name="Text 10"/>
          <p:cNvSpPr txBox="1"/>
          <p:nvPr/>
        </p:nvSpPr>
        <p:spPr>
          <a:xfrm>
            <a:off x="8266176" y="1874520"/>
            <a:ext cx="3200400" cy="40005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thực thể được gán nhãn</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6949440" cy="914400"/>
        </p:xfrm>
        <a:graphic>
          <a:graphicData uri="http://schemas.openxmlformats.org/drawingml/2006/table">
            <a:tbl>
              <a:tblPr/>
              <a:tblGrid>
                <a:gridCol w="1188720"/>
                <a:gridCol w="914400"/>
                <a:gridCol w="1051560"/>
                <a:gridCol w="1097280"/>
                <a:gridCol w="1371600"/>
                <a:gridCol w="132588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Tập</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câu</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token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Số thực thể</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Câu không có thực thể</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Độ dài TB / trung vị</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4.616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111.267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11.747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440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24,1 / 26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validation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1.154</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27.657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2.889</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24,0 / 26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3.497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77.675</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8.338</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353</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22,2 / 20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bl>
          </a:graphicData>
        </a:graphic>
      </p:graphicFrame>
      <p:sp>
        <p:nvSpPr>
          <p:cNvPr id="14" name="Shape 11"/>
          <p:cNvSpPr/>
          <p:nvPr/>
        </p:nvSpPr>
        <p:spPr>
          <a:xfrm>
            <a:off x="7863840" y="2697480"/>
            <a:ext cx="3776472" cy="3383280"/>
          </a:xfrm>
          <a:prstGeom prst="roundRect">
            <a:avLst>
              <a:gd name="adj" fmla="val 2162"/>
            </a:avLst>
          </a:prstGeom>
          <a:solidFill>
            <a:srgbClr val="EEF4F7"/>
          </a:solidFill>
          <a:ln w="12700">
            <a:solidFill>
              <a:srgbClr val="EEF4F7"/>
            </a:solidFill>
            <a:prstDash val="solid"/>
          </a:ln>
        </p:spPr>
      </p:sp>
      <p:sp>
        <p:nvSpPr>
          <p:cNvPr id="15" name="Text 12"/>
          <p:cNvSpPr txBox="1"/>
          <p:nvPr/>
        </p:nvSpPr>
        <p:spPr>
          <a:xfrm>
            <a:off x="8092440" y="2852928"/>
            <a:ext cx="338328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Nguồn và gán nhãn</a:t>
            </a:r>
            <a:endParaRPr lang="en-US" sz="1800" dirty="0"/>
          </a:p>
        </p:txBody>
      </p:sp>
      <p:sp>
        <p:nvSpPr>
          <p:cNvPr id="16" name="Text 13"/>
          <p:cNvSpPr txBox="1"/>
          <p:nvPr/>
        </p:nvSpPr>
        <p:spPr>
          <a:xfrm>
            <a:off x="8092440" y="3310128"/>
            <a:ext cx="3383280" cy="2651760"/>
          </a:xfrm>
          <a:prstGeom prst="rect">
            <a:avLst/>
          </a:prstGeom>
          <a:noFill/>
          <a:ln/>
        </p:spPr>
        <p:txBody>
          <a:bodyPr wrap="square" lIns="635" tIns="635" rIns="635" bIns="635" rtlCol="0" anchor="t"/>
          <a:lstStyle/>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Transcript của </a:t>
            </a:r>
            <a:r>
              <a:rPr lang="en-US" sz="1450" b="1" dirty="0">
                <a:solidFill>
                  <a:srgbClr val="1B2733"/>
                </a:solidFill>
                <a:latin typeface="Calibri" pitchFamily="34" charset="0"/>
                <a:ea typeface="Calibri" pitchFamily="34" charset="-122"/>
                <a:cs typeface="Calibri" pitchFamily="34" charset="-120"/>
              </a:rPr>
              <a:t>VietMed</a:t>
            </a:r>
            <a:r>
              <a:rPr lang="en-US" sz="1450" dirty="0">
                <a:solidFill>
                  <a:srgbClr val="1B2733"/>
                </a:solidFill>
                <a:latin typeface="Calibri" pitchFamily="34" charset="0"/>
                <a:ea typeface="Calibri" pitchFamily="34" charset="-122"/>
                <a:cs typeface="Calibri" pitchFamily="34" charset="-120"/>
              </a:rPr>
              <a:t> (âm thanh y tế thật)</a:t>
            </a:r>
            <a:endParaRPr lang="en-US" sz="1450" dirty="0"/>
          </a:p>
          <a:p>
            <a:pPr marL="203200" indent="-203200">
              <a:spcAft>
                <a:spcPts val="600"/>
              </a:spcAft>
              <a:buSzPct val="100000"/>
              <a:buChar char="•"/>
            </a:pPr>
            <a:r>
              <a:rPr lang="en-US" sz="1450" b="1" dirty="0">
                <a:solidFill>
                  <a:srgbClr val="1B2733"/>
                </a:solidFill>
                <a:latin typeface="Calibri" pitchFamily="34" charset="0"/>
                <a:ea typeface="Calibri" pitchFamily="34" charset="-122"/>
                <a:cs typeface="Calibri" pitchFamily="34" charset="-120"/>
              </a:rPr>
              <a:t>2 người gán nhãn</a:t>
            </a:r>
            <a:r>
              <a:rPr lang="en-US" sz="1450" dirty="0">
                <a:solidFill>
                  <a:srgbClr val="1B2733"/>
                </a:solidFill>
                <a:latin typeface="Calibri" pitchFamily="34" charset="0"/>
                <a:ea typeface="Calibri" pitchFamily="34" charset="-122"/>
                <a:cs typeface="Calibri" pitchFamily="34" charset="-120"/>
              </a:rPr>
              <a:t> độc lập, 1 người có nền y khoa</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Xung đột giải quyết qua thảo luận; </a:t>
            </a:r>
            <a:r>
              <a:rPr lang="en-US" sz="1450" b="1" dirty="0">
                <a:solidFill>
                  <a:srgbClr val="1B2733"/>
                </a:solidFill>
                <a:latin typeface="Calibri" pitchFamily="34" charset="0"/>
                <a:ea typeface="Calibri" pitchFamily="34" charset="-122"/>
                <a:cs typeface="Calibri" pitchFamily="34" charset="-120"/>
              </a:rPr>
              <a:t>2 người khác rà soát</a:t>
            </a:r>
            <a:r>
              <a:rPr lang="en-US" sz="1450" dirty="0">
                <a:solidFill>
                  <a:srgbClr val="1B2733"/>
                </a:solidFill>
                <a:latin typeface="Calibri" pitchFamily="34" charset="0"/>
                <a:ea typeface="Calibri" pitchFamily="34" charset="-122"/>
                <a:cs typeface="Calibri" pitchFamily="34" charset="-120"/>
              </a:rPr>
              <a:t> toàn bộ</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Test có câu ngắn hơn: trung vị </a:t>
            </a:r>
            <a:r>
              <a:rPr lang="en-US" sz="1450" b="1" dirty="0">
                <a:solidFill>
                  <a:srgbClr val="1B2733"/>
                </a:solidFill>
                <a:latin typeface="Calibri" pitchFamily="34" charset="0"/>
                <a:ea typeface="Calibri" pitchFamily="34" charset="-122"/>
                <a:cs typeface="Calibri" pitchFamily="34" charset="-120"/>
              </a:rPr>
              <a:t>20</a:t>
            </a:r>
            <a:r>
              <a:rPr lang="en-US" sz="1450" dirty="0">
                <a:solidFill>
                  <a:srgbClr val="1B2733"/>
                </a:solidFill>
                <a:latin typeface="Calibri" pitchFamily="34" charset="0"/>
                <a:ea typeface="Calibri" pitchFamily="34" charset="-122"/>
                <a:cs typeface="Calibri" pitchFamily="34" charset="-120"/>
              </a:rPr>
              <a:t> so với </a:t>
            </a:r>
            <a:r>
              <a:rPr lang="en-US" sz="1450" b="1" dirty="0">
                <a:solidFill>
                  <a:srgbClr val="1B2733"/>
                </a:solidFill>
                <a:latin typeface="Calibri" pitchFamily="34" charset="0"/>
                <a:ea typeface="Calibri" pitchFamily="34" charset="-122"/>
                <a:cs typeface="Calibri" pitchFamily="34" charset="-120"/>
              </a:rPr>
              <a:t>26</a:t>
            </a:r>
            <a:r>
              <a:rPr lang="en-US" sz="1450" dirty="0">
                <a:solidFill>
                  <a:srgbClr val="1B2733"/>
                </a:solidFill>
                <a:latin typeface="Calibri" pitchFamily="34" charset="0"/>
                <a:ea typeface="Calibri" pitchFamily="34" charset="-122"/>
                <a:cs typeface="Calibri" pitchFamily="34" charset="-120"/>
              </a:rPr>
              <a:t> âm tiết</a:t>
            </a:r>
            <a:endParaRPr lang="en-US" sz="1450" dirty="0"/>
          </a:p>
        </p:txBody>
      </p:sp>
      <p:sp>
        <p:nvSpPr>
          <p:cNvPr id="17" name="Text 14"/>
          <p:cNvSpPr txBox="1"/>
          <p:nvPr/>
        </p:nvSpPr>
        <p:spPr>
          <a:xfrm>
            <a:off x="548640" y="4526280"/>
            <a:ext cx="6949440" cy="365760"/>
          </a:xfrm>
          <a:prstGeom prst="rect">
            <a:avLst/>
          </a:prstGeom>
          <a:noFill/>
          <a:ln/>
        </p:spPr>
        <p:txBody>
          <a:bodyPr wrap="square" lIns="0" tIns="0" rIns="0" bIns="0"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Bộ dữ liệu: leduckhai/VietMed-NER (Le-Duc và cộng sự, NAACL 2025).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EDA: mất cân bằng lớp rất nặng</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 / 16</a:t>
            </a:r>
            <a:endParaRPr lang="en-US" sz="1000" dirty="0"/>
          </a:p>
        </p:txBody>
      </p:sp>
      <p:graphicFrame>
        <p:nvGraphicFramePr>
          <p:cNvPr id="4" name="Chart 0" descr=""/>
          <p:cNvGraphicFramePr/>
          <p:nvPr/>
        </p:nvGraphicFramePr>
        <p:xfrm>
          <a:off x="457200" y="1143000"/>
          <a:ext cx="8138160" cy="5120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869680" y="1188720"/>
            <a:ext cx="2788920" cy="1463040"/>
          </a:xfrm>
          <a:prstGeom prst="roundRect">
            <a:avLst>
              <a:gd name="adj" fmla="val 5000"/>
            </a:avLst>
          </a:prstGeom>
          <a:solidFill>
            <a:srgbClr val="EEF4F7"/>
          </a:solidFill>
          <a:ln w="12700">
            <a:solidFill>
              <a:srgbClr val="EEF4F7"/>
            </a:solidFill>
            <a:prstDash val="solid"/>
          </a:ln>
        </p:spPr>
      </p:sp>
      <p:sp>
        <p:nvSpPr>
          <p:cNvPr id="6" name="Text 3"/>
          <p:cNvSpPr txBox="1"/>
          <p:nvPr/>
        </p:nvSpPr>
        <p:spPr>
          <a:xfrm>
            <a:off x="9052560" y="1298448"/>
            <a:ext cx="2423160" cy="760781"/>
          </a:xfrm>
          <a:prstGeom prst="rect">
            <a:avLst/>
          </a:prstGeom>
          <a:noFill/>
          <a:ln/>
        </p:spPr>
        <p:txBody>
          <a:bodyPr wrap="square" lIns="0" tIns="0" rIns="0" bIns="0" rtlCol="0" anchor="ctr"/>
          <a:lstStyle/>
          <a:p>
            <a:pPr indent="0" marL="0">
              <a:buNone/>
            </a:pPr>
            <a:r>
              <a:rPr lang="en-US" sz="3000" b="1" dirty="0">
                <a:solidFill>
                  <a:srgbClr val="2A9D8F"/>
                </a:solidFill>
                <a:latin typeface="Cambria" pitchFamily="34" charset="0"/>
                <a:ea typeface="Cambria" pitchFamily="34" charset="-122"/>
                <a:cs typeface="Cambria" pitchFamily="34" charset="-120"/>
              </a:rPr>
              <a:t>78,5%</a:t>
            </a:r>
            <a:endParaRPr lang="en-US" sz="3000" dirty="0"/>
          </a:p>
        </p:txBody>
      </p:sp>
      <p:sp>
        <p:nvSpPr>
          <p:cNvPr id="7" name="Text 4"/>
          <p:cNvSpPr txBox="1"/>
          <p:nvPr/>
        </p:nvSpPr>
        <p:spPr>
          <a:xfrm>
            <a:off x="9052560" y="2066544"/>
            <a:ext cx="2423160" cy="512064"/>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token train mang nhãn O ⇒ accuracy ít ý nghĩa</a:t>
            </a:r>
            <a:endParaRPr lang="en-US" sz="1250" dirty="0"/>
          </a:p>
        </p:txBody>
      </p:sp>
      <p:sp>
        <p:nvSpPr>
          <p:cNvPr id="8" name="Shape 5"/>
          <p:cNvSpPr/>
          <p:nvPr/>
        </p:nvSpPr>
        <p:spPr>
          <a:xfrm>
            <a:off x="8869680" y="2834640"/>
            <a:ext cx="2788920" cy="1463040"/>
          </a:xfrm>
          <a:prstGeom prst="roundRect">
            <a:avLst>
              <a:gd name="adj" fmla="val 5000"/>
            </a:avLst>
          </a:prstGeom>
          <a:solidFill>
            <a:srgbClr val="EEF4F7"/>
          </a:solidFill>
          <a:ln w="12700">
            <a:solidFill>
              <a:srgbClr val="EEF4F7"/>
            </a:solidFill>
            <a:prstDash val="solid"/>
          </a:ln>
        </p:spPr>
      </p:sp>
      <p:sp>
        <p:nvSpPr>
          <p:cNvPr id="9" name="Text 6"/>
          <p:cNvSpPr txBox="1"/>
          <p:nvPr/>
        </p:nvSpPr>
        <p:spPr>
          <a:xfrm>
            <a:off x="9052560" y="2944368"/>
            <a:ext cx="2423160" cy="760781"/>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 600×</a:t>
            </a:r>
            <a:endParaRPr lang="en-US" sz="3000" dirty="0"/>
          </a:p>
        </p:txBody>
      </p:sp>
      <p:sp>
        <p:nvSpPr>
          <p:cNvPr id="10" name="Text 7"/>
          <p:cNvSpPr txBox="1"/>
          <p:nvPr/>
        </p:nvSpPr>
        <p:spPr>
          <a:xfrm>
            <a:off x="9052560" y="3712464"/>
            <a:ext cx="2423160" cy="512064"/>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DISEASESYMTOM 2.975 so với TRANSPORTATION 5</a:t>
            </a:r>
            <a:endParaRPr lang="en-US" sz="1250" dirty="0"/>
          </a:p>
        </p:txBody>
      </p:sp>
      <p:sp>
        <p:nvSpPr>
          <p:cNvPr id="11" name="Shape 8"/>
          <p:cNvSpPr/>
          <p:nvPr/>
        </p:nvSpPr>
        <p:spPr>
          <a:xfrm>
            <a:off x="8869680" y="4480560"/>
            <a:ext cx="2788920" cy="1463040"/>
          </a:xfrm>
          <a:prstGeom prst="roundRect">
            <a:avLst>
              <a:gd name="adj" fmla="val 5000"/>
            </a:avLst>
          </a:prstGeom>
          <a:solidFill>
            <a:srgbClr val="EEF4F7"/>
          </a:solidFill>
          <a:ln w="12700">
            <a:solidFill>
              <a:srgbClr val="EEF4F7"/>
            </a:solidFill>
            <a:prstDash val="solid"/>
          </a:ln>
        </p:spPr>
      </p:sp>
      <p:sp>
        <p:nvSpPr>
          <p:cNvPr id="12" name="Text 9"/>
          <p:cNvSpPr txBox="1"/>
          <p:nvPr/>
        </p:nvSpPr>
        <p:spPr>
          <a:xfrm>
            <a:off x="9052560" y="4590288"/>
            <a:ext cx="2423160" cy="760781"/>
          </a:xfrm>
          <a:prstGeom prst="rect">
            <a:avLst/>
          </a:prstGeom>
          <a:noFill/>
          <a:ln/>
        </p:spPr>
        <p:txBody>
          <a:bodyPr wrap="square" lIns="0" tIns="0" rIns="0" bIns="0" rtlCol="0" anchor="ctr"/>
          <a:lstStyle/>
          <a:p>
            <a:pPr indent="0" marL="0">
              <a:buNone/>
            </a:pPr>
            <a:r>
              <a:rPr lang="en-US" sz="3000" b="1" dirty="0">
                <a:solidFill>
                  <a:srgbClr val="E9A23B"/>
                </a:solidFill>
                <a:latin typeface="Cambria" pitchFamily="34" charset="0"/>
                <a:ea typeface="Cambria" pitchFamily="34" charset="-122"/>
                <a:cs typeface="Cambria" pitchFamily="34" charset="-120"/>
              </a:rPr>
              <a:t>343 → 18</a:t>
            </a:r>
            <a:endParaRPr lang="en-US" sz="3000" dirty="0"/>
          </a:p>
        </p:txBody>
      </p:sp>
      <p:sp>
        <p:nvSpPr>
          <p:cNvPr id="13" name="Text 10"/>
          <p:cNvSpPr txBox="1"/>
          <p:nvPr/>
        </p:nvSpPr>
        <p:spPr>
          <a:xfrm>
            <a:off x="9052560" y="5358384"/>
            <a:ext cx="2423160" cy="512064"/>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PREVENTIVEMED train → test (2,9% → 0,2%)</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EDA: test lệch miền so với train và validation</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 / 16</a:t>
            </a:r>
            <a:endParaRPr lang="en-US" sz="1000" dirty="0"/>
          </a:p>
        </p:txBody>
      </p:sp>
      <p:sp>
        <p:nvSpPr>
          <p:cNvPr id="4" name="Shape 2"/>
          <p:cNvSpPr/>
          <p:nvPr/>
        </p:nvSpPr>
        <p:spPr>
          <a:xfrm>
            <a:off x="548640" y="1188720"/>
            <a:ext cx="5486400" cy="1965960"/>
          </a:xfrm>
          <a:prstGeom prst="roundRect">
            <a:avLst>
              <a:gd name="adj" fmla="val 3721"/>
            </a:avLst>
          </a:prstGeom>
          <a:solidFill>
            <a:srgbClr val="EEF4F7"/>
          </a:solidFill>
          <a:ln w="12700">
            <a:solidFill>
              <a:srgbClr val="EEF4F7"/>
            </a:solidFill>
            <a:prstDash val="solid"/>
          </a:ln>
        </p:spPr>
      </p:sp>
      <p:sp>
        <p:nvSpPr>
          <p:cNvPr id="5" name="Text 3"/>
          <p:cNvSpPr txBox="1"/>
          <p:nvPr/>
        </p:nvSpPr>
        <p:spPr>
          <a:xfrm>
            <a:off x="777240" y="1325880"/>
            <a:ext cx="502920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Nguồn gốc từng câu (đã đối chiếu)</a:t>
            </a:r>
            <a:endParaRPr lang="en-US" sz="1800" dirty="0"/>
          </a:p>
        </p:txBody>
      </p:sp>
      <p:sp>
        <p:nvSpPr>
          <p:cNvPr id="6" name="Text 4"/>
          <p:cNvSpPr txBox="1"/>
          <p:nvPr/>
        </p:nvSpPr>
        <p:spPr>
          <a:xfrm>
            <a:off x="777240" y="1783080"/>
            <a:ext cx="5074920" cy="1325880"/>
          </a:xfrm>
          <a:prstGeom prst="rect">
            <a:avLst/>
          </a:prstGeom>
          <a:noFill/>
          <a:ln/>
        </p:spPr>
        <p:txBody>
          <a:bodyPr wrap="square" lIns="635" tIns="635" rIns="635" bIns="635" rtlCol="0" anchor="t"/>
          <a:lstStyle/>
          <a:p>
            <a:pPr marL="203200" indent="-203200">
              <a:spcAft>
                <a:spcPts val="600"/>
              </a:spcAft>
              <a:buSzPct val="100000"/>
              <a:buChar char="•"/>
            </a:pPr>
            <a:r>
              <a:rPr lang="en-US" sz="1450" b="1" dirty="0">
                <a:solidFill>
                  <a:srgbClr val="1B2733"/>
                </a:solidFill>
                <a:latin typeface="Calibri" pitchFamily="34" charset="0"/>
                <a:ea typeface="Calibri" pitchFamily="34" charset="-122"/>
                <a:cs typeface="Calibri" pitchFamily="34" charset="-120"/>
              </a:rPr>
              <a:t>100%</a:t>
            </a:r>
            <a:r>
              <a:rPr lang="en-US" sz="1450" dirty="0">
                <a:solidFill>
                  <a:srgbClr val="1B2733"/>
                </a:solidFill>
                <a:latin typeface="Calibri" pitchFamily="34" charset="0"/>
                <a:ea typeface="Calibri" pitchFamily="34" charset="-122"/>
                <a:cs typeface="Calibri" pitchFamily="34" charset="-120"/>
              </a:rPr>
              <a:t> câu train + validation khớp VietMed train + dev + cv (</a:t>
            </a:r>
            <a:r>
              <a:rPr lang="en-US" sz="1450" b="1" dirty="0">
                <a:solidFill>
                  <a:srgbClr val="1B2733"/>
                </a:solidFill>
                <a:latin typeface="Calibri" pitchFamily="34" charset="0"/>
                <a:ea typeface="Calibri" pitchFamily="34" charset="-122"/>
                <a:cs typeface="Calibri" pitchFamily="34" charset="-120"/>
              </a:rPr>
              <a:t>5.770 câu</a:t>
            </a:r>
            <a:r>
              <a:rPr lang="en-US" sz="1450" dirty="0">
                <a:solidFill>
                  <a:srgbClr val="1B2733"/>
                </a:solidFill>
                <a:latin typeface="Calibri" pitchFamily="34" charset="0"/>
                <a:ea typeface="Calibri" pitchFamily="34" charset="-122"/>
                <a:cs typeface="Calibri" pitchFamily="34" charset="-120"/>
              </a:rPr>
              <a:t>), chia ngẫu nhiên từ chung một nguồn</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Test: </a:t>
            </a:r>
            <a:r>
              <a:rPr lang="en-US" sz="1450" b="1" dirty="0">
                <a:solidFill>
                  <a:srgbClr val="1B2733"/>
                </a:solidFill>
                <a:latin typeface="Calibri" pitchFamily="34" charset="0"/>
                <a:ea typeface="Calibri" pitchFamily="34" charset="-122"/>
                <a:cs typeface="Calibri" pitchFamily="34" charset="-120"/>
              </a:rPr>
              <a:t>3.437</a:t>
            </a:r>
            <a:r>
              <a:rPr lang="en-US" sz="1450" dirty="0">
                <a:solidFill>
                  <a:srgbClr val="1B2733"/>
                </a:solidFill>
                <a:latin typeface="Calibri" pitchFamily="34" charset="0"/>
                <a:ea typeface="Calibri" pitchFamily="34" charset="-122"/>
                <a:cs typeface="Calibri" pitchFamily="34" charset="-120"/>
              </a:rPr>
              <a:t> câu khớp VietMed test, 60 câu không khớp chính xác</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5486400" cy="914400"/>
        </p:xfrm>
        <a:graphic>
          <a:graphicData uri="http://schemas.openxmlformats.org/drawingml/2006/table">
            <a:tbl>
              <a:tblPr/>
              <a:tblGrid>
                <a:gridCol w="914400"/>
                <a:gridCol w="1920240"/>
                <a:gridCol w="2651760"/>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VietMed</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Nhóm bệnh ICD-10 chính</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Ngữ cảnh ghi âm</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train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M, E, C–D, G, I</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Tư vấn, điện thoại</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dev</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Z, I, F, R, D, L</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Điện thoại, sách, tư vấn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K, M, O, P, N, V–Y, H</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Podcast, talkshow, bài giảng, tin tức</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355080" y="1188720"/>
          <a:ext cx="5303520" cy="914400"/>
        </p:xfrm>
        <a:graphic>
          <a:graphicData uri="http://schemas.openxmlformats.org/drawingml/2006/table">
            <a:tbl>
              <a:tblPr/>
              <a:tblGrid>
                <a:gridCol w="2926080"/>
                <a:gridCol w="1188720"/>
                <a:gridCol w="1188720"/>
              </a:tblGrid>
              <a:tr h="41148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So với từ vựng train (2.220 âm tiết)</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Validation</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50" b="1" dirty="0">
                          <a:solidFill>
                            <a:srgbClr val="FFFFFF"/>
                          </a:solidFill>
                          <a:latin typeface="Calibri" pitchFamily="34" charset="0"/>
                          <a:ea typeface="Calibri" pitchFamily="34" charset="-122"/>
                          <a:cs typeface="Calibri" pitchFamily="34" charset="-120"/>
                        </a:rPr>
                        <a:t>Test</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11480">
                <a:tc>
                  <a:txBody>
                    <a:bodyPr/>
                    <a:lstStyle/>
                    <a:p>
                      <a:pPr algn="l" indent="0" marL="0">
                        <a:buNone/>
                      </a:pPr>
                      <a:r>
                        <a:rPr lang="en-US" sz="1350" dirty="0">
                          <a:solidFill>
                            <a:srgbClr val="1B2733"/>
                          </a:solidFill>
                          <a:latin typeface="Calibri" pitchFamily="34" charset="0"/>
                          <a:ea typeface="Calibri" pitchFamily="34" charset="-122"/>
                          <a:cs typeface="Calibri" pitchFamily="34" charset="-120"/>
                        </a:rPr>
                        <a:t>Token chưa gặp</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0,42%</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1,83%</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11480">
                <a:tc>
                  <a:txBody>
                    <a:bodyPr/>
                    <a:lstStyle/>
                    <a:p>
                      <a:pPr algn="l" indent="0" marL="0">
                        <a:buNone/>
                      </a:pPr>
                      <a:r>
                        <a:rPr lang="en-US" sz="1350" dirty="0">
                          <a:solidFill>
                            <a:srgbClr val="1B2733"/>
                          </a:solidFill>
                          <a:latin typeface="Calibri" pitchFamily="34" charset="0"/>
                          <a:ea typeface="Calibri" pitchFamily="34" charset="-122"/>
                          <a:cs typeface="Calibri" pitchFamily="34" charset="-120"/>
                        </a:rPr>
                        <a:t>Loại âm tiết chưa gặp</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6,4%</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50" dirty="0">
                          <a:solidFill>
                            <a:srgbClr val="1B2733"/>
                          </a:solidFill>
                          <a:latin typeface="Calibri" pitchFamily="34" charset="0"/>
                          <a:ea typeface="Calibri" pitchFamily="34" charset="-122"/>
                          <a:cs typeface="Calibri" pitchFamily="34" charset="-120"/>
                        </a:rPr>
                        <a:t>22,7%</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11480">
                <a:tc>
                  <a:txBody>
                    <a:bodyPr/>
                    <a:lstStyle/>
                    <a:p>
                      <a:pPr algn="l" indent="0" marL="0">
                        <a:buNone/>
                      </a:pPr>
                      <a:r>
                        <a:rPr lang="en-US" sz="1350" b="1" dirty="0">
                          <a:solidFill>
                            <a:srgbClr val="1B2733"/>
                          </a:solidFill>
                          <a:latin typeface="Calibri" pitchFamily="34" charset="0"/>
                          <a:ea typeface="Calibri" pitchFamily="34" charset="-122"/>
                          <a:cs typeface="Calibri" pitchFamily="34" charset="-120"/>
                        </a:rPr>
                        <a:t>Thực thể chưa gặp</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50" b="1" dirty="0">
                          <a:solidFill>
                            <a:srgbClr val="1B2733"/>
                          </a:solidFill>
                          <a:latin typeface="Calibri" pitchFamily="34" charset="0"/>
                          <a:ea typeface="Calibri" pitchFamily="34" charset="-122"/>
                          <a:cs typeface="Calibri" pitchFamily="34" charset="-120"/>
                        </a:rPr>
                        <a:t>6,7%</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50" b="1" dirty="0">
                          <a:solidFill>
                            <a:srgbClr val="1B2733"/>
                          </a:solidFill>
                          <a:latin typeface="Calibri" pitchFamily="34" charset="0"/>
                          <a:ea typeface="Calibri" pitchFamily="34" charset="-122"/>
                          <a:cs typeface="Calibri" pitchFamily="34" charset="-120"/>
                        </a:rPr>
                        <a:t>30,7%</a:t>
                      </a:r>
                      <a:endParaRPr lang="en-US" sz="13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bl>
          </a:graphicData>
        </a:graphic>
      </p:graphicFrame>
      <p:sp>
        <p:nvSpPr>
          <p:cNvPr id="9" name="Shape 5"/>
          <p:cNvSpPr/>
          <p:nvPr/>
        </p:nvSpPr>
        <p:spPr>
          <a:xfrm>
            <a:off x="6355080" y="3246120"/>
            <a:ext cx="5303520" cy="2468880"/>
          </a:xfrm>
          <a:prstGeom prst="roundRect">
            <a:avLst>
              <a:gd name="adj" fmla="val 2963"/>
            </a:avLst>
          </a:prstGeom>
          <a:solidFill>
            <a:srgbClr val="FCE9E3"/>
          </a:solidFill>
          <a:ln w="12700">
            <a:solidFill>
              <a:srgbClr val="FCE9E3"/>
            </a:solidFill>
            <a:prstDash val="solid"/>
          </a:ln>
        </p:spPr>
      </p:sp>
      <p:sp>
        <p:nvSpPr>
          <p:cNvPr id="10" name="Text 6"/>
          <p:cNvSpPr txBox="1"/>
          <p:nvPr/>
        </p:nvSpPr>
        <p:spPr>
          <a:xfrm>
            <a:off x="6583680" y="3401568"/>
            <a:ext cx="4846320" cy="36576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Hệ quả</a:t>
            </a:r>
            <a:endParaRPr lang="en-US" sz="1800" dirty="0"/>
          </a:p>
        </p:txBody>
      </p:sp>
      <p:sp>
        <p:nvSpPr>
          <p:cNvPr id="11" name="Text 7"/>
          <p:cNvSpPr txBox="1"/>
          <p:nvPr/>
        </p:nvSpPr>
        <p:spPr>
          <a:xfrm>
            <a:off x="6583680" y="3840480"/>
            <a:ext cx="4846320" cy="1737360"/>
          </a:xfrm>
          <a:prstGeom prst="rect">
            <a:avLst/>
          </a:prstGeom>
          <a:noFill/>
          <a:ln/>
        </p:spPr>
        <p:txBody>
          <a:bodyPr wrap="square" lIns="635" tIns="635" rIns="635" bIns="635" rtlCol="0" anchor="t"/>
          <a:lstStyle/>
          <a:p>
            <a:pPr marL="203200" indent="-2032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Validation </a:t>
            </a:r>
            <a:r>
              <a:rPr lang="en-US" sz="1500" b="1" dirty="0">
                <a:solidFill>
                  <a:srgbClr val="1B2733"/>
                </a:solidFill>
                <a:latin typeface="Calibri" pitchFamily="34" charset="0"/>
                <a:ea typeface="Calibri" pitchFamily="34" charset="-122"/>
                <a:cs typeface="Calibri" pitchFamily="34" charset="-120"/>
              </a:rPr>
              <a:t>cùng miền</a:t>
            </a:r>
            <a:r>
              <a:rPr lang="en-US" sz="1500" dirty="0">
                <a:solidFill>
                  <a:srgbClr val="1B2733"/>
                </a:solidFill>
                <a:latin typeface="Calibri" pitchFamily="34" charset="0"/>
                <a:ea typeface="Calibri" pitchFamily="34" charset="-122"/>
                <a:cs typeface="Calibri" pitchFamily="34" charset="-120"/>
              </a:rPr>
              <a:t> với train; test là các bản ghi </a:t>
            </a:r>
            <a:r>
              <a:rPr lang="en-US" sz="1500" b="1" dirty="0">
                <a:solidFill>
                  <a:srgbClr val="1B2733"/>
                </a:solidFill>
                <a:latin typeface="Calibri" pitchFamily="34" charset="0"/>
                <a:ea typeface="Calibri" pitchFamily="34" charset="-122"/>
                <a:cs typeface="Calibri" pitchFamily="34" charset="-120"/>
              </a:rPr>
              <a:t>khác hẳn</a:t>
            </a:r>
            <a:endParaRPr lang="en-US" sz="1500" dirty="0"/>
          </a:p>
          <a:p>
            <a:pPr marL="203200" indent="-2032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Gần </a:t>
            </a:r>
            <a:r>
              <a:rPr lang="en-US" sz="1500" b="1" dirty="0">
                <a:solidFill>
                  <a:srgbClr val="1B2733"/>
                </a:solidFill>
                <a:latin typeface="Calibri" pitchFamily="34" charset="0"/>
                <a:ea typeface="Calibri" pitchFamily="34" charset="-122"/>
                <a:cs typeface="Calibri" pitchFamily="34" charset="-120"/>
              </a:rPr>
              <a:t>1/3</a:t>
            </a:r>
            <a:r>
              <a:rPr lang="en-US" sz="1500" dirty="0">
                <a:solidFill>
                  <a:srgbClr val="1B2733"/>
                </a:solidFill>
                <a:latin typeface="Calibri" pitchFamily="34" charset="0"/>
                <a:ea typeface="Calibri" pitchFamily="34" charset="-122"/>
                <a:cs typeface="Calibri" pitchFamily="34" charset="-120"/>
              </a:rPr>
              <a:t> thực thể test chưa từng xuất hiện ở train</a:t>
            </a:r>
            <a:endParaRPr lang="en-US" sz="1500" dirty="0"/>
          </a:p>
          <a:p>
            <a:pPr marL="203200" indent="-2032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Mô hình dựa vào </a:t>
            </a:r>
            <a:r>
              <a:rPr lang="en-US" sz="1500" b="1" dirty="0">
                <a:solidFill>
                  <a:srgbClr val="1B2733"/>
                </a:solidFill>
                <a:latin typeface="Calibri" pitchFamily="34" charset="0"/>
                <a:ea typeface="Calibri" pitchFamily="34" charset="-122"/>
                <a:cs typeface="Calibri" pitchFamily="34" charset="-120"/>
              </a:rPr>
              <a:t>ghi nhớ</a:t>
            </a:r>
            <a:r>
              <a:rPr lang="en-US" sz="1500" dirty="0">
                <a:solidFill>
                  <a:srgbClr val="1B2733"/>
                </a:solidFill>
                <a:latin typeface="Calibri" pitchFamily="34" charset="0"/>
                <a:ea typeface="Calibri" pitchFamily="34" charset="-122"/>
                <a:cs typeface="Calibri" pitchFamily="34" charset="-120"/>
              </a:rPr>
              <a:t> sẽ tụt mạnh trên test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Tiền xử lý và mã hoá dữ liệu</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 / 16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3017520"/>
                <a:gridCol w="822960"/>
                <a:gridCol w="822960"/>
                <a:gridCol w="82296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Kiểm tra chất lượng</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Val</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Câu rỗng</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Token rỗng</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Số âm tiết ≠ số nhãn</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Token chưa chuẩn hoá NFC</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Token có chữ hoa</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8404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Token chỉ gồm dấu câu</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Chuỗi BIO lỗi (I- sau O)</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300" b="1" dirty="0">
                          <a:solidFill>
                            <a:srgbClr val="1B2733"/>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bl>
          </a:graphicData>
        </a:graphic>
      </p:graphicFrame>
      <p:sp>
        <p:nvSpPr>
          <p:cNvPr id="5" name="Text 2"/>
          <p:cNvSpPr txBox="1"/>
          <p:nvPr/>
        </p:nvSpPr>
        <p:spPr>
          <a:xfrm>
            <a:off x="548640" y="4434840"/>
            <a:ext cx="5486400" cy="731520"/>
          </a:xfrm>
          <a:prstGeom prst="rect">
            <a:avLst/>
          </a:prstGeom>
          <a:noFill/>
          <a:ln/>
        </p:spPr>
        <p:txBody>
          <a:bodyPr wrap="square" lIns="0" tIns="0" rIns="0" bIns="0" rtlCol="0" anchor="t"/>
          <a:lstStyle/>
          <a:p>
            <a:pPr indent="0" marL="0">
              <a:buNone/>
            </a:pPr>
            <a:r>
              <a:rPr lang="en-US" sz="1300" i="1" dirty="0">
                <a:solidFill>
                  <a:srgbClr val="5B6B7A"/>
                </a:solidFill>
                <a:latin typeface="Calibri" pitchFamily="34" charset="0"/>
                <a:ea typeface="Calibri" pitchFamily="34" charset="-122"/>
                <a:cs typeface="Calibri" pitchFamily="34" charset="-120"/>
              </a:rPr>
              <a:t>Không có giá trị thiếu; dữ liệu đã viết thường, chuẩn NFC. 23 chuỗi BIO lỗi (&lt; 0,02% token) được giữ nguyên để không đổi tập đánh giá.</a:t>
            </a:r>
            <a:endParaRPr lang="en-US" sz="1300" dirty="0"/>
          </a:p>
        </p:txBody>
      </p:sp>
      <p:sp>
        <p:nvSpPr>
          <p:cNvPr id="6" name="Shape 3"/>
          <p:cNvSpPr/>
          <p:nvPr/>
        </p:nvSpPr>
        <p:spPr>
          <a:xfrm>
            <a:off x="6355080" y="1188720"/>
            <a:ext cx="5303520" cy="4892040"/>
          </a:xfrm>
          <a:prstGeom prst="roundRect">
            <a:avLst>
              <a:gd name="adj" fmla="val 1495"/>
            </a:avLst>
          </a:prstGeom>
          <a:solidFill>
            <a:srgbClr val="EEF4F7"/>
          </a:solidFill>
          <a:ln w="12700">
            <a:solidFill>
              <a:srgbClr val="EEF4F7"/>
            </a:solidFill>
            <a:prstDash val="solid"/>
          </a:ln>
        </p:spPr>
      </p:sp>
      <p:sp>
        <p:nvSpPr>
          <p:cNvPr id="7" name="Text 4"/>
          <p:cNvSpPr txBox="1"/>
          <p:nvPr/>
        </p:nvSpPr>
        <p:spPr>
          <a:xfrm>
            <a:off x="6583680" y="1353312"/>
            <a:ext cx="484632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Mã hoá</a:t>
            </a:r>
            <a:endParaRPr lang="en-US" sz="1800" dirty="0"/>
          </a:p>
        </p:txBody>
      </p:sp>
      <p:sp>
        <p:nvSpPr>
          <p:cNvPr id="8" name="Text 5"/>
          <p:cNvSpPr txBox="1"/>
          <p:nvPr/>
        </p:nvSpPr>
        <p:spPr>
          <a:xfrm>
            <a:off x="6583680" y="1810512"/>
            <a:ext cx="4892040" cy="4160520"/>
          </a:xfrm>
          <a:prstGeom prst="rect">
            <a:avLst/>
          </a:prstGeom>
          <a:noFill/>
          <a:ln/>
        </p:spPr>
        <p:txBody>
          <a:bodyPr wrap="square" lIns="635" tIns="635" rIns="635" bIns="635" rtlCol="0" anchor="t"/>
          <a:lstStyle/>
          <a:p>
            <a:pPr marL="203200" indent="-203200">
              <a:spcAft>
                <a:spcPts val="600"/>
              </a:spcAft>
              <a:buSzPct val="100000"/>
              <a:buChar char="•"/>
            </a:pPr>
            <a:r>
              <a:rPr lang="en-US" sz="1500" b="1" dirty="0">
                <a:solidFill>
                  <a:srgbClr val="1B2733"/>
                </a:solidFill>
                <a:latin typeface="Calibri" pitchFamily="34" charset="0"/>
                <a:ea typeface="Calibri" pitchFamily="34" charset="-122"/>
                <a:cs typeface="Calibri" pitchFamily="34" charset="-120"/>
              </a:rPr>
              <a:t>Nhãn:</a:t>
            </a:r>
            <a:r>
              <a:rPr lang="en-US" sz="1500" dirty="0">
                <a:solidFill>
                  <a:srgbClr val="1B2733"/>
                </a:solidFill>
                <a:latin typeface="Calibri" pitchFamily="34" charset="0"/>
                <a:ea typeface="Calibri" pitchFamily="34" charset="-122"/>
                <a:cs typeface="Calibri" pitchFamily="34" charset="-120"/>
              </a:rPr>
              <a:t> 37 nhãn BIO → số nguyên (label2id) chỉ từ train; nhãn "0" đổi thành O</a:t>
            </a:r>
            <a:endParaRPr lang="en-US" sz="1500" dirty="0"/>
          </a:p>
          <a:p>
            <a:pPr marL="203200" indent="-203200">
              <a:spcAft>
                <a:spcPts val="600"/>
              </a:spcAft>
              <a:buSzPct val="100000"/>
              <a:buChar char="•"/>
            </a:pPr>
            <a:r>
              <a:rPr lang="en-US" sz="1500" b="1" dirty="0">
                <a:solidFill>
                  <a:srgbClr val="1B2733"/>
                </a:solidFill>
                <a:latin typeface="Calibri" pitchFamily="34" charset="0"/>
                <a:ea typeface="Calibri" pitchFamily="34" charset="-122"/>
                <a:cs typeface="Calibri" pitchFamily="34" charset="-120"/>
              </a:rPr>
              <a:t>Transformer:</a:t>
            </a:r>
            <a:r>
              <a:rPr lang="en-US" sz="1500" dirty="0">
                <a:solidFill>
                  <a:srgbClr val="1B2733"/>
                </a:solidFill>
                <a:latin typeface="Calibri" pitchFamily="34" charset="0"/>
                <a:ea typeface="Calibri" pitchFamily="34" charset="-122"/>
                <a:cs typeface="Calibri" pitchFamily="34" charset="-120"/>
              </a:rPr>
              <a:t> âm tiết → subword; nhãn chỉ gán cho </a:t>
            </a:r>
            <a:r>
              <a:rPr lang="en-US" sz="1500" b="1" dirty="0">
                <a:solidFill>
                  <a:srgbClr val="1B2733"/>
                </a:solidFill>
                <a:latin typeface="Calibri" pitchFamily="34" charset="0"/>
                <a:ea typeface="Calibri" pitchFamily="34" charset="-122"/>
                <a:cs typeface="Calibri" pitchFamily="34" charset="-120"/>
              </a:rPr>
              <a:t>subword đầu</a:t>
            </a:r>
            <a:r>
              <a:rPr lang="en-US" sz="1500" dirty="0">
                <a:solidFill>
                  <a:srgbClr val="1B2733"/>
                </a:solidFill>
                <a:latin typeface="Calibri" pitchFamily="34" charset="0"/>
                <a:ea typeface="Calibri" pitchFamily="34" charset="-122"/>
                <a:cs typeface="Calibri" pitchFamily="34" charset="-120"/>
              </a:rPr>
              <a:t>, subword còn lại nhận -100 (bỏ qua khi tính loss); tối đa 256 subword</a:t>
            </a:r>
            <a:endParaRPr lang="en-US" sz="1500" dirty="0"/>
          </a:p>
          <a:p>
            <a:pPr marL="203200" indent="-203200">
              <a:spcAft>
                <a:spcPts val="600"/>
              </a:spcAft>
              <a:buSzPct val="100000"/>
              <a:buChar char="•"/>
            </a:pPr>
            <a:r>
              <a:rPr lang="en-US" sz="1500" b="1" dirty="0">
                <a:solidFill>
                  <a:srgbClr val="1B2733"/>
                </a:solidFill>
                <a:latin typeface="Calibri" pitchFamily="34" charset="0"/>
                <a:ea typeface="Calibri" pitchFamily="34" charset="-122"/>
                <a:cs typeface="Calibri" pitchFamily="34" charset="-120"/>
              </a:rPr>
              <a:t>Mô hình cổ điển:</a:t>
            </a:r>
            <a:r>
              <a:rPr lang="en-US" sz="1500" dirty="0">
                <a:solidFill>
                  <a:srgbClr val="1B2733"/>
                </a:solidFill>
                <a:latin typeface="Calibri" pitchFamily="34" charset="0"/>
                <a:ea typeface="Calibri" pitchFamily="34" charset="-122"/>
                <a:cs typeface="Calibri" pitchFamily="34" charset="-120"/>
              </a:rPr>
              <a:t> đặc trưng thủ công (âm tiết, là số, tiền/hậu tố 2 ký tự, cửa sổ ±2, bigram) → </a:t>
            </a:r>
            <a:r>
              <a:rPr lang="en-US" sz="1500" b="1" dirty="0">
                <a:solidFill>
                  <a:srgbClr val="1B2733"/>
                </a:solidFill>
                <a:latin typeface="Calibri" pitchFamily="34" charset="0"/>
                <a:ea typeface="Calibri" pitchFamily="34" charset="-122"/>
                <a:cs typeface="Calibri" pitchFamily="34" charset="-120"/>
              </a:rPr>
              <a:t>DictVectorizer 77.424 chiều</a:t>
            </a:r>
            <a:r>
              <a:rPr lang="en-US" sz="1500" dirty="0">
                <a:solidFill>
                  <a:srgbClr val="1B2733"/>
                </a:solidFill>
                <a:latin typeface="Calibri" pitchFamily="34" charset="0"/>
                <a:ea typeface="Calibri" pitchFamily="34" charset="-122"/>
                <a:cs typeface="Calibri" pitchFamily="34" charset="-120"/>
              </a:rPr>
              <a:t> (one-hot, thưa)</a:t>
            </a:r>
            <a:endParaRPr lang="en-US" sz="1500" dirty="0"/>
          </a:p>
          <a:p>
            <a:pPr marL="203200" indent="-203200">
              <a:spcAft>
                <a:spcPts val="600"/>
              </a:spcAft>
              <a:buSzPct val="100000"/>
              <a:buChar char="•"/>
            </a:pPr>
            <a:r>
              <a:rPr lang="en-US" sz="1500" b="1" dirty="0">
                <a:solidFill>
                  <a:srgbClr val="1B2733"/>
                </a:solidFill>
                <a:latin typeface="Calibri" pitchFamily="34" charset="0"/>
                <a:ea typeface="Calibri" pitchFamily="34" charset="-122"/>
                <a:cs typeface="Calibri" pitchFamily="34" charset="-120"/>
              </a:rPr>
              <a:t>Chia dữ liệu:</a:t>
            </a:r>
            <a:r>
              <a:rPr lang="en-US" sz="1500" dirty="0">
                <a:solidFill>
                  <a:srgbClr val="1B2733"/>
                </a:solidFill>
                <a:latin typeface="Calibri" pitchFamily="34" charset="0"/>
                <a:ea typeface="Calibri" pitchFamily="34" charset="-122"/>
                <a:cs typeface="Calibri" pitchFamily="34" charset="-120"/>
              </a:rPr>
              <a:t> giữ 3 tập chính thức; chọn siêu tham số theo validation, test chỉ dùng 1 lần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Sáu mô hình và siêu tham số được chọn</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 / 16</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914400"/>
        </p:xfrm>
        <a:graphic>
          <a:graphicData uri="http://schemas.openxmlformats.org/drawingml/2006/table">
            <a:tbl>
              <a:tblPr/>
              <a:tblGrid>
                <a:gridCol w="2103120"/>
                <a:gridCol w="2377440"/>
                <a:gridCol w="3108960"/>
                <a:gridCol w="3502152"/>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Mô hình</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Nhóm</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Ý tưởng</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Cấu hình được chọn (theo validation)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10896">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Cổ điển, từng token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Phân loại độc lập từng âm tiết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L2, C = 10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10896">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Linear SVM</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Cổ điển, từng token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Siêu phẳng lề cực đại</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 = 1, one-vs-rest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CRF</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Cổ điển, mô hình chuỗi</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Học thêm xác suất chuyển nhãn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c1 = 0,1, c2 = 0,01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10896">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XLM-RoBERTa</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Transformer đa ngôn ngữ</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Checkpoint của tác giả bộ dữ liệu</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Có sẵn, không train lại</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PhoBERT-base-v2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Transformer tiếng Việt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Pretrain văn bản tiếng Việt chung</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lr 3e-5, 8 epoch, wd 0,05, seed 123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10896">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ViHealthBERT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Transformer tiếng Việt y tế</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Pretrain thêm văn bản y tế</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lr 3e-5, 8 epoch, wd 0,01, seed 2024</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pic>
        <p:nvPicPr>
          <p:cNvPr id="5" name="Image 0" descr="fig_sweep_underfitting.png">    </p:cNvPr>
          <p:cNvPicPr>
            <a:picLocks noChangeAspect="1"/>
          </p:cNvPicPr>
          <p:nvPr/>
        </p:nvPicPr>
        <p:blipFill>
          <a:blip r:embed="rId1"/>
          <a:stretch>
            <a:fillRect/>
          </a:stretch>
        </p:blipFill>
        <p:spPr>
          <a:xfrm>
            <a:off x="548640" y="3429000"/>
            <a:ext cx="6949440" cy="2527069"/>
          </a:xfrm>
          <a:prstGeom prst="rect">
            <a:avLst/>
          </a:prstGeom>
        </p:spPr>
      </p:pic>
      <p:sp>
        <p:nvSpPr>
          <p:cNvPr id="6" name="Shape 2"/>
          <p:cNvSpPr/>
          <p:nvPr/>
        </p:nvSpPr>
        <p:spPr>
          <a:xfrm>
            <a:off x="7818120" y="3520440"/>
            <a:ext cx="3822192" cy="2743200"/>
          </a:xfrm>
          <a:prstGeom prst="roundRect">
            <a:avLst>
              <a:gd name="adj" fmla="val 2667"/>
            </a:avLst>
          </a:prstGeom>
          <a:solidFill>
            <a:srgbClr val="EEF4F7"/>
          </a:solidFill>
          <a:ln w="12700">
            <a:solidFill>
              <a:srgbClr val="EEF4F7"/>
            </a:solidFill>
            <a:prstDash val="solid"/>
          </a:ln>
        </p:spPr>
      </p:sp>
      <p:sp>
        <p:nvSpPr>
          <p:cNvPr id="7" name="Text 3"/>
          <p:cNvSpPr txBox="1"/>
          <p:nvPr/>
        </p:nvSpPr>
        <p:spPr>
          <a:xfrm>
            <a:off x="8046720" y="3657600"/>
            <a:ext cx="347472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Dò 18 cấu hình Transformer</a:t>
            </a:r>
            <a:endParaRPr lang="en-US" sz="1800" dirty="0"/>
          </a:p>
        </p:txBody>
      </p:sp>
      <p:sp>
        <p:nvSpPr>
          <p:cNvPr id="8" name="Text 4"/>
          <p:cNvSpPr txBox="1"/>
          <p:nvPr/>
        </p:nvSpPr>
        <p:spPr>
          <a:xfrm>
            <a:off x="8046720" y="4114800"/>
            <a:ext cx="3429000" cy="2057400"/>
          </a:xfrm>
          <a:prstGeom prst="rect">
            <a:avLst/>
          </a:prstGeom>
          <a:noFill/>
          <a:ln/>
        </p:spPr>
        <p:txBody>
          <a:bodyPr wrap="square" lIns="635" tIns="635" rIns="635" bIns="635" rtlCol="0" anchor="t"/>
          <a:lstStyle/>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lr × epoch × weight decay, rồi 3 seed</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F1 val tăng theo lr và epoch</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lr 5e-6, 4 epoch: PhoBERT chỉ </a:t>
            </a:r>
            <a:r>
              <a:rPr lang="en-US" sz="1450" b="1" dirty="0">
                <a:solidFill>
                  <a:srgbClr val="1B2733"/>
                </a:solidFill>
                <a:latin typeface="Calibri" pitchFamily="34" charset="0"/>
                <a:ea typeface="Calibri" pitchFamily="34" charset="-122"/>
                <a:cs typeface="Calibri" pitchFamily="34" charset="-120"/>
              </a:rPr>
              <a:t>36,65%</a:t>
            </a:r>
            <a:r>
              <a:rPr lang="en-US" sz="1450" dirty="0">
                <a:solidFill>
                  <a:srgbClr val="1B2733"/>
                </a:solidFill>
                <a:latin typeface="Calibri" pitchFamily="34" charset="0"/>
                <a:ea typeface="Calibri" pitchFamily="34" charset="-122"/>
                <a:cs typeface="Calibri" pitchFamily="34" charset="-120"/>
              </a:rPr>
              <a:t> ⇒ </a:t>
            </a:r>
            <a:r>
              <a:rPr lang="en-US" sz="1450" b="1" dirty="0">
                <a:solidFill>
                  <a:srgbClr val="1B2733"/>
                </a:solidFill>
                <a:latin typeface="Calibri" pitchFamily="34" charset="0"/>
                <a:ea typeface="Calibri" pitchFamily="34" charset="-122"/>
                <a:cs typeface="Calibri" pitchFamily="34" charset="-120"/>
              </a:rPr>
              <a:t>underfitting</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Tốt nhất nằm ở biên lưới</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Kết quả tổng thể (seqeval strict, micro F1 %)</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 / 16</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6492240" cy="914400"/>
        </p:xfrm>
        <a:graphic>
          <a:graphicData uri="http://schemas.openxmlformats.org/drawingml/2006/table">
            <a:tbl>
              <a:tblPr/>
              <a:tblGrid>
                <a:gridCol w="1737360"/>
                <a:gridCol w="777240"/>
                <a:gridCol w="777240"/>
                <a:gridCol w="777240"/>
                <a:gridCol w="777240"/>
                <a:gridCol w="777240"/>
                <a:gridCol w="868680"/>
              </a:tblGrid>
              <a:tr h="34747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Mô hình</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Train F1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Val F1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Test P</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Test R</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Test F1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CI95 test F1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47472">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99,40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83,21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54,73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57,81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56,23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55,1–57,3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47472">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Linear SVM</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98,57</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84,53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54,59</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62,09</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58,10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57,0–59,2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47472">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CRF</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99,96</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89,15</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65,78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61,93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63,80</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50" b="1" dirty="0">
                          <a:solidFill>
                            <a:srgbClr val="1B2733"/>
                          </a:solidFill>
                          <a:latin typeface="Calibri" pitchFamily="34" charset="0"/>
                          <a:ea typeface="Calibri" pitchFamily="34" charset="-122"/>
                          <a:cs typeface="Calibri" pitchFamily="34" charset="-120"/>
                        </a:rPr>
                        <a:t>62,6–64,9</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347472">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XLM-R</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80,55</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79,93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52,58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66,24</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58,62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57,5–59,7</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47472">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PhoBERT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94,89</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85,24</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56,73</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69,39</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62,42</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61,3–63,5</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47472">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ViHealthBERT</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96,71</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85,18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56,18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71,04</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62,74</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733"/>
                          </a:solidFill>
                          <a:latin typeface="Calibri" pitchFamily="34" charset="0"/>
                          <a:ea typeface="Calibri" pitchFamily="34" charset="-122"/>
                          <a:cs typeface="Calibri" pitchFamily="34" charset="-120"/>
                        </a:rPr>
                        <a:t>61,7–63,8</a:t>
                      </a:r>
                      <a:endParaRPr lang="en-US" sz="12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269480" y="1051560"/>
          <a:ext cx="4434840" cy="32918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3749040"/>
            <a:ext cx="6492240" cy="2514600"/>
          </a:xfrm>
          <a:prstGeom prst="roundRect">
            <a:avLst>
              <a:gd name="adj" fmla="val 2909"/>
            </a:avLst>
          </a:prstGeom>
          <a:solidFill>
            <a:srgbClr val="EEF4F7"/>
          </a:solidFill>
          <a:ln w="12700">
            <a:solidFill>
              <a:srgbClr val="EEF4F7"/>
            </a:solidFill>
            <a:prstDash val="solid"/>
          </a:ln>
        </p:spPr>
      </p:sp>
      <p:sp>
        <p:nvSpPr>
          <p:cNvPr id="7" name="Text 3"/>
          <p:cNvSpPr txBox="1"/>
          <p:nvPr/>
        </p:nvSpPr>
        <p:spPr>
          <a:xfrm>
            <a:off x="777240" y="3913632"/>
            <a:ext cx="6080760" cy="2240280"/>
          </a:xfrm>
          <a:prstGeom prst="rect">
            <a:avLst/>
          </a:prstGeom>
          <a:noFill/>
          <a:ln/>
        </p:spPr>
        <p:txBody>
          <a:bodyPr wrap="square" lIns="635" tIns="635" rIns="635" bIns="635" rtlCol="0" anchor="t"/>
          <a:lstStyle/>
          <a:p>
            <a:pPr marL="203200" indent="-203200">
              <a:spcAft>
                <a:spcPts val="600"/>
              </a:spcAft>
              <a:buSzPct val="100000"/>
              <a:buChar char="•"/>
            </a:pPr>
            <a:r>
              <a:rPr lang="en-US" sz="1500" b="1" dirty="0">
                <a:solidFill>
                  <a:srgbClr val="1B2733"/>
                </a:solidFill>
                <a:latin typeface="Calibri" pitchFamily="34" charset="0"/>
                <a:ea typeface="Calibri" pitchFamily="34" charset="-122"/>
                <a:cs typeface="Calibri" pitchFamily="34" charset="-120"/>
              </a:rPr>
              <a:t>CRF</a:t>
            </a:r>
            <a:r>
              <a:rPr lang="en-US" sz="1500" dirty="0">
                <a:solidFill>
                  <a:srgbClr val="1B2733"/>
                </a:solidFill>
                <a:latin typeface="Calibri" pitchFamily="34" charset="0"/>
                <a:ea typeface="Calibri" pitchFamily="34" charset="-122"/>
                <a:cs typeface="Calibri" pitchFamily="34" charset="-120"/>
              </a:rPr>
              <a:t> cao nhất trên test: </a:t>
            </a:r>
            <a:r>
              <a:rPr lang="en-US" sz="1500" b="1" dirty="0">
                <a:solidFill>
                  <a:srgbClr val="1B2733"/>
                </a:solidFill>
                <a:latin typeface="Calibri" pitchFamily="34" charset="0"/>
                <a:ea typeface="Calibri" pitchFamily="34" charset="-122"/>
                <a:cs typeface="Calibri" pitchFamily="34" charset="-120"/>
              </a:rPr>
              <a:t>63,80%</a:t>
            </a:r>
            <a:r>
              <a:rPr lang="en-US" sz="1500" dirty="0">
                <a:solidFill>
                  <a:srgbClr val="1B2733"/>
                </a:solidFill>
                <a:latin typeface="Calibri" pitchFamily="34" charset="0"/>
                <a:ea typeface="Calibri" pitchFamily="34" charset="-122"/>
                <a:cs typeface="Calibri" pitchFamily="34" charset="-120"/>
              </a:rPr>
              <a:t>; ViHealthBERT 62,74%, PhoBERT 62,42%</a:t>
            </a:r>
            <a:endParaRPr lang="en-US" sz="1500" dirty="0"/>
          </a:p>
          <a:p>
            <a:pPr marL="203200" indent="-2032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PhoBERT, ViHealthBERT: recall cao (69,4–71,0%) nhưng precision thấp ⇒ </a:t>
            </a:r>
            <a:r>
              <a:rPr lang="en-US" sz="1500" b="1" dirty="0">
                <a:solidFill>
                  <a:srgbClr val="1B2733"/>
                </a:solidFill>
                <a:latin typeface="Calibri" pitchFamily="34" charset="0"/>
                <a:ea typeface="Calibri" pitchFamily="34" charset="-122"/>
                <a:cs typeface="Calibri" pitchFamily="34" charset="-120"/>
              </a:rPr>
              <a:t>đoán dư</a:t>
            </a:r>
            <a:endParaRPr lang="en-US" sz="1500" dirty="0"/>
          </a:p>
          <a:p>
            <a:pPr marL="203200" indent="-2032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CRF là mô hình duy nhất có </a:t>
            </a:r>
            <a:r>
              <a:rPr lang="en-US" sz="1500" b="1" dirty="0">
                <a:solidFill>
                  <a:srgbClr val="1B2733"/>
                </a:solidFill>
                <a:latin typeface="Calibri" pitchFamily="34" charset="0"/>
                <a:ea typeface="Calibri" pitchFamily="34" charset="-122"/>
                <a:cs typeface="Calibri" pitchFamily="34" charset="-120"/>
              </a:rPr>
              <a:t>P &gt; R</a:t>
            </a:r>
            <a:r>
              <a:rPr lang="en-US" sz="1500" dirty="0">
                <a:solidFill>
                  <a:srgbClr val="1B2733"/>
                </a:solidFill>
                <a:latin typeface="Calibri" pitchFamily="34" charset="0"/>
                <a:ea typeface="Calibri" pitchFamily="34" charset="-122"/>
                <a:cs typeface="Calibri" pitchFamily="34" charset="-120"/>
              </a:rPr>
              <a:t> (65,8% so với 61,9%)</a:t>
            </a:r>
            <a:endParaRPr lang="en-US" sz="1500" dirty="0"/>
          </a:p>
          <a:p>
            <a:pPr marL="203200" indent="-203200">
              <a:spcAft>
                <a:spcPts val="600"/>
              </a:spcAft>
              <a:buSzPct val="100000"/>
              <a:buChar char="•"/>
            </a:pPr>
            <a:r>
              <a:rPr lang="en-US" sz="1500" dirty="0">
                <a:solidFill>
                  <a:srgbClr val="1B2733"/>
                </a:solidFill>
                <a:latin typeface="Calibri" pitchFamily="34" charset="0"/>
                <a:ea typeface="Calibri" pitchFamily="34" charset="-122"/>
                <a:cs typeface="Calibri" pitchFamily="34" charset="-120"/>
              </a:rPr>
              <a:t>Mọi mô hình tụt </a:t>
            </a:r>
            <a:r>
              <a:rPr lang="en-US" sz="1500" b="1" dirty="0">
                <a:solidFill>
                  <a:srgbClr val="1B2733"/>
                </a:solidFill>
                <a:latin typeface="Calibri" pitchFamily="34" charset="0"/>
                <a:ea typeface="Calibri" pitchFamily="34" charset="-122"/>
                <a:cs typeface="Calibri" pitchFamily="34" charset="-120"/>
              </a:rPr>
              <a:t>21–27 điểm</a:t>
            </a:r>
            <a:r>
              <a:rPr lang="en-US" sz="1500" dirty="0">
                <a:solidFill>
                  <a:srgbClr val="1B2733"/>
                </a:solidFill>
                <a:latin typeface="Calibri" pitchFamily="34" charset="0"/>
                <a:ea typeface="Calibri" pitchFamily="34" charset="-122"/>
                <a:cs typeface="Calibri" pitchFamily="34" charset="-120"/>
              </a:rPr>
              <a:t> từ validation sang test</a:t>
            </a:r>
            <a:endParaRPr lang="en-US" sz="1500" dirty="0"/>
          </a:p>
        </p:txBody>
      </p:sp>
      <p:sp>
        <p:nvSpPr>
          <p:cNvPr id="8" name="Shape 4"/>
          <p:cNvSpPr/>
          <p:nvPr/>
        </p:nvSpPr>
        <p:spPr>
          <a:xfrm>
            <a:off x="7269480" y="4526280"/>
            <a:ext cx="4434840" cy="1737360"/>
          </a:xfrm>
          <a:prstGeom prst="roundRect">
            <a:avLst>
              <a:gd name="adj" fmla="val 4211"/>
            </a:avLst>
          </a:prstGeom>
          <a:solidFill>
            <a:srgbClr val="E3F3F1"/>
          </a:solidFill>
          <a:ln w="12700">
            <a:solidFill>
              <a:srgbClr val="E3F3F1"/>
            </a:solidFill>
            <a:prstDash val="solid"/>
          </a:ln>
        </p:spPr>
      </p:sp>
      <p:sp>
        <p:nvSpPr>
          <p:cNvPr id="9" name="Text 5"/>
          <p:cNvSpPr txBox="1"/>
          <p:nvPr/>
        </p:nvSpPr>
        <p:spPr>
          <a:xfrm>
            <a:off x="7452360" y="4645152"/>
            <a:ext cx="4069080" cy="1508760"/>
          </a:xfrm>
          <a:prstGeom prst="rect">
            <a:avLst/>
          </a:prstGeom>
          <a:noFill/>
          <a:ln/>
        </p:spPr>
        <p:txBody>
          <a:bodyPr wrap="square" lIns="0" tIns="0" rIns="0" bIns="0" rtlCol="0" anchor="ctr"/>
          <a:lstStyle/>
          <a:p>
            <a:pPr indent="0" marL="0">
              <a:buNone/>
            </a:pPr>
            <a:r>
              <a:rPr lang="en-US" sz="1300" dirty="0">
                <a:solidFill>
                  <a:srgbClr val="1B2733"/>
                </a:solidFill>
                <a:latin typeface="Calibri" pitchFamily="34" charset="0"/>
                <a:ea typeface="Calibri" pitchFamily="34" charset="-122"/>
                <a:cs typeface="Calibri" pitchFamily="34" charset="-120"/>
              </a:rPr>
              <a:t>Cùng một thước đo cho cả 6 mô hình: F1 mức thực thể, khớp chính xác cả ranh giới lẫn loại. CI95 tính bằng paired bootstrap 2.000 lần trên 3.497 câu test.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Chênh lệch có ý nghĩa thống kê không?</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 / 16</a:t>
            </a:r>
            <a:endParaRPr lang="en-US" sz="1000" dirty="0"/>
          </a:p>
        </p:txBody>
      </p:sp>
      <p:sp>
        <p:nvSpPr>
          <p:cNvPr id="4" name="Text 2"/>
          <p:cNvSpPr txBox="1"/>
          <p:nvPr/>
        </p:nvSpPr>
        <p:spPr>
          <a:xfrm>
            <a:off x="548640" y="1051560"/>
            <a:ext cx="10972800" cy="365760"/>
          </a:xfrm>
          <a:prstGeom prst="rect">
            <a:avLst/>
          </a:prstGeom>
          <a:noFill/>
          <a:ln/>
        </p:spPr>
        <p:txBody>
          <a:bodyPr wrap="square" lIns="0" tIns="0" rIns="0" bIns="0" rtlCol="0" anchor="ctr"/>
          <a:lstStyle/>
          <a:p>
            <a:pPr indent="0" marL="0">
              <a:buNone/>
            </a:pPr>
            <a:r>
              <a:rPr lang="en-US" sz="1500" i="1" dirty="0">
                <a:solidFill>
                  <a:srgbClr val="5B6B7A"/>
                </a:solidFill>
                <a:latin typeface="Calibri" pitchFamily="34" charset="0"/>
                <a:ea typeface="Calibri" pitchFamily="34" charset="-122"/>
                <a:cs typeface="Calibri" pitchFamily="34" charset="-120"/>
              </a:rPr>
              <a:t>Paired bootstrap trên 3.497 câu test, 2.000 lần lấy mẫu lại, cùng mẫu cho mọi mô hình.</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840480"/>
                <a:gridCol w="2194560"/>
                <a:gridCol w="2651760"/>
                <a:gridCol w="2404872"/>
              </a:tblGrid>
              <a:tr h="43891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So sánh (A − B)</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Chênh lệch F1 (điểm)</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CI95</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Kết luận</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38912">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CRF − ViHealthBERT</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+1,05</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[+0,08; +2,05]</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có ý nghĩa</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38912">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CRF − PhoBERT</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+1,37</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[+0,43; +2,31]</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có ý nghĩa</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733"/>
                          </a:solidFill>
                          <a:latin typeface="Calibri" pitchFamily="34" charset="0"/>
                          <a:ea typeface="Calibri" pitchFamily="34" charset="-122"/>
                          <a:cs typeface="Calibri" pitchFamily="34" charset="-120"/>
                        </a:rPr>
                        <a:t>ViHealthBERT − PhoBERT</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500" b="1" dirty="0">
                          <a:solidFill>
                            <a:srgbClr val="1B2733"/>
                          </a:solidFill>
                          <a:latin typeface="Calibri" pitchFamily="34" charset="0"/>
                          <a:ea typeface="Calibri" pitchFamily="34" charset="-122"/>
                          <a:cs typeface="Calibri" pitchFamily="34" charset="-120"/>
                        </a:rPr>
                        <a:t>+0,32</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500" b="1" dirty="0">
                          <a:solidFill>
                            <a:srgbClr val="1B2733"/>
                          </a:solidFill>
                          <a:latin typeface="Calibri" pitchFamily="34" charset="0"/>
                          <a:ea typeface="Calibri" pitchFamily="34" charset="-122"/>
                          <a:cs typeface="Calibri" pitchFamily="34" charset="-120"/>
                        </a:rPr>
                        <a:t>[−0,41; +1,04]</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l" indent="0" marL="0">
                        <a:buNone/>
                      </a:pPr>
                      <a:r>
                        <a:rPr lang="en-US" sz="1500" b="1" dirty="0">
                          <a:solidFill>
                            <a:srgbClr val="1B2733"/>
                          </a:solidFill>
                          <a:latin typeface="Calibri" pitchFamily="34" charset="0"/>
                          <a:ea typeface="Calibri" pitchFamily="34" charset="-122"/>
                          <a:cs typeface="Calibri" pitchFamily="34" charset="-120"/>
                        </a:rPr>
                        <a:t>không có ý nghĩa</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438912">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PhoBERT − XLM-R</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+3,80</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[+2,89; +4,82]</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có ý nghĩa</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CRF − Linear SVM</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+5,70</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[+4,90; +6,50]</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có ý nghĩa</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38912">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Linear SVM − Logistic Regression</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+1,87</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B2733"/>
                          </a:solidFill>
                          <a:latin typeface="Calibri" pitchFamily="34" charset="0"/>
                          <a:ea typeface="Calibri" pitchFamily="34" charset="-122"/>
                          <a:cs typeface="Calibri" pitchFamily="34" charset="-120"/>
                        </a:rPr>
                        <a:t>[+1,35; +2,42]</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733"/>
                          </a:solidFill>
                          <a:latin typeface="Calibri" pitchFamily="34" charset="0"/>
                          <a:ea typeface="Calibri" pitchFamily="34" charset="-122"/>
                          <a:cs typeface="Calibri" pitchFamily="34" charset="-120"/>
                        </a:rPr>
                        <a:t>có ý nghĩa</a:t>
                      </a:r>
                      <a:endParaRPr lang="en-US" sz="15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92040"/>
            <a:ext cx="3593592" cy="1417320"/>
          </a:xfrm>
          <a:prstGeom prst="roundRect">
            <a:avLst>
              <a:gd name="adj" fmla="val 5161"/>
            </a:avLst>
          </a:prstGeom>
          <a:solidFill>
            <a:srgbClr val="EEF4F7"/>
          </a:solidFill>
          <a:ln w="12700">
            <a:solidFill>
              <a:srgbClr val="EEF4F7"/>
            </a:solidFill>
            <a:prstDash val="solid"/>
          </a:ln>
        </p:spPr>
      </p:sp>
      <p:sp>
        <p:nvSpPr>
          <p:cNvPr id="7" name="Text 4"/>
          <p:cNvSpPr txBox="1"/>
          <p:nvPr/>
        </p:nvSpPr>
        <p:spPr>
          <a:xfrm>
            <a:off x="731520" y="4983480"/>
            <a:ext cx="3246120" cy="365760"/>
          </a:xfrm>
          <a:prstGeom prst="rect">
            <a:avLst/>
          </a:prstGeom>
          <a:noFill/>
          <a:ln/>
        </p:spPr>
        <p:txBody>
          <a:bodyPr wrap="square" lIns="0" tIns="0" rIns="0" bIns="0" rtlCol="0" anchor="ctr"/>
          <a:lstStyle/>
          <a:p>
            <a:pPr indent="0" marL="0">
              <a:buNone/>
            </a:pPr>
            <a:r>
              <a:rPr lang="en-US" sz="1600" b="1" dirty="0">
                <a:solidFill>
                  <a:srgbClr val="2A9D8F"/>
                </a:solidFill>
                <a:latin typeface="Cambria" pitchFamily="34" charset="0"/>
                <a:ea typeface="Cambria" pitchFamily="34" charset="-122"/>
                <a:cs typeface="Cambria" pitchFamily="34" charset="-120"/>
              </a:rPr>
              <a:t>Lợi thế nhỏ</a:t>
            </a:r>
            <a:endParaRPr lang="en-US" sz="1600" dirty="0"/>
          </a:p>
        </p:txBody>
      </p:sp>
      <p:sp>
        <p:nvSpPr>
          <p:cNvPr id="8" name="Text 5"/>
          <p:cNvSpPr txBox="1"/>
          <p:nvPr/>
        </p:nvSpPr>
        <p:spPr>
          <a:xfrm>
            <a:off x="731520" y="5367528"/>
            <a:ext cx="3246120" cy="8686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CRF hơn ViHealthBERT 1,05 điểm; CI95 nằm trên 0 nhưng cận dưới rất sát 0</a:t>
            </a:r>
            <a:endParaRPr lang="en-US" sz="1300" dirty="0"/>
          </a:p>
        </p:txBody>
      </p:sp>
      <p:sp>
        <p:nvSpPr>
          <p:cNvPr id="9" name="Shape 6"/>
          <p:cNvSpPr/>
          <p:nvPr/>
        </p:nvSpPr>
        <p:spPr>
          <a:xfrm>
            <a:off x="4297680" y="4892040"/>
            <a:ext cx="3593592" cy="1417320"/>
          </a:xfrm>
          <a:prstGeom prst="roundRect">
            <a:avLst>
              <a:gd name="adj" fmla="val 5161"/>
            </a:avLst>
          </a:prstGeom>
          <a:solidFill>
            <a:srgbClr val="EEF4F7"/>
          </a:solidFill>
          <a:ln w="12700">
            <a:solidFill>
              <a:srgbClr val="EEF4F7"/>
            </a:solidFill>
            <a:prstDash val="solid"/>
          </a:ln>
        </p:spPr>
      </p:sp>
      <p:sp>
        <p:nvSpPr>
          <p:cNvPr id="10" name="Text 7"/>
          <p:cNvSpPr txBox="1"/>
          <p:nvPr/>
        </p:nvSpPr>
        <p:spPr>
          <a:xfrm>
            <a:off x="4480560" y="4983480"/>
            <a:ext cx="3246120" cy="365760"/>
          </a:xfrm>
          <a:prstGeom prst="rect">
            <a:avLst/>
          </a:prstGeom>
          <a:noFill/>
          <a:ln/>
        </p:spPr>
        <p:txBody>
          <a:bodyPr wrap="square" lIns="0" tIns="0" rIns="0" bIns="0" rtlCol="0" anchor="ctr"/>
          <a:lstStyle/>
          <a:p>
            <a:pPr indent="0" marL="0">
              <a:buNone/>
            </a:pPr>
            <a:r>
              <a:rPr lang="en-US" sz="1600" b="1" dirty="0">
                <a:solidFill>
                  <a:srgbClr val="E9A23B"/>
                </a:solidFill>
                <a:latin typeface="Cambria" pitchFamily="34" charset="0"/>
                <a:ea typeface="Cambria" pitchFamily="34" charset="-122"/>
                <a:cs typeface="Cambria" pitchFamily="34" charset="-120"/>
              </a:rPr>
              <a:t>Ngang nhau</a:t>
            </a:r>
            <a:endParaRPr lang="en-US" sz="1600" dirty="0"/>
          </a:p>
        </p:txBody>
      </p:sp>
      <p:sp>
        <p:nvSpPr>
          <p:cNvPr id="11" name="Text 8"/>
          <p:cNvSpPr txBox="1"/>
          <p:nvPr/>
        </p:nvSpPr>
        <p:spPr>
          <a:xfrm>
            <a:off x="4480560" y="5367528"/>
            <a:ext cx="3246120" cy="8686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ViHealthBERT và PhoBERT: CI95 chứa 0 ⇒ không phân biệt được</a:t>
            </a:r>
            <a:endParaRPr lang="en-US" sz="1300" dirty="0"/>
          </a:p>
        </p:txBody>
      </p:sp>
      <p:sp>
        <p:nvSpPr>
          <p:cNvPr id="12" name="Shape 9"/>
          <p:cNvSpPr/>
          <p:nvPr/>
        </p:nvSpPr>
        <p:spPr>
          <a:xfrm>
            <a:off x="8046720" y="4892040"/>
            <a:ext cx="3593592" cy="1417320"/>
          </a:xfrm>
          <a:prstGeom prst="roundRect">
            <a:avLst>
              <a:gd name="adj" fmla="val 5161"/>
            </a:avLst>
          </a:prstGeom>
          <a:solidFill>
            <a:srgbClr val="EEF4F7"/>
          </a:solidFill>
          <a:ln w="12700">
            <a:solidFill>
              <a:srgbClr val="EEF4F7"/>
            </a:solidFill>
            <a:prstDash val="solid"/>
          </a:ln>
        </p:spPr>
      </p:sp>
      <p:sp>
        <p:nvSpPr>
          <p:cNvPr id="13" name="Text 10"/>
          <p:cNvSpPr txBox="1"/>
          <p:nvPr/>
        </p:nvSpPr>
        <p:spPr>
          <a:xfrm>
            <a:off x="8229600" y="4983480"/>
            <a:ext cx="3246120" cy="365760"/>
          </a:xfrm>
          <a:prstGeom prst="rect">
            <a:avLst/>
          </a:prstGeom>
          <a:noFill/>
          <a:ln/>
        </p:spPr>
        <p:txBody>
          <a:bodyPr wrap="square" lIns="0" tIns="0" rIns="0" bIns="0" rtlCol="0" anchor="ctr"/>
          <a:lstStyle/>
          <a:p>
            <a:pPr indent="0" marL="0">
              <a:buNone/>
            </a:pPr>
            <a:r>
              <a:rPr lang="en-US" sz="1600" b="1" dirty="0">
                <a:solidFill>
                  <a:srgbClr val="E4572E"/>
                </a:solidFill>
                <a:latin typeface="Cambria" pitchFamily="34" charset="0"/>
                <a:ea typeface="Cambria" pitchFamily="34" charset="-122"/>
                <a:cs typeface="Cambria" pitchFamily="34" charset="-120"/>
              </a:rPr>
              <a:t>Giá trị của mô hình chuỗi</a:t>
            </a:r>
            <a:endParaRPr lang="en-US" sz="1600" dirty="0"/>
          </a:p>
        </p:txBody>
      </p:sp>
      <p:sp>
        <p:nvSpPr>
          <p:cNvPr id="14" name="Text 11"/>
          <p:cNvSpPr txBox="1"/>
          <p:nvPr/>
        </p:nvSpPr>
        <p:spPr>
          <a:xfrm>
            <a:off x="8229600" y="5367528"/>
            <a:ext cx="3246120" cy="86868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CRF so với Linear SVM (cùng đặc trưng): +5,70 điểm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Train và validation: overfitting hay underfitting?</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 / 16</a:t>
            </a:r>
            <a:endParaRPr lang="en-US" sz="1000" dirty="0"/>
          </a:p>
        </p:txBody>
      </p:sp>
      <p:graphicFrame>
        <p:nvGraphicFramePr>
          <p:cNvPr id="4" name="Chart 0" descr=""/>
          <p:cNvGraphicFramePr/>
          <p:nvPr/>
        </p:nvGraphicFramePr>
        <p:xfrm>
          <a:off x="457200" y="1051560"/>
          <a:ext cx="562356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26480" y="1051560"/>
          <a:ext cx="5577840" cy="30632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4297680"/>
            <a:ext cx="5486400" cy="2011680"/>
          </a:xfrm>
          <a:prstGeom prst="roundRect">
            <a:avLst>
              <a:gd name="adj" fmla="val 3636"/>
            </a:avLst>
          </a:prstGeom>
          <a:solidFill>
            <a:srgbClr val="EEF4F7"/>
          </a:solidFill>
          <a:ln w="12700">
            <a:solidFill>
              <a:srgbClr val="EEF4F7"/>
            </a:solidFill>
            <a:prstDash val="solid"/>
          </a:ln>
        </p:spPr>
      </p:sp>
      <p:sp>
        <p:nvSpPr>
          <p:cNvPr id="7" name="Text 3"/>
          <p:cNvSpPr txBox="1"/>
          <p:nvPr/>
        </p:nvSpPr>
        <p:spPr>
          <a:xfrm>
            <a:off x="777240" y="4416552"/>
            <a:ext cx="502920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ViHealthBERT theo epoch</a:t>
            </a:r>
            <a:endParaRPr lang="en-US" sz="1800" dirty="0"/>
          </a:p>
        </p:txBody>
      </p:sp>
      <p:sp>
        <p:nvSpPr>
          <p:cNvPr id="8" name="Text 4"/>
          <p:cNvSpPr txBox="1"/>
          <p:nvPr/>
        </p:nvSpPr>
        <p:spPr>
          <a:xfrm>
            <a:off x="777240" y="4846320"/>
            <a:ext cx="5074920" cy="1417320"/>
          </a:xfrm>
          <a:prstGeom prst="rect">
            <a:avLst/>
          </a:prstGeom>
          <a:noFill/>
          <a:ln/>
        </p:spPr>
        <p:txBody>
          <a:bodyPr wrap="square" lIns="635" tIns="635" rIns="635" bIns="635" rtlCol="0" anchor="t"/>
          <a:lstStyle/>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Epoch 1: train 60,0%, val 58,5% ⇒ </a:t>
            </a:r>
            <a:r>
              <a:rPr lang="en-US" sz="1400" b="1" dirty="0">
                <a:solidFill>
                  <a:srgbClr val="1B2733"/>
                </a:solidFill>
                <a:latin typeface="Calibri" pitchFamily="34" charset="0"/>
                <a:ea typeface="Calibri" pitchFamily="34" charset="-122"/>
                <a:cs typeface="Calibri" pitchFamily="34" charset="-120"/>
              </a:rPr>
              <a:t>underfitting</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Từ epoch 5: train tiếp tục tăng, val loss đi ngang, val F1 dừng ở 84,4–85,2%</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Epoch 8: train 96,81% vs val 85,13% ⇒ </a:t>
            </a:r>
            <a:r>
              <a:rPr lang="en-US" sz="1400" b="1" dirty="0">
                <a:solidFill>
                  <a:srgbClr val="1B2733"/>
                </a:solidFill>
                <a:latin typeface="Calibri" pitchFamily="34" charset="0"/>
                <a:ea typeface="Calibri" pitchFamily="34" charset="-122"/>
                <a:cs typeface="Calibri" pitchFamily="34" charset="-120"/>
              </a:rPr>
              <a:t>overfitting vừa phải</a:t>
            </a:r>
            <a:endParaRPr lang="en-US" sz="1400" dirty="0"/>
          </a:p>
        </p:txBody>
      </p:sp>
      <p:sp>
        <p:nvSpPr>
          <p:cNvPr id="9" name="Shape 5"/>
          <p:cNvSpPr/>
          <p:nvPr/>
        </p:nvSpPr>
        <p:spPr>
          <a:xfrm>
            <a:off x="6172200" y="4297680"/>
            <a:ext cx="5486400" cy="2011680"/>
          </a:xfrm>
          <a:prstGeom prst="roundRect">
            <a:avLst>
              <a:gd name="adj" fmla="val 3636"/>
            </a:avLst>
          </a:prstGeom>
          <a:solidFill>
            <a:srgbClr val="EEF4F7"/>
          </a:solidFill>
          <a:ln w="12700">
            <a:solidFill>
              <a:srgbClr val="EEF4F7"/>
            </a:solidFill>
            <a:prstDash val="solid"/>
          </a:ln>
        </p:spPr>
      </p:sp>
      <p:sp>
        <p:nvSpPr>
          <p:cNvPr id="10" name="Text 6"/>
          <p:cNvSpPr txBox="1"/>
          <p:nvPr/>
        </p:nvSpPr>
        <p:spPr>
          <a:xfrm>
            <a:off x="6400800" y="4416552"/>
            <a:ext cx="502920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CRF và tổng hợp</a:t>
            </a:r>
            <a:endParaRPr lang="en-US" sz="1800" dirty="0"/>
          </a:p>
        </p:txBody>
      </p:sp>
      <p:sp>
        <p:nvSpPr>
          <p:cNvPr id="11" name="Text 7"/>
          <p:cNvSpPr txBox="1"/>
          <p:nvPr/>
        </p:nvSpPr>
        <p:spPr>
          <a:xfrm>
            <a:off x="6400800" y="4846320"/>
            <a:ext cx="5074920" cy="1417320"/>
          </a:xfrm>
          <a:prstGeom prst="rect">
            <a:avLst/>
          </a:prstGeom>
          <a:noFill/>
          <a:ln/>
        </p:spPr>
        <p:txBody>
          <a:bodyPr wrap="square" lIns="635" tIns="635" rIns="635" bIns="635" rtlCol="0" anchor="t"/>
          <a:lstStyle/>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CRF: train F1 ≈ 100% ở mọi kích thước ⇒ </a:t>
            </a:r>
            <a:r>
              <a:rPr lang="en-US" sz="1400" b="1" dirty="0">
                <a:solidFill>
                  <a:srgbClr val="1B2733"/>
                </a:solidFill>
                <a:latin typeface="Calibri" pitchFamily="34" charset="0"/>
                <a:ea typeface="Calibri" pitchFamily="34" charset="-122"/>
                <a:cs typeface="Calibri" pitchFamily="34" charset="-120"/>
              </a:rPr>
              <a:t>ghi nhớ</a:t>
            </a:r>
            <a:r>
              <a:rPr lang="en-US" sz="1400" dirty="0">
                <a:solidFill>
                  <a:srgbClr val="1B2733"/>
                </a:solidFill>
                <a:latin typeface="Calibri" pitchFamily="34" charset="0"/>
                <a:ea typeface="Calibri" pitchFamily="34" charset="-122"/>
                <a:cs typeface="Calibri" pitchFamily="34" charset="-120"/>
              </a:rPr>
              <a:t>; test chưa bão hoà (41,1% → 63,8%)</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Train → val: 9,6–16,2 điểm; </a:t>
            </a:r>
            <a:r>
              <a:rPr lang="en-US" sz="1400" b="1" dirty="0">
                <a:solidFill>
                  <a:srgbClr val="1B2733"/>
                </a:solidFill>
                <a:latin typeface="Calibri" pitchFamily="34" charset="0"/>
                <a:ea typeface="Calibri" pitchFamily="34" charset="-122"/>
                <a:cs typeface="Calibri" pitchFamily="34" charset="-120"/>
              </a:rPr>
              <a:t>val → test: 21–27 điểm</a:t>
            </a:r>
            <a:endParaRPr lang="en-US" sz="1400" dirty="0"/>
          </a:p>
          <a:p>
            <a:pPr marL="203200" indent="-203200">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 </a:t>
            </a:r>
            <a:r>
              <a:rPr lang="en-US" sz="1400" b="1" dirty="0">
                <a:solidFill>
                  <a:srgbClr val="1B2733"/>
                </a:solidFill>
                <a:latin typeface="Calibri" pitchFamily="34" charset="0"/>
                <a:ea typeface="Calibri" pitchFamily="34" charset="-122"/>
                <a:cs typeface="Calibri" pitchFamily="34" charset="-120"/>
              </a:rPr>
              <a:t>Lệch miền</a:t>
            </a:r>
            <a:r>
              <a:rPr lang="en-US" sz="1400" dirty="0">
                <a:solidFill>
                  <a:srgbClr val="1B2733"/>
                </a:solidFill>
                <a:latin typeface="Calibri" pitchFamily="34" charset="0"/>
                <a:ea typeface="Calibri" pitchFamily="34" charset="-122"/>
                <a:cs typeface="Calibri" pitchFamily="34" charset="-120"/>
              </a:rPr>
              <a:t> mới là nguyên nhân chính làm giảm điểm test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Confusion matrix: mô hình hay nhầm lớp nào?</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 / 16</a:t>
            </a:r>
            <a:endParaRPr lang="en-US" sz="1000" dirty="0"/>
          </a:p>
        </p:txBody>
      </p:sp>
      <p:pic>
        <p:nvPicPr>
          <p:cNvPr id="4" name="Image 0" descr="fig_confusion_vihealthbert.png">    </p:cNvPr>
          <p:cNvPicPr>
            <a:picLocks noChangeAspect="1"/>
          </p:cNvPicPr>
          <p:nvPr/>
        </p:nvPicPr>
        <p:blipFill>
          <a:blip r:embed="rId1"/>
          <a:stretch>
            <a:fillRect/>
          </a:stretch>
        </p:blipFill>
        <p:spPr>
          <a:xfrm>
            <a:off x="457200" y="1005840"/>
            <a:ext cx="6355080" cy="5199611"/>
          </a:xfrm>
          <a:prstGeom prst="rect">
            <a:avLst/>
          </a:prstGeom>
        </p:spPr>
      </p:pic>
      <p:sp>
        <p:nvSpPr>
          <p:cNvPr id="5" name="Shape 2"/>
          <p:cNvSpPr/>
          <p:nvPr/>
        </p:nvSpPr>
        <p:spPr>
          <a:xfrm>
            <a:off x="7040880" y="1097280"/>
            <a:ext cx="4617720" cy="2331720"/>
          </a:xfrm>
          <a:prstGeom prst="roundRect">
            <a:avLst>
              <a:gd name="adj" fmla="val 3137"/>
            </a:avLst>
          </a:prstGeom>
          <a:solidFill>
            <a:srgbClr val="EEF4F7"/>
          </a:solidFill>
          <a:ln w="12700">
            <a:solidFill>
              <a:srgbClr val="EEF4F7"/>
            </a:solidFill>
            <a:prstDash val="solid"/>
          </a:ln>
        </p:spPr>
      </p:sp>
      <p:sp>
        <p:nvSpPr>
          <p:cNvPr id="6" name="Text 3"/>
          <p:cNvSpPr txBox="1"/>
          <p:nvPr/>
        </p:nvSpPr>
        <p:spPr>
          <a:xfrm>
            <a:off x="7269480" y="1216152"/>
            <a:ext cx="420624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Cặp hay nhầm (ViHealthBERT, test)</a:t>
            </a:r>
            <a:endParaRPr lang="en-US" sz="1800" dirty="0"/>
          </a:p>
        </p:txBody>
      </p:sp>
      <p:sp>
        <p:nvSpPr>
          <p:cNvPr id="7" name="Text 4"/>
          <p:cNvSpPr txBox="1"/>
          <p:nvPr/>
        </p:nvSpPr>
        <p:spPr>
          <a:xfrm>
            <a:off x="7269480" y="1645920"/>
            <a:ext cx="4251960" cy="173736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"tiêu xương" → "xương": </a:t>
            </a:r>
            <a:r>
              <a:rPr lang="en-US" sz="1350" b="1" dirty="0">
                <a:solidFill>
                  <a:srgbClr val="1B2733"/>
                </a:solidFill>
                <a:latin typeface="Calibri" pitchFamily="34" charset="0"/>
                <a:ea typeface="Calibri" pitchFamily="34" charset="-122"/>
                <a:cs typeface="Calibri" pitchFamily="34" charset="-120"/>
              </a:rPr>
              <a:t>DISEASESYMTOM → ORGAN</a:t>
            </a:r>
            <a:r>
              <a:rPr lang="en-US" sz="1350" dirty="0">
                <a:solidFill>
                  <a:srgbClr val="1B2733"/>
                </a:solidFill>
                <a:latin typeface="Calibri" pitchFamily="34" charset="0"/>
                <a:ea typeface="Calibri" pitchFamily="34" charset="-122"/>
                <a:cs typeface="Calibri" pitchFamily="34" charset="-120"/>
              </a:rPr>
              <a:t> (24 lần)</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"implant": </a:t>
            </a:r>
            <a:r>
              <a:rPr lang="en-US" sz="1350" b="1" dirty="0">
                <a:solidFill>
                  <a:srgbClr val="1B2733"/>
                </a:solidFill>
                <a:latin typeface="Calibri" pitchFamily="34" charset="0"/>
                <a:ea typeface="Calibri" pitchFamily="34" charset="-122"/>
                <a:cs typeface="Calibri" pitchFamily="34" charset="-120"/>
              </a:rPr>
              <a:t>SURGERY → MEDDEVICETECHNIQUE</a:t>
            </a:r>
            <a:r>
              <a:rPr lang="en-US" sz="1350" dirty="0">
                <a:solidFill>
                  <a:srgbClr val="1B2733"/>
                </a:solidFill>
                <a:latin typeface="Calibri" pitchFamily="34" charset="0"/>
                <a:ea typeface="Calibri" pitchFamily="34" charset="-122"/>
                <a:cs typeface="Calibri" pitchFamily="34" charset="-120"/>
              </a:rPr>
              <a:t> (40 lần)</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"chính phủ": </a:t>
            </a:r>
            <a:r>
              <a:rPr lang="en-US" sz="1350" b="1" dirty="0">
                <a:solidFill>
                  <a:srgbClr val="1B2733"/>
                </a:solidFill>
                <a:latin typeface="Calibri" pitchFamily="34" charset="0"/>
                <a:ea typeface="Calibri" pitchFamily="34" charset="-122"/>
                <a:cs typeface="Calibri" pitchFamily="34" charset="-120"/>
              </a:rPr>
              <a:t>ORGANIZATION → LOCATION</a:t>
            </a:r>
            <a:r>
              <a:rPr lang="en-US" sz="1350" dirty="0">
                <a:solidFill>
                  <a:srgbClr val="1B2733"/>
                </a:solidFill>
                <a:latin typeface="Calibri" pitchFamily="34" charset="0"/>
                <a:ea typeface="Calibri" pitchFamily="34" charset="-122"/>
                <a:cs typeface="Calibri" pitchFamily="34" charset="-120"/>
              </a:rPr>
              <a:t> (9 lần)</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MEDDEVICETECHNIQUE: chỉ ~1/3 token đoán đúng</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040880" y="3611880"/>
          <a:ext cx="4617720" cy="914400"/>
        </p:xfrm>
        <a:graphic>
          <a:graphicData uri="http://schemas.openxmlformats.org/drawingml/2006/table">
            <a:tbl>
              <a:tblPr/>
              <a:tblGrid>
                <a:gridCol w="1234440"/>
                <a:gridCol w="685800"/>
                <a:gridCol w="731520"/>
                <a:gridCol w="685800"/>
                <a:gridCol w="640080"/>
                <a:gridCol w="640080"/>
              </a:tblGrid>
              <a:tr h="30175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Mức thực thể</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Khớp</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Lệch biên</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Sai loại</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Bỏ sót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Thừa</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LogReg</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4.820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1.871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1.447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1.420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Linear SVM</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5.177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1.865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189</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1.107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1.640</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CRF</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5.164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1.429</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171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1.574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1.052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XLM-R</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5.523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1.797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463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555</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2.177</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PhoBERT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5.786</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1.644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424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484</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1.796</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01752">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ViHealthBERT</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5.923</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1.622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441</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352</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33"/>
                          </a:solidFill>
                          <a:latin typeface="Calibri" pitchFamily="34" charset="0"/>
                          <a:ea typeface="Calibri" pitchFamily="34" charset="-122"/>
                          <a:cs typeface="Calibri" pitchFamily="34" charset="-120"/>
                        </a:rPr>
                        <a:t>2.089</a:t>
                      </a:r>
                      <a:endParaRPr lang="en-US" sz="115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7040880" y="5806440"/>
            <a:ext cx="4617720" cy="502920"/>
          </a:xfrm>
          <a:prstGeom prst="rect">
            <a:avLst/>
          </a:prstGeom>
          <a:noFill/>
          <a:ln/>
        </p:spPr>
        <p:txBody>
          <a:bodyPr wrap="square" lIns="0" tIns="0" rIns="0" bIns="0" rtlCol="0" anchor="t"/>
          <a:lstStyle/>
          <a:p>
            <a:pPr indent="0" marL="0">
              <a:buNone/>
            </a:pPr>
            <a:r>
              <a:rPr lang="en-US" sz="1200" i="1" dirty="0">
                <a:solidFill>
                  <a:srgbClr val="5B6B7A"/>
                </a:solidFill>
                <a:latin typeface="Calibri" pitchFamily="34" charset="0"/>
                <a:ea typeface="Calibri" pitchFamily="34" charset="-122"/>
                <a:cs typeface="Calibri" pitchFamily="34" charset="-120"/>
              </a:rPr>
              <a:t>Lỗi chủ yếu là lệch ranh giới và đoán thừa, không phải sai loại. Test có 8.338 thực thể.</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Phân tích lỗi: thực thể đã gặp và chưa gặp</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 / 16</a:t>
            </a:r>
            <a:endParaRPr lang="en-US" sz="1000" dirty="0"/>
          </a:p>
        </p:txBody>
      </p:sp>
      <p:graphicFrame>
        <p:nvGraphicFramePr>
          <p:cNvPr id="4" name="Chart 0" descr=""/>
          <p:cNvGraphicFramePr/>
          <p:nvPr/>
        </p:nvGraphicFramePr>
        <p:xfrm>
          <a:off x="457200" y="1051560"/>
          <a:ext cx="658368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097280"/>
            <a:ext cx="4389120" cy="1188720"/>
          </a:xfrm>
          <a:prstGeom prst="roundRect">
            <a:avLst>
              <a:gd name="adj" fmla="val 6154"/>
            </a:avLst>
          </a:prstGeom>
          <a:solidFill>
            <a:srgbClr val="EEF4F7"/>
          </a:solidFill>
          <a:ln w="12700">
            <a:solidFill>
              <a:srgbClr val="EEF4F7"/>
            </a:solidFill>
            <a:prstDash val="solid"/>
          </a:ln>
        </p:spPr>
      </p:sp>
      <p:sp>
        <p:nvSpPr>
          <p:cNvPr id="6" name="Text 3"/>
          <p:cNvSpPr txBox="1"/>
          <p:nvPr/>
        </p:nvSpPr>
        <p:spPr>
          <a:xfrm>
            <a:off x="7452360" y="1207008"/>
            <a:ext cx="4023360" cy="618134"/>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83,2% | 13,9%</a:t>
            </a:r>
            <a:endParaRPr lang="en-US" sz="3000" dirty="0"/>
          </a:p>
        </p:txBody>
      </p:sp>
      <p:sp>
        <p:nvSpPr>
          <p:cNvPr id="7" name="Text 4"/>
          <p:cNvSpPr txBox="1"/>
          <p:nvPr/>
        </p:nvSpPr>
        <p:spPr>
          <a:xfrm>
            <a:off x="7452360" y="1810512"/>
            <a:ext cx="4023360" cy="416052"/>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CRF: recall đã gặp | chưa gặp</a:t>
            </a:r>
            <a:endParaRPr lang="en-US" sz="1250" dirty="0"/>
          </a:p>
        </p:txBody>
      </p:sp>
      <p:sp>
        <p:nvSpPr>
          <p:cNvPr id="8" name="Shape 5"/>
          <p:cNvSpPr/>
          <p:nvPr/>
        </p:nvSpPr>
        <p:spPr>
          <a:xfrm>
            <a:off x="7269480" y="2468880"/>
            <a:ext cx="4389120" cy="1188720"/>
          </a:xfrm>
          <a:prstGeom prst="roundRect">
            <a:avLst>
              <a:gd name="adj" fmla="val 6154"/>
            </a:avLst>
          </a:prstGeom>
          <a:solidFill>
            <a:srgbClr val="EEF4F7"/>
          </a:solidFill>
          <a:ln w="12700">
            <a:solidFill>
              <a:srgbClr val="EEF4F7"/>
            </a:solidFill>
            <a:prstDash val="solid"/>
          </a:ln>
        </p:spPr>
      </p:sp>
      <p:sp>
        <p:nvSpPr>
          <p:cNvPr id="9" name="Text 6"/>
          <p:cNvSpPr txBox="1"/>
          <p:nvPr/>
        </p:nvSpPr>
        <p:spPr>
          <a:xfrm>
            <a:off x="7452360" y="2578608"/>
            <a:ext cx="4023360" cy="618134"/>
          </a:xfrm>
          <a:prstGeom prst="rect">
            <a:avLst/>
          </a:prstGeom>
          <a:noFill/>
          <a:ln/>
        </p:spPr>
        <p:txBody>
          <a:bodyPr wrap="square" lIns="0" tIns="0" rIns="0" bIns="0" rtlCol="0" anchor="ctr"/>
          <a:lstStyle/>
          <a:p>
            <a:pPr indent="0" marL="0">
              <a:buNone/>
            </a:pPr>
            <a:r>
              <a:rPr lang="en-US" sz="3000" b="1" dirty="0">
                <a:solidFill>
                  <a:srgbClr val="2A9D8F"/>
                </a:solidFill>
                <a:latin typeface="Cambria" pitchFamily="34" charset="0"/>
                <a:ea typeface="Cambria" pitchFamily="34" charset="-122"/>
                <a:cs typeface="Cambria" pitchFamily="34" charset="-120"/>
              </a:rPr>
              <a:t>83,9% | 41,9%</a:t>
            </a:r>
            <a:endParaRPr lang="en-US" sz="3000" dirty="0"/>
          </a:p>
        </p:txBody>
      </p:sp>
      <p:sp>
        <p:nvSpPr>
          <p:cNvPr id="10" name="Text 7"/>
          <p:cNvSpPr txBox="1"/>
          <p:nvPr/>
        </p:nvSpPr>
        <p:spPr>
          <a:xfrm>
            <a:off x="7452360" y="3182112"/>
            <a:ext cx="4023360" cy="416052"/>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ViHealthBERT: đã gặp | chưa gặp</a:t>
            </a:r>
            <a:endParaRPr lang="en-US" sz="1250" dirty="0"/>
          </a:p>
        </p:txBody>
      </p:sp>
      <p:sp>
        <p:nvSpPr>
          <p:cNvPr id="11" name="Shape 8"/>
          <p:cNvSpPr/>
          <p:nvPr/>
        </p:nvSpPr>
        <p:spPr>
          <a:xfrm>
            <a:off x="7269480" y="3840480"/>
            <a:ext cx="4389120" cy="2468880"/>
          </a:xfrm>
          <a:prstGeom prst="roundRect">
            <a:avLst>
              <a:gd name="adj" fmla="val 2963"/>
            </a:avLst>
          </a:prstGeom>
          <a:solidFill>
            <a:srgbClr val="FFFFFF"/>
          </a:solidFill>
          <a:ln w="12700">
            <a:solidFill>
              <a:srgbClr val="D5DEE5"/>
            </a:solidFill>
            <a:prstDash val="solid"/>
          </a:ln>
        </p:spPr>
      </p:sp>
      <p:sp>
        <p:nvSpPr>
          <p:cNvPr id="12" name="Text 9"/>
          <p:cNvSpPr txBox="1"/>
          <p:nvPr/>
        </p:nvSpPr>
        <p:spPr>
          <a:xfrm>
            <a:off x="7498080" y="3977640"/>
            <a:ext cx="3977640" cy="2240280"/>
          </a:xfrm>
          <a:prstGeom prst="rect">
            <a:avLst/>
          </a:prstGeom>
          <a:noFill/>
          <a:ln/>
        </p:spPr>
        <p:txBody>
          <a:bodyPr wrap="square" lIns="0" tIns="0" rIns="0" bIns="0" rtlCol="0" anchor="t"/>
          <a:lstStyle/>
          <a:p>
            <a:pPr indent="0" marL="0">
              <a:spcAft>
                <a:spcPts val="800"/>
              </a:spcAft>
              <a:buNone/>
            </a:pPr>
            <a:r>
              <a:rPr lang="en-US" sz="1500" b="1" dirty="0">
                <a:solidFill>
                  <a:srgbClr val="0F2A3D"/>
                </a:solidFill>
                <a:latin typeface="Cambria" pitchFamily="34" charset="0"/>
                <a:ea typeface="Cambria" pitchFamily="34" charset="-122"/>
                <a:cs typeface="Cambria" pitchFamily="34" charset="-120"/>
              </a:rPr>
              <a:t>Ví dụ (thực thể chưa gặp)</a:t>
            </a:r>
            <a:endParaRPr lang="en-US" sz="1500" dirty="0"/>
          </a:p>
          <a:p>
            <a:pPr indent="0" marL="0">
              <a:spcAft>
                <a:spcPts val="800"/>
              </a:spcAft>
              <a:buNone/>
            </a:pPr>
            <a:r>
              <a:rPr lang="en-US" sz="1350" i="1" dirty="0">
                <a:solidFill>
                  <a:srgbClr val="1B2733"/>
                </a:solidFill>
                <a:latin typeface="Calibri" pitchFamily="34" charset="0"/>
                <a:ea typeface="Calibri" pitchFamily="34" charset="-122"/>
                <a:cs typeface="Calibri" pitchFamily="34" charset="-120"/>
              </a:rPr>
              <a:t>"rong huyết như vậy mình sẽ phân biệt với rong kinh và rong huyết"</a:t>
            </a:r>
            <a:endParaRPr lang="en-US" sz="1500" dirty="0"/>
          </a:p>
          <a:p>
            <a:pPr indent="0" marL="0">
              <a:spcAft>
                <a:spcPts val="800"/>
              </a:spcAft>
              <a:buNone/>
            </a:pPr>
            <a:r>
              <a:rPr lang="en-US" sz="1350" b="1" dirty="0">
                <a:solidFill>
                  <a:srgbClr val="2A9D8F"/>
                </a:solidFill>
                <a:latin typeface="Calibri" pitchFamily="34" charset="0"/>
                <a:ea typeface="Calibri" pitchFamily="34" charset="-122"/>
                <a:cs typeface="Calibri" pitchFamily="34" charset="-120"/>
              </a:rPr>
              <a:t>✓ ViHealthBERT: đúng cả 3 thực thể</a:t>
            </a:r>
            <a:endParaRPr lang="en-US" sz="1500" dirty="0"/>
          </a:p>
          <a:p>
            <a:pPr indent="0" marL="0">
              <a:spcAft>
                <a:spcPts val="800"/>
              </a:spcAft>
              <a:buNone/>
            </a:pPr>
            <a:r>
              <a:rPr lang="en-US" sz="1350" b="1" dirty="0">
                <a:solidFill>
                  <a:srgbClr val="E4572E"/>
                </a:solidFill>
                <a:latin typeface="Calibri" pitchFamily="34" charset="0"/>
                <a:ea typeface="Calibri" pitchFamily="34" charset="-122"/>
                <a:cs typeface="Calibri" pitchFamily="34" charset="-120"/>
              </a:rPr>
              <a:t>✗ CRF: "huyết" → ORGAN (×2)</a:t>
            </a:r>
            <a:endParaRPr lang="en-US" sz="1500" dirty="0"/>
          </a:p>
        </p:txBody>
      </p:sp>
      <p:sp>
        <p:nvSpPr>
          <p:cNvPr id="13" name="Shape 10"/>
          <p:cNvSpPr/>
          <p:nvPr/>
        </p:nvSpPr>
        <p:spPr>
          <a:xfrm>
            <a:off x="548640" y="5166360"/>
            <a:ext cx="6492240" cy="1143000"/>
          </a:xfrm>
          <a:prstGeom prst="roundRect">
            <a:avLst>
              <a:gd name="adj" fmla="val 6400"/>
            </a:avLst>
          </a:prstGeom>
          <a:solidFill>
            <a:srgbClr val="E3F3F1"/>
          </a:solidFill>
          <a:ln w="12700">
            <a:solidFill>
              <a:srgbClr val="E3F3F1"/>
            </a:solidFill>
            <a:prstDash val="solid"/>
          </a:ln>
        </p:spPr>
      </p:sp>
      <p:sp>
        <p:nvSpPr>
          <p:cNvPr id="14" name="Text 11"/>
          <p:cNvSpPr txBox="1"/>
          <p:nvPr/>
        </p:nvSpPr>
        <p:spPr>
          <a:xfrm>
            <a:off x="731520" y="5230368"/>
            <a:ext cx="6172200" cy="10058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Test có 5.782 thực thể đã gặp và 2.556 chưa gặp. Mô hình cổ điển ghi nhớ từ vựng; Transformer dùng biểu diễn học từ pretraining nên suy ra được thực thể mới (ViHealthBERT ≈ 3 lần CRF).</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Vì sao mô hình này tốt hơn mô hình kia?</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 / 16</a:t>
            </a:r>
            <a:endParaRPr lang="en-US" sz="1000" dirty="0"/>
          </a:p>
        </p:txBody>
      </p:sp>
      <p:sp>
        <p:nvSpPr>
          <p:cNvPr id="4" name="Shape 2"/>
          <p:cNvSpPr/>
          <p:nvPr/>
        </p:nvSpPr>
        <p:spPr>
          <a:xfrm>
            <a:off x="548640" y="1097280"/>
            <a:ext cx="3593592" cy="4023360"/>
          </a:xfrm>
          <a:prstGeom prst="roundRect">
            <a:avLst>
              <a:gd name="adj" fmla="val 2036"/>
            </a:avLst>
          </a:prstGeom>
          <a:solidFill>
            <a:srgbClr val="EEF4F7"/>
          </a:solidFill>
          <a:ln w="12700">
            <a:solidFill>
              <a:srgbClr val="EEF4F7"/>
            </a:solidFill>
            <a:prstDash val="solid"/>
          </a:ln>
        </p:spPr>
      </p:sp>
      <p:sp>
        <p:nvSpPr>
          <p:cNvPr id="5" name="Text 3"/>
          <p:cNvSpPr txBox="1"/>
          <p:nvPr/>
        </p:nvSpPr>
        <p:spPr>
          <a:xfrm>
            <a:off x="731520" y="1216152"/>
            <a:ext cx="324612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Từng token vs mô hình chuỗi</a:t>
            </a:r>
            <a:endParaRPr lang="en-US" sz="1800" dirty="0"/>
          </a:p>
        </p:txBody>
      </p:sp>
      <p:sp>
        <p:nvSpPr>
          <p:cNvPr id="6" name="Shape 4"/>
          <p:cNvSpPr/>
          <p:nvPr/>
        </p:nvSpPr>
        <p:spPr>
          <a:xfrm>
            <a:off x="4297680" y="1097280"/>
            <a:ext cx="3593592" cy="4023360"/>
          </a:xfrm>
          <a:prstGeom prst="roundRect">
            <a:avLst>
              <a:gd name="adj" fmla="val 2036"/>
            </a:avLst>
          </a:prstGeom>
          <a:solidFill>
            <a:srgbClr val="EEF4F7"/>
          </a:solidFill>
          <a:ln w="12700">
            <a:solidFill>
              <a:srgbClr val="EEF4F7"/>
            </a:solidFill>
            <a:prstDash val="solid"/>
          </a:ln>
        </p:spPr>
      </p:sp>
      <p:sp>
        <p:nvSpPr>
          <p:cNvPr id="7" name="Text 5"/>
          <p:cNvSpPr txBox="1"/>
          <p:nvPr/>
        </p:nvSpPr>
        <p:spPr>
          <a:xfrm>
            <a:off x="4480560" y="1216152"/>
            <a:ext cx="3246120" cy="36576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CRF: ghi nhớ thuật ngữ</a:t>
            </a:r>
            <a:endParaRPr lang="en-US" sz="1800" dirty="0"/>
          </a:p>
        </p:txBody>
      </p:sp>
      <p:sp>
        <p:nvSpPr>
          <p:cNvPr id="8" name="Shape 6"/>
          <p:cNvSpPr/>
          <p:nvPr/>
        </p:nvSpPr>
        <p:spPr>
          <a:xfrm>
            <a:off x="8046720" y="1097280"/>
            <a:ext cx="3593592" cy="4023360"/>
          </a:xfrm>
          <a:prstGeom prst="roundRect">
            <a:avLst>
              <a:gd name="adj" fmla="val 2036"/>
            </a:avLst>
          </a:prstGeom>
          <a:solidFill>
            <a:srgbClr val="EEF4F7"/>
          </a:solidFill>
          <a:ln w="12700">
            <a:solidFill>
              <a:srgbClr val="EEF4F7"/>
            </a:solidFill>
            <a:prstDash val="solid"/>
          </a:ln>
        </p:spPr>
      </p:sp>
      <p:sp>
        <p:nvSpPr>
          <p:cNvPr id="9" name="Text 7"/>
          <p:cNvSpPr txBox="1"/>
          <p:nvPr/>
        </p:nvSpPr>
        <p:spPr>
          <a:xfrm>
            <a:off x="8229600" y="1216152"/>
            <a:ext cx="3246120" cy="365760"/>
          </a:xfrm>
          <a:prstGeom prst="rect">
            <a:avLst/>
          </a:prstGeom>
          <a:noFill/>
          <a:ln/>
        </p:spPr>
        <p:txBody>
          <a:bodyPr wrap="square" lIns="0" tIns="0" rIns="0" bIns="0" rtlCol="0" anchor="ctr"/>
          <a:lstStyle/>
          <a:p>
            <a:pPr indent="0" marL="0">
              <a:buNone/>
            </a:pPr>
            <a:r>
              <a:rPr lang="en-US" sz="1800" b="1" dirty="0">
                <a:solidFill>
                  <a:srgbClr val="2A9D8F"/>
                </a:solidFill>
                <a:latin typeface="Cambria" pitchFamily="34" charset="0"/>
                <a:ea typeface="Cambria" pitchFamily="34" charset="-122"/>
                <a:cs typeface="Cambria" pitchFamily="34" charset="-120"/>
              </a:rPr>
              <a:t>ViHealthBERT: tổng quát hoá</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3227832" cy="914400"/>
        </p:xfrm>
        <a:graphic>
          <a:graphicData uri="http://schemas.openxmlformats.org/drawingml/2006/table">
            <a:tbl>
              <a:tblPr/>
              <a:tblGrid>
                <a:gridCol w="2286000"/>
                <a:gridCol w="941832"/>
              </a:tblGrid>
              <a:tr h="31089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Chuyển nhãn BIO sai (test)</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Số lần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310896">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1.127</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310896">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Linear SVM</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1.175</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B2733"/>
                          </a:solidFill>
                          <a:latin typeface="Calibri" pitchFamily="34" charset="0"/>
                          <a:ea typeface="Calibri" pitchFamily="34" charset="-122"/>
                          <a:cs typeface="Calibri" pitchFamily="34" charset="-120"/>
                        </a:rPr>
                        <a:t>CRF</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200" b="1" dirty="0">
                          <a:solidFill>
                            <a:srgbClr val="1B2733"/>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r h="310896">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Transformer</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33"/>
                          </a:solidFill>
                          <a:latin typeface="Calibri" pitchFamily="34" charset="0"/>
                          <a:ea typeface="Calibri" pitchFamily="34" charset="-122"/>
                          <a:cs typeface="Calibri" pitchFamily="34" charset="-120"/>
                        </a:rPr>
                        <a:t>595–778</a:t>
                      </a:r>
                      <a:endParaRPr lang="en-US" sz="12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731520" y="3429000"/>
            <a:ext cx="3246120" cy="16002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Cùng đặc trưng, CRF hơn LogReg </a:t>
            </a:r>
            <a:r>
              <a:rPr lang="en-US" sz="1350" b="1" dirty="0">
                <a:solidFill>
                  <a:srgbClr val="1B2733"/>
                </a:solidFill>
                <a:latin typeface="Calibri" pitchFamily="34" charset="0"/>
                <a:ea typeface="Calibri" pitchFamily="34" charset="-122"/>
                <a:cs typeface="Calibri" pitchFamily="34" charset="-120"/>
              </a:rPr>
              <a:t>7,6</a:t>
            </a:r>
            <a:r>
              <a:rPr lang="en-US" sz="1350" dirty="0">
                <a:solidFill>
                  <a:srgbClr val="1B2733"/>
                </a:solidFill>
                <a:latin typeface="Calibri" pitchFamily="34" charset="0"/>
                <a:ea typeface="Calibri" pitchFamily="34" charset="-122"/>
                <a:cs typeface="Calibri" pitchFamily="34" charset="-120"/>
              </a:rPr>
              <a:t> và SVM </a:t>
            </a:r>
            <a:r>
              <a:rPr lang="en-US" sz="1350" b="1" dirty="0">
                <a:solidFill>
                  <a:srgbClr val="1B2733"/>
                </a:solidFill>
                <a:latin typeface="Calibri" pitchFamily="34" charset="0"/>
                <a:ea typeface="Calibri" pitchFamily="34" charset="-122"/>
                <a:cs typeface="Calibri" pitchFamily="34" charset="-120"/>
              </a:rPr>
              <a:t>5,7</a:t>
            </a:r>
            <a:r>
              <a:rPr lang="en-US" sz="1350" dirty="0">
                <a:solidFill>
                  <a:srgbClr val="1B2733"/>
                </a:solidFill>
                <a:latin typeface="Calibri" pitchFamily="34" charset="0"/>
                <a:ea typeface="Calibri" pitchFamily="34" charset="-122"/>
                <a:cs typeface="Calibri" pitchFamily="34" charset="-120"/>
              </a:rPr>
              <a:t> điểm</a:t>
            </a:r>
            <a:endParaRPr lang="en-US" sz="1350" dirty="0"/>
          </a:p>
          <a:p>
            <a:pPr marL="203200" indent="-203200">
              <a:spcAft>
                <a:spcPts val="600"/>
              </a:spcAft>
              <a:buSzPct val="100000"/>
              <a:buChar char="•"/>
            </a:pPr>
            <a:r>
              <a:rPr lang="en-US" sz="1350" dirty="0">
                <a:solidFill>
                  <a:srgbClr val="1B2733"/>
                </a:solidFill>
                <a:latin typeface="Calibri" pitchFamily="34" charset="0"/>
                <a:ea typeface="Calibri" pitchFamily="34" charset="-122"/>
                <a:cs typeface="Calibri" pitchFamily="34" charset="-120"/>
              </a:rPr>
              <a:t>Lệch biên: CRF 1.429 vs LogReg 1.871</a:t>
            </a:r>
            <a:endParaRPr lang="en-US" sz="1350" dirty="0"/>
          </a:p>
        </p:txBody>
      </p:sp>
      <p:sp>
        <p:nvSpPr>
          <p:cNvPr id="12" name="Text 9"/>
          <p:cNvSpPr txBox="1"/>
          <p:nvPr/>
        </p:nvSpPr>
        <p:spPr>
          <a:xfrm>
            <a:off x="4480560" y="1691640"/>
            <a:ext cx="3246120" cy="3337560"/>
          </a:xfrm>
          <a:prstGeom prst="rect">
            <a:avLst/>
          </a:prstGeom>
          <a:noFill/>
          <a:ln/>
        </p:spPr>
        <p:txBody>
          <a:bodyPr wrap="square" lIns="635" tIns="635" rIns="635" bIns="635" rtlCol="0" anchor="t"/>
          <a:lstStyle/>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Đặc trưng từ vựng nhớ chính xác thuật ngữ y khoa</a:t>
            </a:r>
            <a:endParaRPr lang="en-US" sz="1600" dirty="0"/>
          </a:p>
          <a:p>
            <a:pPr marL="203200" indent="-203200">
              <a:spcAft>
                <a:spcPts val="600"/>
              </a:spcAft>
              <a:buSzPct val="100000"/>
              <a:buChar char="•"/>
            </a:pPr>
            <a:r>
              <a:rPr lang="en-US" sz="1600" b="1" dirty="0">
                <a:solidFill>
                  <a:srgbClr val="1B2733"/>
                </a:solidFill>
                <a:latin typeface="Calibri" pitchFamily="34" charset="0"/>
                <a:ea typeface="Calibri" pitchFamily="34" charset="-122"/>
                <a:cs typeface="Calibri" pitchFamily="34" charset="-120"/>
              </a:rPr>
              <a:t>69%</a:t>
            </a:r>
            <a:r>
              <a:rPr lang="en-US" sz="1600" dirty="0">
                <a:solidFill>
                  <a:srgbClr val="1B2733"/>
                </a:solidFill>
                <a:latin typeface="Calibri" pitchFamily="34" charset="0"/>
                <a:ea typeface="Calibri" pitchFamily="34" charset="-122"/>
                <a:cs typeface="Calibri" pitchFamily="34" charset="-120"/>
              </a:rPr>
              <a:t> thực thể test đã gặp ở train ⇒ thắng F1 tổng</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Precision cao nhất (65,78%), ít đoán thừa</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Nhược điểm: train F1 ≈ 100%, chỉ nhận ra </a:t>
            </a:r>
            <a:r>
              <a:rPr lang="en-US" sz="1600" b="1" dirty="0">
                <a:solidFill>
                  <a:srgbClr val="1B2733"/>
                </a:solidFill>
                <a:latin typeface="Calibri" pitchFamily="34" charset="0"/>
                <a:ea typeface="Calibri" pitchFamily="34" charset="-122"/>
                <a:cs typeface="Calibri" pitchFamily="34" charset="-120"/>
              </a:rPr>
              <a:t>13,9%</a:t>
            </a:r>
            <a:r>
              <a:rPr lang="en-US" sz="1600" dirty="0">
                <a:solidFill>
                  <a:srgbClr val="1B2733"/>
                </a:solidFill>
                <a:latin typeface="Calibri" pitchFamily="34" charset="0"/>
                <a:ea typeface="Calibri" pitchFamily="34" charset="-122"/>
                <a:cs typeface="Calibri" pitchFamily="34" charset="-120"/>
              </a:rPr>
              <a:t> thực thể mới</a:t>
            </a:r>
            <a:endParaRPr lang="en-US" sz="1600" dirty="0"/>
          </a:p>
        </p:txBody>
      </p:sp>
      <p:sp>
        <p:nvSpPr>
          <p:cNvPr id="13" name="Text 10"/>
          <p:cNvSpPr txBox="1"/>
          <p:nvPr/>
        </p:nvSpPr>
        <p:spPr>
          <a:xfrm>
            <a:off x="8229600" y="1691640"/>
            <a:ext cx="3246120" cy="3337560"/>
          </a:xfrm>
          <a:prstGeom prst="rect">
            <a:avLst/>
          </a:prstGeom>
          <a:noFill/>
          <a:ln/>
        </p:spPr>
        <p:txBody>
          <a:bodyPr wrap="square" lIns="635" tIns="635" rIns="635" bIns="635" rtlCol="0" anchor="t"/>
          <a:lstStyle/>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Pretrain thêm trên </a:t>
            </a:r>
            <a:r>
              <a:rPr lang="en-US" sz="1600" b="1" dirty="0">
                <a:solidFill>
                  <a:srgbClr val="1B2733"/>
                </a:solidFill>
                <a:latin typeface="Calibri" pitchFamily="34" charset="0"/>
                <a:ea typeface="Calibri" pitchFamily="34" charset="-122"/>
                <a:cs typeface="Calibri" pitchFamily="34" charset="-120"/>
              </a:rPr>
              <a:t>văn bản y tế</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Nhận ra </a:t>
            </a:r>
            <a:r>
              <a:rPr lang="en-US" sz="1600" b="1" dirty="0">
                <a:solidFill>
                  <a:srgbClr val="1B2733"/>
                </a:solidFill>
                <a:latin typeface="Calibri" pitchFamily="34" charset="0"/>
                <a:ea typeface="Calibri" pitchFamily="34" charset="-122"/>
                <a:cs typeface="Calibri" pitchFamily="34" charset="-120"/>
              </a:rPr>
              <a:t>41,9%</a:t>
            </a:r>
            <a:r>
              <a:rPr lang="en-US" sz="1600" dirty="0">
                <a:solidFill>
                  <a:srgbClr val="1B2733"/>
                </a:solidFill>
                <a:latin typeface="Calibri" pitchFamily="34" charset="0"/>
                <a:ea typeface="Calibri" pitchFamily="34" charset="-122"/>
                <a:cs typeface="Calibri" pitchFamily="34" charset="-120"/>
              </a:rPr>
              <a:t> thực thể mới, gấp ≈ 3 lần CRF</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Ngang PhoBERT về F1 tổng, tốt hơn ở lớp y khoa</a:t>
            </a:r>
            <a:endParaRPr lang="en-US" sz="1600" dirty="0"/>
          </a:p>
          <a:p>
            <a:pPr marL="203200" indent="-2032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XLM-R kém nhất nhóm Transformer dù nhiều tham số nhất (277M)</a:t>
            </a:r>
            <a:endParaRPr lang="en-US" sz="1600" dirty="0"/>
          </a:p>
        </p:txBody>
      </p:sp>
      <p:sp>
        <p:nvSpPr>
          <p:cNvPr id="14" name="Shape 11"/>
          <p:cNvSpPr/>
          <p:nvPr/>
        </p:nvSpPr>
        <p:spPr>
          <a:xfrm>
            <a:off x="548640" y="5349240"/>
            <a:ext cx="11091672" cy="960120"/>
          </a:xfrm>
          <a:prstGeom prst="roundRect">
            <a:avLst>
              <a:gd name="adj" fmla="val 7619"/>
            </a:avLst>
          </a:prstGeom>
          <a:solidFill>
            <a:srgbClr val="E3F3F1"/>
          </a:solidFill>
          <a:ln w="12700">
            <a:solidFill>
              <a:srgbClr val="E3F3F1"/>
            </a:solidFill>
            <a:prstDash val="solid"/>
          </a:ln>
        </p:spPr>
      </p:sp>
      <p:sp>
        <p:nvSpPr>
          <p:cNvPr id="15" name="Text 12"/>
          <p:cNvSpPr txBox="1"/>
          <p:nvPr/>
        </p:nvSpPr>
        <p:spPr>
          <a:xfrm>
            <a:off x="777240" y="5394960"/>
            <a:ext cx="10698480" cy="86868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Chọn theo dữ liệu: </a:t>
            </a:r>
            <a:r>
              <a:rPr lang="en-US" sz="1500" dirty="0">
                <a:solidFill>
                  <a:srgbClr val="1B2733"/>
                </a:solidFill>
                <a:latin typeface="Calibri" pitchFamily="34" charset="0"/>
                <a:ea typeface="Calibri" pitchFamily="34" charset="-122"/>
                <a:cs typeface="Calibri" pitchFamily="34" charset="-120"/>
              </a:rPr>
              <a:t>thuật ngữ lặp lại như train → CRF (rẻ, chính xác nhất theo strict). Hội thoại chủ đề bệnh mới như test → ViHealthBERT.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Đối chiếu bài báo gốc: strict và SLUE</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 / 16</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6675120" cy="914400"/>
        </p:xfrm>
        <a:graphic>
          <a:graphicData uri="http://schemas.openxmlformats.org/drawingml/2006/table">
            <a:tbl>
              <a:tblPr/>
              <a:tblGrid>
                <a:gridCol w="2011680"/>
                <a:gridCol w="1417320"/>
                <a:gridCol w="1600200"/>
                <a:gridCol w="1645920"/>
              </a:tblGrid>
              <a:tr h="42062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Mô hình</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F1 strict (%)</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F1 kiểu SLUE (%)</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Bài báo công bố</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0F2A3D"/>
                    </a:solidFill>
                  </a:tcPr>
                </a:tc>
              </a:tr>
              <a:tr h="420624">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56,23</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66,71</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20624">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Linear SVM</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58,10</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67,59</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CRF</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63,80</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68,22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20624">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XLM-R</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58,62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68,53</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69 (P 64 / R 73)</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PhoBERT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62,42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70,58</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c>
                  <a:txBody>
                    <a:bodyPr/>
                    <a:lstStyle/>
                    <a:p>
                      <a:pPr algn="r" indent="0" marL="0">
                        <a:buNone/>
                      </a:pPr>
                      <a:r>
                        <a:rPr lang="en-US" sz="1400" dirty="0">
                          <a:solidFill>
                            <a:srgbClr val="1B2733"/>
                          </a:solidFill>
                          <a:latin typeface="Calibri" pitchFamily="34" charset="0"/>
                          <a:ea typeface="Calibri" pitchFamily="34" charset="-122"/>
                          <a:cs typeface="Calibri" pitchFamily="34" charset="-120"/>
                        </a:rPr>
                        <a:t>74</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7FAFB"/>
                    </a:solidFill>
                  </a:tcPr>
                </a:tc>
              </a:tr>
              <a:tr h="420624">
                <a:tc>
                  <a:txBody>
                    <a:bodyPr/>
                    <a:lstStyle/>
                    <a:p>
                      <a:pPr algn="l" indent="0" marL="0">
                        <a:buNone/>
                      </a:pPr>
                      <a:r>
                        <a:rPr lang="en-US" sz="1400" b="1" dirty="0">
                          <a:solidFill>
                            <a:srgbClr val="1B2733"/>
                          </a:solidFill>
                          <a:latin typeface="Calibri" pitchFamily="34" charset="0"/>
                          <a:ea typeface="Calibri" pitchFamily="34" charset="-122"/>
                          <a:cs typeface="Calibri" pitchFamily="34" charset="-120"/>
                        </a:rPr>
                        <a:t>ViHealthBERT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62,74</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71,82</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c>
                  <a:txBody>
                    <a:bodyPr/>
                    <a:lstStyle/>
                    <a:p>
                      <a:pPr algn="r" indent="0" marL="0">
                        <a:buNone/>
                      </a:pPr>
                      <a:r>
                        <a:rPr lang="en-US" sz="1400" b="1"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25400" marB="25400">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CE9E3"/>
                    </a:solidFill>
                  </a:tcPr>
                </a:tc>
              </a:tr>
            </a:tbl>
          </a:graphicData>
        </a:graphic>
      </p:graphicFrame>
      <p:sp>
        <p:nvSpPr>
          <p:cNvPr id="5" name="Shape 2"/>
          <p:cNvSpPr/>
          <p:nvPr/>
        </p:nvSpPr>
        <p:spPr>
          <a:xfrm>
            <a:off x="7498080" y="1143000"/>
            <a:ext cx="4160520" cy="3977640"/>
          </a:xfrm>
          <a:prstGeom prst="roundRect">
            <a:avLst>
              <a:gd name="adj" fmla="val 1839"/>
            </a:avLst>
          </a:prstGeom>
          <a:solidFill>
            <a:srgbClr val="EEF4F7"/>
          </a:solidFill>
          <a:ln w="12700">
            <a:solidFill>
              <a:srgbClr val="EEF4F7"/>
            </a:solidFill>
            <a:prstDash val="solid"/>
          </a:ln>
        </p:spPr>
      </p:sp>
      <p:sp>
        <p:nvSpPr>
          <p:cNvPr id="6" name="Text 3"/>
          <p:cNvSpPr txBox="1"/>
          <p:nvPr/>
        </p:nvSpPr>
        <p:spPr>
          <a:xfrm>
            <a:off x="7726680" y="1280160"/>
            <a:ext cx="374904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Khác thước đo</a:t>
            </a:r>
            <a:endParaRPr lang="en-US" sz="1800" dirty="0"/>
          </a:p>
        </p:txBody>
      </p:sp>
      <p:sp>
        <p:nvSpPr>
          <p:cNvPr id="7" name="Text 4"/>
          <p:cNvSpPr txBox="1"/>
          <p:nvPr/>
        </p:nvSpPr>
        <p:spPr>
          <a:xfrm>
            <a:off x="7726680" y="1737360"/>
            <a:ext cx="3749040" cy="3291840"/>
          </a:xfrm>
          <a:prstGeom prst="rect">
            <a:avLst/>
          </a:prstGeom>
          <a:noFill/>
          <a:ln/>
        </p:spPr>
        <p:txBody>
          <a:bodyPr wrap="square" lIns="635" tIns="635" rIns="635" bIns="635" rtlCol="0" anchor="t"/>
          <a:lstStyle/>
          <a:p>
            <a:pPr marL="203200" indent="-203200">
              <a:spcAft>
                <a:spcPts val="600"/>
              </a:spcAft>
              <a:buSzPct val="100000"/>
              <a:buChar char="•"/>
            </a:pPr>
            <a:r>
              <a:rPr lang="en-US" sz="1450" b="1" dirty="0">
                <a:solidFill>
                  <a:srgbClr val="1B2733"/>
                </a:solidFill>
                <a:latin typeface="Calibri" pitchFamily="34" charset="0"/>
                <a:ea typeface="Calibri" pitchFamily="34" charset="-122"/>
                <a:cs typeface="Calibri" pitchFamily="34" charset="-120"/>
              </a:rPr>
              <a:t>Strict:</a:t>
            </a:r>
            <a:r>
              <a:rPr lang="en-US" sz="1450" dirty="0">
                <a:solidFill>
                  <a:srgbClr val="1B2733"/>
                </a:solidFill>
                <a:latin typeface="Calibri" pitchFamily="34" charset="0"/>
                <a:ea typeface="Calibri" pitchFamily="34" charset="-122"/>
                <a:cs typeface="Calibri" pitchFamily="34" charset="-120"/>
              </a:rPr>
              <a:t> khớp chính xác cả ranh giới lẫn loại</a:t>
            </a:r>
            <a:endParaRPr lang="en-US" sz="1450" dirty="0"/>
          </a:p>
          <a:p>
            <a:pPr marL="203200" indent="-203200">
              <a:spcAft>
                <a:spcPts val="600"/>
              </a:spcAft>
              <a:buSzPct val="100000"/>
              <a:buChar char="•"/>
            </a:pPr>
            <a:r>
              <a:rPr lang="en-US" sz="1450" b="1" dirty="0">
                <a:solidFill>
                  <a:srgbClr val="1B2733"/>
                </a:solidFill>
                <a:latin typeface="Calibri" pitchFamily="34" charset="0"/>
                <a:ea typeface="Calibri" pitchFamily="34" charset="-122"/>
                <a:cs typeface="Calibri" pitchFamily="34" charset="-120"/>
              </a:rPr>
              <a:t>SLUE:</a:t>
            </a:r>
            <a:r>
              <a:rPr lang="en-US" sz="1450" dirty="0">
                <a:solidFill>
                  <a:srgbClr val="1B2733"/>
                </a:solidFill>
                <a:latin typeface="Calibri" pitchFamily="34" charset="0"/>
                <a:ea typeface="Calibri" pitchFamily="34" charset="-122"/>
                <a:cs typeface="Calibri" pitchFamily="34" charset="-120"/>
              </a:rPr>
              <a:t> so khớp tập (loại, âm tiết), không xét ranh giới ⇒ dễ hơn</a:t>
            </a:r>
            <a:endParaRPr lang="en-US" sz="1450" dirty="0"/>
          </a:p>
          <a:p>
            <a:pPr marL="203200" indent="-203200">
              <a:spcAft>
                <a:spcPts val="600"/>
              </a:spcAft>
              <a:buSzPct val="100000"/>
              <a:buChar char="•"/>
            </a:pPr>
            <a:r>
              <a:rPr lang="en-US" sz="1450" dirty="0">
                <a:solidFill>
                  <a:srgbClr val="1B2733"/>
                </a:solidFill>
                <a:latin typeface="Calibri" pitchFamily="34" charset="0"/>
                <a:ea typeface="Calibri" pitchFamily="34" charset="-122"/>
                <a:cs typeface="Calibri" pitchFamily="34" charset="-120"/>
              </a:rPr>
              <a:t>Cùng checkpoint XLM-R: SLUE </a:t>
            </a:r>
            <a:r>
              <a:rPr lang="en-US" sz="1450" b="1" dirty="0">
                <a:solidFill>
                  <a:srgbClr val="1B2733"/>
                </a:solidFill>
                <a:latin typeface="Calibri" pitchFamily="34" charset="0"/>
                <a:ea typeface="Calibri" pitchFamily="34" charset="-122"/>
                <a:cs typeface="Calibri" pitchFamily="34" charset="-120"/>
              </a:rPr>
              <a:t>68,53%</a:t>
            </a:r>
            <a:r>
              <a:rPr lang="en-US" sz="1450" dirty="0">
                <a:solidFill>
                  <a:srgbClr val="1B2733"/>
                </a:solidFill>
                <a:latin typeface="Calibri" pitchFamily="34" charset="0"/>
                <a:ea typeface="Calibri" pitchFamily="34" charset="-122"/>
                <a:cs typeface="Calibri" pitchFamily="34" charset="-120"/>
              </a:rPr>
              <a:t> ≈ 69% bài báo</a:t>
            </a:r>
            <a:endParaRPr lang="en-US" sz="1450" dirty="0"/>
          </a:p>
          <a:p>
            <a:pPr marL="203200" indent="-203200">
              <a:spcAft>
                <a:spcPts val="600"/>
              </a:spcAft>
              <a:buSzPct val="100000"/>
              <a:buChar char="•"/>
            </a:pPr>
            <a:r>
              <a:rPr lang="en-US" sz="1450" b="1" dirty="0">
                <a:solidFill>
                  <a:srgbClr val="1B2733"/>
                </a:solidFill>
                <a:latin typeface="Calibri" pitchFamily="34" charset="0"/>
                <a:ea typeface="Calibri" pitchFamily="34" charset="-122"/>
                <a:cs typeface="Calibri" pitchFamily="34" charset="-120"/>
              </a:rPr>
              <a:t>Thứ hạng đảo:</a:t>
            </a:r>
            <a:r>
              <a:rPr lang="en-US" sz="1450" dirty="0">
                <a:solidFill>
                  <a:srgbClr val="1B2733"/>
                </a:solidFill>
                <a:latin typeface="Calibri" pitchFamily="34" charset="0"/>
                <a:ea typeface="Calibri" pitchFamily="34" charset="-122"/>
                <a:cs typeface="Calibri" pitchFamily="34" charset="-120"/>
              </a:rPr>
              <a:t> SLUE ⇒ ViHealthBERT đầu, CRF đứng sau các Transformer</a:t>
            </a:r>
            <a:endParaRPr lang="en-US" sz="1450" dirty="0"/>
          </a:p>
        </p:txBody>
      </p:sp>
      <p:sp>
        <p:nvSpPr>
          <p:cNvPr id="8" name="Shape 5"/>
          <p:cNvSpPr/>
          <p:nvPr/>
        </p:nvSpPr>
        <p:spPr>
          <a:xfrm>
            <a:off x="548640" y="5349240"/>
            <a:ext cx="11091672" cy="960120"/>
          </a:xfrm>
          <a:prstGeom prst="roundRect">
            <a:avLst>
              <a:gd name="adj" fmla="val 7619"/>
            </a:avLst>
          </a:prstGeom>
          <a:solidFill>
            <a:srgbClr val="FCE9E3"/>
          </a:solidFill>
          <a:ln w="12700">
            <a:solidFill>
              <a:srgbClr val="FCE9E3"/>
            </a:solidFill>
            <a:prstDash val="solid"/>
          </a:ln>
        </p:spPr>
      </p:sp>
      <p:sp>
        <p:nvSpPr>
          <p:cNvPr id="9" name="Text 6"/>
          <p:cNvSpPr txBox="1"/>
          <p:nvPr/>
        </p:nvSpPr>
        <p:spPr>
          <a:xfrm>
            <a:off x="777240" y="5394960"/>
            <a:ext cx="10698480" cy="86868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Nhóm chọn strict làm thước đo chính </a:t>
            </a:r>
            <a:r>
              <a:rPr lang="en-US" sz="1500" dirty="0">
                <a:solidFill>
                  <a:srgbClr val="1B2733"/>
                </a:solidFill>
                <a:latin typeface="Calibri" pitchFamily="34" charset="0"/>
                <a:ea typeface="Calibri" pitchFamily="34" charset="-122"/>
                <a:cs typeface="Calibri" pitchFamily="34" charset="-120"/>
              </a:rPr>
              <a:t>vì ứng dụng cần trích xuất đúng cả cụm thực thể để ghi vào hồ sơ.</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F2A3D"/>
                </a:solidFill>
                <a:latin typeface="Cambria" pitchFamily="34" charset="0"/>
                <a:ea typeface="Cambria" pitchFamily="34" charset="-122"/>
                <a:cs typeface="Cambria" pitchFamily="34" charset="-120"/>
              </a:rPr>
              <a:t>Kết luận và hướng phát triển</a:t>
            </a:r>
            <a:endParaRPr lang="en-US" sz="3000" dirty="0"/>
          </a:p>
        </p:txBody>
      </p:sp>
      <p:sp>
        <p:nvSpPr>
          <p:cNvPr id="3" name="Text 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 / 16</a:t>
            </a:r>
            <a:endParaRPr lang="en-US" sz="1000" dirty="0"/>
          </a:p>
        </p:txBody>
      </p:sp>
      <p:sp>
        <p:nvSpPr>
          <p:cNvPr id="4" name="Shape 2"/>
          <p:cNvSpPr/>
          <p:nvPr/>
        </p:nvSpPr>
        <p:spPr>
          <a:xfrm>
            <a:off x="548640" y="1097280"/>
            <a:ext cx="3703320" cy="5212080"/>
          </a:xfrm>
          <a:prstGeom prst="roundRect">
            <a:avLst>
              <a:gd name="adj" fmla="val 1975"/>
            </a:avLst>
          </a:prstGeom>
          <a:solidFill>
            <a:srgbClr val="EEF4F7"/>
          </a:solidFill>
          <a:ln w="12700">
            <a:solidFill>
              <a:srgbClr val="EEF4F7"/>
            </a:solidFill>
            <a:prstDash val="solid"/>
          </a:ln>
        </p:spPr>
      </p:sp>
      <p:sp>
        <p:nvSpPr>
          <p:cNvPr id="5" name="Text 3"/>
          <p:cNvSpPr txBox="1"/>
          <p:nvPr/>
        </p:nvSpPr>
        <p:spPr>
          <a:xfrm>
            <a:off x="777240" y="1234440"/>
            <a:ext cx="3291840" cy="365760"/>
          </a:xfrm>
          <a:prstGeom prst="rect">
            <a:avLst/>
          </a:prstGeom>
          <a:noFill/>
          <a:ln/>
        </p:spPr>
        <p:txBody>
          <a:bodyPr wrap="square" lIns="0" tIns="0" rIns="0" bIns="0" rtlCol="0" anchor="ctr"/>
          <a:lstStyle/>
          <a:p>
            <a:pPr indent="0" marL="0">
              <a:buNone/>
            </a:pPr>
            <a:r>
              <a:rPr lang="en-US" sz="1800" b="1" dirty="0">
                <a:solidFill>
                  <a:srgbClr val="0F2A3D"/>
                </a:solidFill>
                <a:latin typeface="Cambria" pitchFamily="34" charset="0"/>
                <a:ea typeface="Cambria" pitchFamily="34" charset="-122"/>
                <a:cs typeface="Cambria" pitchFamily="34" charset="-120"/>
              </a:rPr>
              <a:t>Kết luận</a:t>
            </a:r>
            <a:endParaRPr lang="en-US" sz="1800" dirty="0"/>
          </a:p>
        </p:txBody>
      </p:sp>
      <p:sp>
        <p:nvSpPr>
          <p:cNvPr id="6" name="Text 4"/>
          <p:cNvSpPr txBox="1"/>
          <p:nvPr/>
        </p:nvSpPr>
        <p:spPr>
          <a:xfrm>
            <a:off x="777240" y="1691640"/>
            <a:ext cx="3337560" cy="4480560"/>
          </a:xfrm>
          <a:prstGeom prst="rect">
            <a:avLst/>
          </a:prstGeom>
          <a:noFill/>
          <a:ln/>
        </p:spPr>
        <p:txBody>
          <a:bodyPr wrap="square" lIns="635" tIns="635" rIns="635" bIns="635" rtlCol="0" anchor="t"/>
          <a:lstStyle/>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Val (cùng miền) ≈ 83–89% F1; test (khác miền) chỉ 56–64%</a:t>
            </a:r>
            <a:endParaRPr lang="en-US" sz="1700" dirty="0"/>
          </a:p>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CRF</a:t>
            </a:r>
            <a:r>
              <a:rPr lang="en-US" sz="1700" dirty="0">
                <a:solidFill>
                  <a:srgbClr val="1B2733"/>
                </a:solidFill>
                <a:latin typeface="Calibri" pitchFamily="34" charset="0"/>
                <a:ea typeface="Calibri" pitchFamily="34" charset="-122"/>
                <a:cs typeface="Calibri" pitchFamily="34" charset="-120"/>
              </a:rPr>
              <a:t> tốt nhất theo strict (63,80%), lợi thế nhỏ nhưng có ý nghĩa</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Mô hình chuỗi vượt rõ mô hình từng token</a:t>
            </a:r>
            <a:endParaRPr lang="en-US" sz="1700" dirty="0"/>
          </a:p>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ViHealthBERT</a:t>
            </a:r>
            <a:r>
              <a:rPr lang="en-US" sz="1700" dirty="0">
                <a:solidFill>
                  <a:srgbClr val="1B2733"/>
                </a:solidFill>
                <a:latin typeface="Calibri" pitchFamily="34" charset="0"/>
                <a:ea typeface="Calibri" pitchFamily="34" charset="-122"/>
                <a:cs typeface="Calibri" pitchFamily="34" charset="-120"/>
              </a:rPr>
              <a:t> ≈ PhoBERT, tổng quát hoá tốt nhất</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Nút thắt ở dữ liệu: lệch miền, mất cân bằng, ranh giới nhãn mơ hồ</a:t>
            </a:r>
            <a:endParaRPr lang="en-US" sz="1700" dirty="0"/>
          </a:p>
        </p:txBody>
      </p:sp>
      <p:sp>
        <p:nvSpPr>
          <p:cNvPr id="7" name="Shape 5"/>
          <p:cNvSpPr/>
          <p:nvPr/>
        </p:nvSpPr>
        <p:spPr>
          <a:xfrm>
            <a:off x="4434840" y="1097280"/>
            <a:ext cx="3703320" cy="5212080"/>
          </a:xfrm>
          <a:prstGeom prst="roundRect">
            <a:avLst>
              <a:gd name="adj" fmla="val 1975"/>
            </a:avLst>
          </a:prstGeom>
          <a:solidFill>
            <a:srgbClr val="EEF4F7"/>
          </a:solidFill>
          <a:ln w="12700">
            <a:solidFill>
              <a:srgbClr val="EEF4F7"/>
            </a:solidFill>
            <a:prstDash val="solid"/>
          </a:ln>
        </p:spPr>
      </p:sp>
      <p:sp>
        <p:nvSpPr>
          <p:cNvPr id="8" name="Text 6"/>
          <p:cNvSpPr txBox="1"/>
          <p:nvPr/>
        </p:nvSpPr>
        <p:spPr>
          <a:xfrm>
            <a:off x="4663440" y="1234440"/>
            <a:ext cx="3291840" cy="365760"/>
          </a:xfrm>
          <a:prstGeom prst="rect">
            <a:avLst/>
          </a:prstGeom>
          <a:noFill/>
          <a:ln/>
        </p:spPr>
        <p:txBody>
          <a:bodyPr wrap="square" lIns="0" tIns="0" rIns="0" bIns="0" rtlCol="0" anchor="ctr"/>
          <a:lstStyle/>
          <a:p>
            <a:pPr indent="0" marL="0">
              <a:buNone/>
            </a:pPr>
            <a:r>
              <a:rPr lang="en-US" sz="1800" b="1" dirty="0">
                <a:solidFill>
                  <a:srgbClr val="2A9D8F"/>
                </a:solidFill>
                <a:latin typeface="Cambria" pitchFamily="34" charset="0"/>
                <a:ea typeface="Cambria" pitchFamily="34" charset="-122"/>
                <a:cs typeface="Cambria" pitchFamily="34" charset="-120"/>
              </a:rPr>
              <a:t>Hướng phát triển</a:t>
            </a:r>
            <a:endParaRPr lang="en-US" sz="1800" dirty="0"/>
          </a:p>
        </p:txBody>
      </p:sp>
      <p:sp>
        <p:nvSpPr>
          <p:cNvPr id="9" name="Text 7"/>
          <p:cNvSpPr txBox="1"/>
          <p:nvPr/>
        </p:nvSpPr>
        <p:spPr>
          <a:xfrm>
            <a:off x="4663440" y="1691640"/>
            <a:ext cx="3337560" cy="4480560"/>
          </a:xfrm>
          <a:prstGeom prst="rect">
            <a:avLst/>
          </a:prstGeom>
          <a:noFill/>
          <a:ln/>
        </p:spPr>
        <p:txBody>
          <a:bodyPr wrap="square" lIns="635" tIns="635" rIns="635" bIns="635" rtlCol="0" anchor="t"/>
          <a:lstStyle/>
          <a:p>
            <a:pPr marL="203200" indent="-203200">
              <a:spcAft>
                <a:spcPts val="600"/>
              </a:spcAft>
              <a:buSzPct val="100000"/>
              <a:buChar char="•"/>
            </a:pPr>
            <a:r>
              <a:rPr lang="en-US" sz="1700" b="1" dirty="0">
                <a:solidFill>
                  <a:srgbClr val="1B2733"/>
                </a:solidFill>
                <a:latin typeface="Calibri" pitchFamily="34" charset="0"/>
                <a:ea typeface="Calibri" pitchFamily="34" charset="-122"/>
                <a:cs typeface="Calibri" pitchFamily="34" charset="-120"/>
              </a:rPr>
              <a:t>BERT-CRF</a:t>
            </a:r>
            <a:r>
              <a:rPr lang="en-US" sz="1700" dirty="0">
                <a:solidFill>
                  <a:srgbClr val="1B2733"/>
                </a:solidFill>
                <a:latin typeface="Calibri" pitchFamily="34" charset="0"/>
                <a:ea typeface="Calibri" pitchFamily="34" charset="-122"/>
                <a:cs typeface="Calibri" pitchFamily="34" charset="-120"/>
              </a:rPr>
              <a:t>: ngữ nghĩa + ràng buộc chuyển nhãn</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Trọng số lớp / oversampling cho lớp hiếm</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Mở rộng lưới (lr 5e-5, 10 epoch)</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Tách từ VnCoreNLP cho PhoBERT</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Dữ liệu cùng miền test, từ điển thuật ngữ y khoa</a:t>
            </a:r>
            <a:endParaRPr lang="en-US" sz="1700" dirty="0"/>
          </a:p>
          <a:p>
            <a:pPr marL="203200" indent="-203200">
              <a:spcAft>
                <a:spcPts val="600"/>
              </a:spcAft>
              <a:buSzPct val="100000"/>
              <a:buChar char="•"/>
            </a:pPr>
            <a:r>
              <a:rPr lang="en-US" sz="1700" dirty="0">
                <a:solidFill>
                  <a:srgbClr val="1B2733"/>
                </a:solidFill>
                <a:latin typeface="Calibri" pitchFamily="34" charset="0"/>
                <a:ea typeface="Calibri" pitchFamily="34" charset="-122"/>
                <a:cs typeface="Calibri" pitchFamily="34" charset="-120"/>
              </a:rPr>
              <a:t>Chỉ </a:t>
            </a:r>
            <a:r>
              <a:rPr lang="en-US" sz="1700" b="1" dirty="0">
                <a:solidFill>
                  <a:srgbClr val="1B2733"/>
                </a:solidFill>
                <a:latin typeface="Calibri" pitchFamily="34" charset="0"/>
                <a:ea typeface="Calibri" pitchFamily="34" charset="-122"/>
                <a:cs typeface="Calibri" pitchFamily="34" charset="-120"/>
              </a:rPr>
              <a:t>gợi ý</a:t>
            </a:r>
            <a:r>
              <a:rPr lang="en-US" sz="1700" dirty="0">
                <a:solidFill>
                  <a:srgbClr val="1B2733"/>
                </a:solidFill>
                <a:latin typeface="Calibri" pitchFamily="34" charset="0"/>
                <a:ea typeface="Calibri" pitchFamily="34" charset="-122"/>
                <a:cs typeface="Calibri" pitchFamily="34" charset="-120"/>
              </a:rPr>
              <a:t> sửa transcript để người dùng duyệt</a:t>
            </a:r>
            <a:endParaRPr lang="en-US" sz="1700" dirty="0"/>
          </a:p>
        </p:txBody>
      </p:sp>
      <p:pic>
        <p:nvPicPr>
          <p:cNvPr id="10" name="Image 0" descr="fig_lora_overfitting.png">    </p:cNvPr>
          <p:cNvPicPr>
            <a:picLocks noChangeAspect="1"/>
          </p:cNvPicPr>
          <p:nvPr/>
        </p:nvPicPr>
        <p:blipFill>
          <a:blip r:embed="rId1"/>
          <a:stretch>
            <a:fillRect/>
          </a:stretch>
        </p:blipFill>
        <p:spPr>
          <a:xfrm>
            <a:off x="8321040" y="1143000"/>
            <a:ext cx="3337560" cy="1907177"/>
          </a:xfrm>
          <a:prstGeom prst="rect">
            <a:avLst/>
          </a:prstGeom>
        </p:spPr>
      </p:pic>
      <p:sp>
        <p:nvSpPr>
          <p:cNvPr id="11" name="Text 8"/>
          <p:cNvSpPr txBox="1"/>
          <p:nvPr/>
        </p:nvSpPr>
        <p:spPr>
          <a:xfrm>
            <a:off x="8321040" y="3141617"/>
            <a:ext cx="3337560" cy="1828800"/>
          </a:xfrm>
          <a:prstGeom prst="rect">
            <a:avLst/>
          </a:prstGeom>
          <a:noFill/>
          <a:ln/>
        </p:spPr>
        <p:txBody>
          <a:bodyPr wrap="square" lIns="0" tIns="0" rIns="0" bIns="0" rtlCol="0" anchor="t"/>
          <a:lstStyle/>
          <a:p>
            <a:pPr indent="0" marL="0">
              <a:buNone/>
            </a:pPr>
            <a:r>
              <a:rPr lang="en-US" sz="1200" i="1" dirty="0">
                <a:solidFill>
                  <a:srgbClr val="5B6B7A"/>
                </a:solidFill>
                <a:latin typeface="Calibri" pitchFamily="34" charset="0"/>
                <a:ea typeface="Calibri" pitchFamily="34" charset="-122"/>
                <a:cs typeface="Calibri" pitchFamily="34" charset="-120"/>
              </a:rPr>
              <a:t>Mở rộng ASR: LoRA sửa lỗi transcript — train loss giảm (≈ 0,98 → 0,54) nhưng dev WER tăng (seed 42: 5,36% → 6,06%) ⇒ overfitting, early stopping chọn epoch 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A3D"/>
        </a:solidFill>
      </p:bgPr>
    </p:bg>
    <p:spTree>
      <p:nvGrpSpPr>
        <p:cNvPr id="1" name=""/>
        <p:cNvGrpSpPr/>
        <p:nvPr/>
      </p:nvGrpSpPr>
      <p:grpSpPr>
        <a:xfrm>
          <a:off x="0" y="0"/>
          <a:ext cx="0" cy="0"/>
          <a:chOff x="0" y="0"/>
          <a:chExt cx="0" cy="0"/>
        </a:xfrm>
      </p:grpSpPr>
      <p:sp>
        <p:nvSpPr>
          <p:cNvPr id="2" name="Text 0"/>
          <p:cNvSpPr txBox="1"/>
          <p:nvPr/>
        </p:nvSpPr>
        <p:spPr>
          <a:xfrm>
            <a:off x="731520" y="2377440"/>
            <a:ext cx="10728655" cy="118872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Cảm ơn Thầy và Anh Chị đã lắng nghe!</a:t>
            </a:r>
            <a:endParaRPr lang="en-US" sz="4200" dirty="0"/>
          </a:p>
        </p:txBody>
      </p:sp>
      <p:sp>
        <p:nvSpPr>
          <p:cNvPr id="3" name="Text 1"/>
          <p:cNvSpPr txBox="1"/>
          <p:nvPr/>
        </p:nvSpPr>
        <p:spPr>
          <a:xfrm>
            <a:off x="731520" y="3657600"/>
            <a:ext cx="10728655" cy="548640"/>
          </a:xfrm>
          <a:prstGeom prst="rect">
            <a:avLst/>
          </a:prstGeom>
          <a:noFill/>
          <a:ln/>
        </p:spPr>
        <p:txBody>
          <a:bodyPr wrap="square" lIns="0" tIns="0" rIns="0" bIns="0" rtlCol="0" anchor="ctr"/>
          <a:lstStyle/>
          <a:p>
            <a:pPr algn="ctr" indent="0" marL="0">
              <a:buNone/>
            </a:pPr>
            <a:r>
              <a:rPr lang="en-US" sz="2200" dirty="0">
                <a:solidFill>
                  <a:srgbClr val="9FD8CF"/>
                </a:solidFill>
                <a:latin typeface="Calibri" pitchFamily="34" charset="0"/>
                <a:ea typeface="Calibri" pitchFamily="34" charset="-122"/>
                <a:cs typeface="Calibri" pitchFamily="34" charset="-120"/>
              </a:rPr>
              <a:t>Hỏi &amp; đáp</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Nhận dạng thực thể y tế trong hội thoại tiếng Việt</dc:title>
  <dc:subject>PptxGenJS Presentation</dc:subject>
  <dc:creator>PptxGenJS</dc:creator>
  <cp:lastModifiedBy>PptxGenJS</cp:lastModifiedBy>
  <cp:revision>1</cp:revision>
  <dcterms:created xsi:type="dcterms:W3CDTF">2026-09-24T07:12:59Z</dcterms:created>
  <dcterms:modified xsi:type="dcterms:W3CDTF">2026-09-24T07:12:59Z</dcterms:modified>
</cp:coreProperties>
</file>