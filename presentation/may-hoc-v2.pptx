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Thử thách 1 — mất cân bằng lớp: số thực thể theo loại</a:t>
            </a:r>
          </a:p>
        </c:rich>
      </c:tx>
      <c:layout/>
      <c:overlay val="0"/>
    </c:title>
    <c:autoTitleDeleted val="0"/>
    <c:plotArea>
      <c:layout/>
      <c:barChart>
        <c:barDir val="col"/>
        <c:grouping val="clustered"/>
        <c:varyColors val="0"/>
        <c:ser>
          <c:idx val="0"/>
          <c:order val="0"/>
          <c:tx>
            <c:strRef>
              <c:f>Sheet1!$B$1</c:f>
              <c:strCache>
                <c:ptCount val="1"/>
                <c:pt idx="0">
                  <c:v>train</c:v>
                </c:pt>
              </c:strCache>
            </c:strRef>
          </c:tx>
          <c:spPr>
            <a:solidFill>
              <a:srgbClr val="4C72B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Sheet1!$A$2:$A$19</c:f>
              <c:multiLvlStrCache>
                <c:ptCount val="18"/>
                <c:lvl>
                  <c:pt idx="0">
                    <c:v>DISEASESYMTOM</c:v>
                  </c:pt>
                  <c:pt idx="1">
                    <c:v>ORGAN</c:v>
                  </c:pt>
                  <c:pt idx="2">
                    <c:v>DRUGCHEMICAL</c:v>
                  </c:pt>
                  <c:pt idx="3">
                    <c:v>UNITCALIBRATOR</c:v>
                  </c:pt>
                  <c:pt idx="4">
                    <c:v>TREATMENT</c:v>
                  </c:pt>
                  <c:pt idx="5">
                    <c:v>DATETIME</c:v>
                  </c:pt>
                  <c:pt idx="6">
                    <c:v>OCCUPATION</c:v>
                  </c:pt>
                  <c:pt idx="7">
                    <c:v>AGE</c:v>
                  </c:pt>
                  <c:pt idx="8">
                    <c:v>PERSONALCARE</c:v>
                  </c:pt>
                  <c:pt idx="9">
                    <c:v>DIAGNOSTICS</c:v>
                  </c:pt>
                  <c:pt idx="10">
                    <c:v>PREVENTIVEMED</c:v>
                  </c:pt>
                  <c:pt idx="11">
                    <c:v>MEDDEVICETECHNIQUE</c:v>
                  </c:pt>
                  <c:pt idx="12">
                    <c:v>LOCATION</c:v>
                  </c:pt>
                  <c:pt idx="13">
                    <c:v>FOODDRINK</c:v>
                  </c:pt>
                  <c:pt idx="14">
                    <c:v>GENDER</c:v>
                  </c:pt>
                  <c:pt idx="15">
                    <c:v>SURGERY</c:v>
                  </c:pt>
                  <c:pt idx="16">
                    <c:v>ORGANIZATION</c:v>
                  </c:pt>
                  <c:pt idx="17">
                    <c:v>TRANSPORTATION</c:v>
                  </c:pt>
                </c:lvl>
              </c:multiLvlStrCache>
            </c:multiLvlStrRef>
          </c:cat>
          <c:val>
            <c:numRef>
              <c:f>Sheet1!$B$2:$B$19</c:f>
              <c:numCache>
                <c:formatCode>General</c:formatCode>
                <c:ptCount val="18"/>
                <c:pt idx="0">
                  <c:v>2975</c:v>
                </c:pt>
                <c:pt idx="1">
                  <c:v>1972</c:v>
                </c:pt>
                <c:pt idx="2">
                  <c:v>1127</c:v>
                </c:pt>
                <c:pt idx="3">
                  <c:v>822</c:v>
                </c:pt>
                <c:pt idx="4">
                  <c:v>740</c:v>
                </c:pt>
                <c:pt idx="5">
                  <c:v>698</c:v>
                </c:pt>
                <c:pt idx="6">
                  <c:v>547</c:v>
                </c:pt>
                <c:pt idx="7">
                  <c:v>456</c:v>
                </c:pt>
                <c:pt idx="8">
                  <c:v>384</c:v>
                </c:pt>
                <c:pt idx="9">
                  <c:v>373</c:v>
                </c:pt>
                <c:pt idx="10">
                  <c:v>343</c:v>
                </c:pt>
                <c:pt idx="11">
                  <c:v>327</c:v>
                </c:pt>
                <c:pt idx="12">
                  <c:v>292</c:v>
                </c:pt>
                <c:pt idx="13">
                  <c:v>257</c:v>
                </c:pt>
                <c:pt idx="14">
                  <c:v>210</c:v>
                </c:pt>
                <c:pt idx="15">
                  <c:v>200</c:v>
                </c:pt>
                <c:pt idx="16">
                  <c:v>19</c:v>
                </c:pt>
                <c:pt idx="17">
                  <c:v>5</c:v>
                </c:pt>
              </c:numCache>
            </c:numRef>
          </c:val>
        </c:ser>
        <c:ser>
          <c:idx val="1"/>
          <c:order val="1"/>
          <c:tx>
            <c:strRef>
              <c:f>Sheet1!$C$1</c:f>
              <c:strCache>
                <c:ptCount val="1"/>
                <c:pt idx="0">
                  <c:v>validation</c:v>
                </c:pt>
              </c:strCache>
            </c:strRef>
          </c:tx>
          <c:spPr>
            <a:solidFill>
              <a:srgbClr val="DD845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Sheet1!$A$2:$A$19</c:f>
              <c:multiLvlStrCache>
                <c:ptCount val="18"/>
                <c:lvl>
                  <c:pt idx="0">
                    <c:v>DISEASESYMTOM</c:v>
                  </c:pt>
                  <c:pt idx="1">
                    <c:v>ORGAN</c:v>
                  </c:pt>
                  <c:pt idx="2">
                    <c:v>DRUGCHEMICAL</c:v>
                  </c:pt>
                  <c:pt idx="3">
                    <c:v>UNITCALIBRATOR</c:v>
                  </c:pt>
                  <c:pt idx="4">
                    <c:v>TREATMENT</c:v>
                  </c:pt>
                  <c:pt idx="5">
                    <c:v>DATETIME</c:v>
                  </c:pt>
                  <c:pt idx="6">
                    <c:v>OCCUPATION</c:v>
                  </c:pt>
                  <c:pt idx="7">
                    <c:v>AGE</c:v>
                  </c:pt>
                  <c:pt idx="8">
                    <c:v>PERSONALCARE</c:v>
                  </c:pt>
                  <c:pt idx="9">
                    <c:v>DIAGNOSTICS</c:v>
                  </c:pt>
                  <c:pt idx="10">
                    <c:v>PREVENTIVEMED</c:v>
                  </c:pt>
                  <c:pt idx="11">
                    <c:v>MEDDEVICETECHNIQUE</c:v>
                  </c:pt>
                  <c:pt idx="12">
                    <c:v>LOCATION</c:v>
                  </c:pt>
                  <c:pt idx="13">
                    <c:v>FOODDRINK</c:v>
                  </c:pt>
                  <c:pt idx="14">
                    <c:v>GENDER</c:v>
                  </c:pt>
                  <c:pt idx="15">
                    <c:v>SURGERY</c:v>
                  </c:pt>
                  <c:pt idx="16">
                    <c:v>ORGANIZATION</c:v>
                  </c:pt>
                  <c:pt idx="17">
                    <c:v>TRANSPORTATION</c:v>
                  </c:pt>
                </c:lvl>
              </c:multiLvlStrCache>
            </c:multiLvlStrRef>
          </c:cat>
          <c:val>
            <c:numRef>
              <c:f>Sheet1!$C$2:$C$19</c:f>
              <c:numCache>
                <c:formatCode>General</c:formatCode>
                <c:ptCount val="18"/>
                <c:pt idx="0">
                  <c:v>746</c:v>
                </c:pt>
                <c:pt idx="1">
                  <c:v>485</c:v>
                </c:pt>
                <c:pt idx="2">
                  <c:v>278</c:v>
                </c:pt>
                <c:pt idx="3">
                  <c:v>220</c:v>
                </c:pt>
                <c:pt idx="4">
                  <c:v>178</c:v>
                </c:pt>
                <c:pt idx="5">
                  <c:v>166</c:v>
                </c:pt>
                <c:pt idx="6">
                  <c:v>134</c:v>
                </c:pt>
                <c:pt idx="7">
                  <c:v>109</c:v>
                </c:pt>
                <c:pt idx="8">
                  <c:v>89</c:v>
                </c:pt>
                <c:pt idx="9">
                  <c:v>91</c:v>
                </c:pt>
                <c:pt idx="10">
                  <c:v>80</c:v>
                </c:pt>
                <c:pt idx="11">
                  <c:v>68</c:v>
                </c:pt>
                <c:pt idx="12">
                  <c:v>77</c:v>
                </c:pt>
                <c:pt idx="13">
                  <c:v>56</c:v>
                </c:pt>
                <c:pt idx="14">
                  <c:v>51</c:v>
                </c:pt>
                <c:pt idx="15">
                  <c:v>56</c:v>
                </c:pt>
                <c:pt idx="16">
                  <c:v>2</c:v>
                </c:pt>
                <c:pt idx="17">
                  <c:v>3</c:v>
                </c:pt>
              </c:numCache>
            </c:numRef>
          </c:val>
        </c:ser>
        <c:ser>
          <c:idx val="2"/>
          <c:order val="2"/>
          <c:tx>
            <c:strRef>
              <c:f>Sheet1!$D$1</c:f>
              <c:strCache>
                <c:ptCount val="1"/>
                <c:pt idx="0">
                  <c:v>test</c:v>
                </c:pt>
              </c:strCache>
            </c:strRef>
          </c:tx>
          <c:spPr>
            <a:solidFill>
              <a:srgbClr val="55A86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Sheet1!$A$2:$A$19</c:f>
              <c:multiLvlStrCache>
                <c:ptCount val="18"/>
                <c:lvl>
                  <c:pt idx="0">
                    <c:v>DISEASESYMTOM</c:v>
                  </c:pt>
                  <c:pt idx="1">
                    <c:v>ORGAN</c:v>
                  </c:pt>
                  <c:pt idx="2">
                    <c:v>DRUGCHEMICAL</c:v>
                  </c:pt>
                  <c:pt idx="3">
                    <c:v>UNITCALIBRATOR</c:v>
                  </c:pt>
                  <c:pt idx="4">
                    <c:v>TREATMENT</c:v>
                  </c:pt>
                  <c:pt idx="5">
                    <c:v>DATETIME</c:v>
                  </c:pt>
                  <c:pt idx="6">
                    <c:v>OCCUPATION</c:v>
                  </c:pt>
                  <c:pt idx="7">
                    <c:v>AGE</c:v>
                  </c:pt>
                  <c:pt idx="8">
                    <c:v>PERSONALCARE</c:v>
                  </c:pt>
                  <c:pt idx="9">
                    <c:v>DIAGNOSTICS</c:v>
                  </c:pt>
                  <c:pt idx="10">
                    <c:v>PREVENTIVEMED</c:v>
                  </c:pt>
                  <c:pt idx="11">
                    <c:v>MEDDEVICETECHNIQUE</c:v>
                  </c:pt>
                  <c:pt idx="12">
                    <c:v>LOCATION</c:v>
                  </c:pt>
                  <c:pt idx="13">
                    <c:v>FOODDRINK</c:v>
                  </c:pt>
                  <c:pt idx="14">
                    <c:v>GENDER</c:v>
                  </c:pt>
                  <c:pt idx="15">
                    <c:v>SURGERY</c:v>
                  </c:pt>
                  <c:pt idx="16">
                    <c:v>ORGANIZATION</c:v>
                  </c:pt>
                  <c:pt idx="17">
                    <c:v>TRANSPORTATION</c:v>
                  </c:pt>
                </c:lvl>
              </c:multiLvlStrCache>
            </c:multiLvlStrRef>
          </c:cat>
          <c:val>
            <c:numRef>
              <c:f>Sheet1!$D$2:$D$19</c:f>
              <c:numCache>
                <c:formatCode>General</c:formatCode>
                <c:ptCount val="18"/>
                <c:pt idx="0">
                  <c:v>1467</c:v>
                </c:pt>
                <c:pt idx="1">
                  <c:v>1260</c:v>
                </c:pt>
                <c:pt idx="2">
                  <c:v>709</c:v>
                </c:pt>
                <c:pt idx="3">
                  <c:v>257</c:v>
                </c:pt>
                <c:pt idx="4">
                  <c:v>232</c:v>
                </c:pt>
                <c:pt idx="5">
                  <c:v>667</c:v>
                </c:pt>
                <c:pt idx="6">
                  <c:v>565</c:v>
                </c:pt>
                <c:pt idx="7">
                  <c:v>622</c:v>
                </c:pt>
                <c:pt idx="8">
                  <c:v>95</c:v>
                </c:pt>
                <c:pt idx="9">
                  <c:v>299</c:v>
                </c:pt>
                <c:pt idx="10">
                  <c:v>18</c:v>
                </c:pt>
                <c:pt idx="11">
                  <c:v>635</c:v>
                </c:pt>
                <c:pt idx="12">
                  <c:v>329</c:v>
                </c:pt>
                <c:pt idx="13">
                  <c:v>261</c:v>
                </c:pt>
                <c:pt idx="14">
                  <c:v>558</c:v>
                </c:pt>
                <c:pt idx="15">
                  <c:v>276</c:v>
                </c:pt>
                <c:pt idx="16">
                  <c:v>61</c:v>
                </c:pt>
                <c:pt idx="17">
                  <c:v>27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3000000"/>
          <a:lstStyle/>
          <a:p>
            <a:pPr>
              <a:defRPr sz="85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Chọn C theo F1 validation (%)</a:t>
            </a:r>
          </a:p>
        </c:rich>
      </c:tx>
      <c:layout/>
      <c:overlay val="0"/>
    </c:title>
    <c:autoTitleDeleted val="0"/>
    <c:plotArea>
      <c:layout/>
      <c:barChart>
        <c:barDir val="col"/>
        <c:grouping val="clustered"/>
        <c:varyColors val="0"/>
        <c:ser>
          <c:idx val="0"/>
          <c:order val="0"/>
          <c:tx>
            <c:strRef>
              <c:f>Sheet1!$B$1</c:f>
              <c:strCache>
                <c:ptCount val="1"/>
                <c:pt idx="0">
                  <c:v>F1 validation</c:v>
                </c:pt>
              </c:strCache>
            </c:strRef>
          </c:tx>
          <c:spPr>
            <a:solidFill>
              <a:srgbClr val="4C72B0"/>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C = 0,1</c:v>
                  </c:pt>
                  <c:pt idx="1">
                    <c:v>C = 1</c:v>
                  </c:pt>
                  <c:pt idx="2">
                    <c:v>C = 10</c:v>
                  </c:pt>
                  <c:pt idx="3">
                    <c:v>C = 30</c:v>
                  </c:pt>
                </c:lvl>
              </c:multiLvlStrCache>
            </c:multiLvlStrRef>
          </c:cat>
          <c:val>
            <c:numRef>
              <c:f>Sheet1!$B$2:$B$5</c:f>
              <c:numCache>
                <c:formatCode>General</c:formatCode>
                <c:ptCount val="4"/>
                <c:pt idx="0">
                  <c:v>70.7</c:v>
                </c:pt>
                <c:pt idx="1">
                  <c:v>82.2</c:v>
                </c:pt>
                <c:pt idx="2">
                  <c:v>83.2</c:v>
                </c:pt>
                <c:pt idx="3">
                  <c:v>82.7</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90"/>
          <c:min val="6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Chọn C theo F1 validation (%): underfit ← → overfit</a:t>
            </a:r>
          </a:p>
        </c:rich>
      </c:tx>
      <c:layout/>
      <c:overlay val="0"/>
    </c:title>
    <c:autoTitleDeleted val="0"/>
    <c:plotArea>
      <c:layout/>
      <c:barChart>
        <c:barDir val="col"/>
        <c:grouping val="clustered"/>
        <c:varyColors val="0"/>
        <c:ser>
          <c:idx val="0"/>
          <c:order val="0"/>
          <c:tx>
            <c:strRef>
              <c:f>Sheet1!$B$1</c:f>
              <c:strCache>
                <c:ptCount val="1"/>
                <c:pt idx="0">
                  <c:v>F1 validation</c:v>
                </c:pt>
              </c:strCache>
            </c:strRef>
          </c:tx>
          <c:spPr>
            <a:solidFill>
              <a:srgbClr val="DD8452"/>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C = 0,01</c:v>
                  </c:pt>
                  <c:pt idx="1">
                    <c:v>C = 0,1</c:v>
                  </c:pt>
                  <c:pt idx="2">
                    <c:v>C = 1</c:v>
                  </c:pt>
                  <c:pt idx="3">
                    <c:v>C = 3</c:v>
                  </c:pt>
                  <c:pt idx="4">
                    <c:v>C = 10</c:v>
                  </c:pt>
                </c:lvl>
              </c:multiLvlStrCache>
            </c:multiLvlStrRef>
          </c:cat>
          <c:val>
            <c:numRef>
              <c:f>Sheet1!$B$2:$B$6</c:f>
              <c:numCache>
                <c:formatCode>General</c:formatCode>
                <c:ptCount val="5"/>
                <c:pt idx="0">
                  <c:v>70.5</c:v>
                </c:pt>
                <c:pt idx="1">
                  <c:v>83.2</c:v>
                </c:pt>
                <c:pt idx="2">
                  <c:v>84.5</c:v>
                </c:pt>
                <c:pt idx="3">
                  <c:v>83.8</c:v>
                </c:pt>
                <c:pt idx="4">
                  <c:v>81.7</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90"/>
          <c:min val="6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Chuyển nhãn BIO vô lý trên test</a:t>
            </a:r>
          </a:p>
        </c:rich>
      </c:tx>
      <c:layout/>
      <c:overlay val="0"/>
    </c:title>
    <c:autoTitleDeleted val="0"/>
    <c:plotArea>
      <c:layout/>
      <c:barChart>
        <c:barDir val="col"/>
        <c:grouping val="clustered"/>
        <c:varyColors val="0"/>
        <c:ser>
          <c:idx val="0"/>
          <c:order val="0"/>
          <c:tx>
            <c:strRef>
              <c:f>Sheet1!$B$1</c:f>
              <c:strCache>
                <c:ptCount val="1"/>
                <c:pt idx="0">
                  <c:v>Chuyển nhãn BIO vô lý (test)</c:v>
                </c:pt>
              </c:strCache>
            </c:strRef>
          </c:tx>
          <c:spPr>
            <a:solidFill>
              <a:srgbClr val="E4572E"/>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LogReg</c:v>
                  </c:pt>
                  <c:pt idx="1">
                    <c:v>Linear SVM</c:v>
                  </c:pt>
                  <c:pt idx="2">
                    <c:v>CRF</c:v>
                  </c:pt>
                </c:lvl>
              </c:multiLvlStrCache>
            </c:multiLvlStrRef>
          </c:cat>
          <c:val>
            <c:numRef>
              <c:f>Sheet1!$B$2:$B$4</c:f>
              <c:numCache>
                <c:formatCode>General</c:formatCode>
                <c:ptCount val="3"/>
                <c:pt idx="0">
                  <c:v>1127</c:v>
                </c:pt>
                <c:pt idx="1">
                  <c:v>1175</c:v>
                </c:pt>
                <c:pt idx="2">
                  <c:v>9</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Recall trên test (%)</a:t>
            </a:r>
          </a:p>
        </c:rich>
      </c:tx>
      <c:layout/>
      <c:overlay val="0"/>
    </c:title>
    <c:autoTitleDeleted val="0"/>
    <c:plotArea>
      <c:layout/>
      <c:barChart>
        <c:barDir val="col"/>
        <c:grouping val="clustered"/>
        <c:varyColors val="0"/>
        <c:ser>
          <c:idx val="0"/>
          <c:order val="0"/>
          <c:tx>
            <c:strRef>
              <c:f>Sheet1!$B$1</c:f>
              <c:strCache>
                <c:ptCount val="1"/>
                <c:pt idx="0">
                  <c:v>Thực thể đã gặp</c:v>
                </c:pt>
              </c:strCache>
            </c:strRef>
          </c:tx>
          <c:spPr>
            <a:solidFill>
              <a:srgbClr val="4C72B0"/>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CRF (bậc 3)</c:v>
                  </c:pt>
                  <c:pt idx="1">
                    <c:v>XLM-R (bậc 4)</c:v>
                  </c:pt>
                </c:lvl>
              </c:multiLvlStrCache>
            </c:multiLvlStrRef>
          </c:cat>
          <c:val>
            <c:numRef>
              <c:f>Sheet1!$B$2:$B$3</c:f>
              <c:numCache>
                <c:formatCode>General</c:formatCode>
                <c:ptCount val="2"/>
                <c:pt idx="0">
                  <c:v>83.2</c:v>
                </c:pt>
                <c:pt idx="1">
                  <c:v>77.3</c:v>
                </c:pt>
              </c:numCache>
            </c:numRef>
          </c:val>
        </c:ser>
        <c:ser>
          <c:idx val="1"/>
          <c:order val="1"/>
          <c:tx>
            <c:strRef>
              <c:f>Sheet1!$C$1</c:f>
              <c:strCache>
                <c:ptCount val="1"/>
                <c:pt idx="0">
                  <c:v>Thực thể chưa gặp</c:v>
                </c:pt>
              </c:strCache>
            </c:strRef>
          </c:tx>
          <c:spPr>
            <a:solidFill>
              <a:srgbClr val="E4572E"/>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CRF (bậc 3)</c:v>
                  </c:pt>
                  <c:pt idx="1">
                    <c:v>XLM-R (bậc 4)</c:v>
                  </c:pt>
                </c:lvl>
              </c:multiLvlStrCache>
            </c:multiLvlStrRef>
          </c:cat>
          <c:val>
            <c:numRef>
              <c:f>Sheet1!$C$2:$C$3</c:f>
              <c:numCache>
                <c:formatCode>General</c:formatCode>
                <c:ptCount val="2"/>
                <c:pt idx="0">
                  <c:v>13.9</c:v>
                </c:pt>
                <c:pt idx="1">
                  <c:v>41.2</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F1 theo loại: ViHealthBERT − PhoBERT (điểm)</a:t>
            </a:r>
          </a:p>
        </c:rich>
      </c:tx>
      <c:layout/>
      <c:overlay val="0"/>
    </c:title>
    <c:autoTitleDeleted val="0"/>
    <c:plotArea>
      <c:layout/>
      <c:barChart>
        <c:barDir val="bar"/>
        <c:grouping val="clustered"/>
        <c:varyColors val="0"/>
        <c:ser>
          <c:idx val="0"/>
          <c:order val="0"/>
          <c:tx>
            <c:strRef>
              <c:f>Sheet1!$B$1</c:f>
              <c:strCache>
                <c:ptCount val="1"/>
                <c:pt idx="0">
                  <c:v>Δ F1 (điểm)</c:v>
                </c:pt>
              </c:strCache>
            </c:strRef>
          </c:tx>
          <c:spPr>
            <a:solidFill>
              <a:srgbClr val="2A9D8F"/>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Sheet1!$A$2:$A$12</c:f>
              <c:multiLvlStrCache>
                <c:ptCount val="11"/>
                <c:lvl>
                  <c:pt idx="0">
                    <c:v>MEDDEVICETECHNIQUE</c:v>
                  </c:pt>
                  <c:pt idx="1">
                    <c:v>DISEASESYMTOM</c:v>
                  </c:pt>
                  <c:pt idx="2">
                    <c:v>DIAGNOSTICS</c:v>
                  </c:pt>
                  <c:pt idx="3">
                    <c:v>ORGAN</c:v>
                  </c:pt>
                  <c:pt idx="4">
                    <c:v>DATETIME</c:v>
                  </c:pt>
                  <c:pt idx="5">
                    <c:v>DRUGCHEMICAL</c:v>
                  </c:pt>
                  <c:pt idx="6">
                    <c:v>PERSONALCARE</c:v>
                  </c:pt>
                  <c:pt idx="7">
                    <c:v>SURGERY</c:v>
                  </c:pt>
                  <c:pt idx="8">
                    <c:v>TREATMENT</c:v>
                  </c:pt>
                  <c:pt idx="9">
                    <c:v>GENDER</c:v>
                  </c:pt>
                  <c:pt idx="10">
                    <c:v>LOCATION</c:v>
                  </c:pt>
                </c:lvl>
              </c:multiLvlStrCache>
            </c:multiLvlStrRef>
          </c:cat>
          <c:val>
            <c:numRef>
              <c:f>Sheet1!$B$2:$B$12</c:f>
              <c:numCache>
                <c:formatCode>General</c:formatCode>
                <c:ptCount val="11"/>
                <c:pt idx="0">
                  <c:v>4.9</c:v>
                </c:pt>
                <c:pt idx="1">
                  <c:v>4.7</c:v>
                </c:pt>
                <c:pt idx="2">
                  <c:v>1.7</c:v>
                </c:pt>
                <c:pt idx="3">
                  <c:v>1.4</c:v>
                </c:pt>
                <c:pt idx="4">
                  <c:v>1.4</c:v>
                </c:pt>
                <c:pt idx="5">
                  <c:v>1.1</c:v>
                </c:pt>
                <c:pt idx="6">
                  <c:v>-2.7</c:v>
                </c:pt>
                <c:pt idx="7">
                  <c:v>-3.2</c:v>
                </c:pt>
                <c:pt idx="8">
                  <c:v>-3.7</c:v>
                </c:pt>
                <c:pt idx="9">
                  <c:v>-5.8</c:v>
                </c:pt>
                <c:pt idx="10">
                  <c:v>-7.2</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6EC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F1 test và khả năng nhận ra thực thể mới (%)</a:t>
            </a:r>
          </a:p>
        </c:rich>
      </c:tx>
      <c:layout/>
      <c:overlay val="0"/>
    </c:title>
    <c:autoTitleDeleted val="0"/>
    <c:plotArea>
      <c:layout/>
      <c:barChart>
        <c:barDir val="col"/>
        <c:grouping val="clustered"/>
        <c:varyColors val="0"/>
        <c:ser>
          <c:idx val="0"/>
          <c:order val="0"/>
          <c:tx>
            <c:strRef>
              <c:f>Sheet1!$B$1</c:f>
              <c:strCache>
                <c:ptCount val="1"/>
                <c:pt idx="0">
                  <c:v>F1 test (strict)</c:v>
                </c:pt>
              </c:strCache>
            </c:strRef>
          </c:tx>
          <c:spPr>
            <a:solidFill>
              <a:srgbClr val="4C72B0"/>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1. LogReg</c:v>
                  </c:pt>
                  <c:pt idx="1">
                    <c:v>2. Linear SVM</c:v>
                  </c:pt>
                  <c:pt idx="2">
                    <c:v>3. CRF</c:v>
                  </c:pt>
                  <c:pt idx="3">
                    <c:v>4. XLM-R</c:v>
                  </c:pt>
                  <c:pt idx="4">
                    <c:v>5. PhoBERT</c:v>
                  </c:pt>
                  <c:pt idx="5">
                    <c:v>6. ViHealthBERT</c:v>
                  </c:pt>
                </c:lvl>
              </c:multiLvlStrCache>
            </c:multiLvlStrRef>
          </c:cat>
          <c:val>
            <c:numRef>
              <c:f>Sheet1!$B$2:$B$7</c:f>
              <c:numCache>
                <c:formatCode>General</c:formatCode>
                <c:ptCount val="6"/>
                <c:pt idx="0">
                  <c:v>56.2</c:v>
                </c:pt>
                <c:pt idx="1">
                  <c:v>58.1</c:v>
                </c:pt>
                <c:pt idx="2">
                  <c:v>63.8</c:v>
                </c:pt>
                <c:pt idx="3">
                  <c:v>58.6</c:v>
                </c:pt>
                <c:pt idx="4">
                  <c:v>62.4</c:v>
                </c:pt>
                <c:pt idx="5">
                  <c:v>62.7</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Recall thực thể chưa gặp</c:v>
                </c:pt>
              </c:strCache>
            </c:strRef>
          </c:tx>
          <c:spPr>
            <a:solidFill>
              <a:srgbClr val="E4572E"/>
            </a:solidFill>
            <a:ln w="38100" cap="flat">
              <a:solidFill>
                <a:srgbClr val="E4572E"/>
              </a:solidFill>
              <a:prstDash val="solid"/>
              <a:round/>
            </a:ln>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marker>
            <c:symbol val="circle"/>
            <c:size val="9"/>
            <c:spPr>
              <a:solidFill>
                <a:srgbClr val="E4572E"/>
              </a:solidFill>
              <a:ln w="9525" cap="flat">
                <a:solidFill>
                  <a:srgbClr val="E4572E"/>
                </a:solidFill>
                <a:prstDash val="solid"/>
                <a:round/>
              </a:ln>
              <a:effectLst/>
            </c:spPr>
          </c:marker>
          <c:cat>
            <c:multiLvlStrRef>
              <c:f>Sheet1!$A$2:$A$7</c:f>
              <c:multiLvlStrCache>
                <c:ptCount val="6"/>
                <c:lvl>
                  <c:pt idx="0">
                    <c:v>1. LogReg</c:v>
                  </c:pt>
                  <c:pt idx="1">
                    <c:v>2. Linear SVM</c:v>
                  </c:pt>
                  <c:pt idx="2">
                    <c:v>3. CRF</c:v>
                  </c:pt>
                  <c:pt idx="3">
                    <c:v>4. XLM-R</c:v>
                  </c:pt>
                  <c:pt idx="4">
                    <c:v>5. PhoBERT</c:v>
                  </c:pt>
                  <c:pt idx="5">
                    <c:v>6. ViHealthBERT</c:v>
                  </c:pt>
                </c:lvl>
              </c:multiLvlStrCache>
            </c:multiLvlStrRef>
          </c:cat>
          <c:val>
            <c:numRef>
              <c:f>Sheet1!$C$2:$C$7</c:f>
              <c:numCache>
                <c:formatCode>General</c:formatCode>
                <c:ptCount val="6"/>
                <c:pt idx="0">
                  <c:v>4.9</c:v>
                </c:pt>
                <c:pt idx="1">
                  <c:v>5.4</c:v>
                </c:pt>
                <c:pt idx="2">
                  <c:v>13.9</c:v>
                </c:pt>
                <c:pt idx="3">
                  <c:v>41.2</c:v>
                </c:pt>
                <c:pt idx="4">
                  <c:v>35.6</c:v>
                </c:pt>
                <c:pt idx="5">
                  <c:v>41.9</c:v>
                </c:pt>
              </c:numCache>
            </c:numRef>
          </c:val>
          <c:smooth val="0"/>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Recall trên test (%)</a:t>
            </a:r>
          </a:p>
        </c:rich>
      </c:tx>
      <c:layout/>
      <c:overlay val="0"/>
    </c:title>
    <c:autoTitleDeleted val="0"/>
    <c:plotArea>
      <c:layout/>
      <c:barChart>
        <c:barDir val="col"/>
        <c:grouping val="clustered"/>
        <c:varyColors val="0"/>
        <c:ser>
          <c:idx val="0"/>
          <c:order val="0"/>
          <c:tx>
            <c:strRef>
              <c:f>Sheet1!$B$1</c:f>
              <c:strCache>
                <c:ptCount val="1"/>
                <c:pt idx="0">
                  <c:v>Đã gặp trong train</c:v>
                </c:pt>
              </c:strCache>
            </c:strRef>
          </c:tx>
          <c:spPr>
            <a:solidFill>
              <a:srgbClr val="4C72B0"/>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LogReg</c:v>
                  </c:pt>
                  <c:pt idx="1">
                    <c:v>Linear SVM</c:v>
                  </c:pt>
                  <c:pt idx="2">
                    <c:v>CRF</c:v>
                  </c:pt>
                  <c:pt idx="3">
                    <c:v>XLM-R</c:v>
                  </c:pt>
                  <c:pt idx="4">
                    <c:v>PhoBERT</c:v>
                  </c:pt>
                  <c:pt idx="5">
                    <c:v>ViHealthBERT</c:v>
                  </c:pt>
                </c:lvl>
              </c:multiLvlStrCache>
            </c:multiLvlStrRef>
          </c:cat>
          <c:val>
            <c:numRef>
              <c:f>Sheet1!$B$2:$B$7</c:f>
              <c:numCache>
                <c:formatCode>General</c:formatCode>
                <c:ptCount val="6"/>
                <c:pt idx="0">
                  <c:v>81.2</c:v>
                </c:pt>
                <c:pt idx="1">
                  <c:v>87.1</c:v>
                </c:pt>
                <c:pt idx="2">
                  <c:v>83.2</c:v>
                </c:pt>
                <c:pt idx="3">
                  <c:v>77.3</c:v>
                </c:pt>
                <c:pt idx="4">
                  <c:v>84.3</c:v>
                </c:pt>
                <c:pt idx="5">
                  <c:v>83.9</c:v>
                </c:pt>
              </c:numCache>
            </c:numRef>
          </c:val>
        </c:ser>
        <c:ser>
          <c:idx val="1"/>
          <c:order val="1"/>
          <c:tx>
            <c:strRef>
              <c:f>Sheet1!$C$1</c:f>
              <c:strCache>
                <c:ptCount val="1"/>
                <c:pt idx="0">
                  <c:v>Chưa gặp trong train</c:v>
                </c:pt>
              </c:strCache>
            </c:strRef>
          </c:tx>
          <c:spPr>
            <a:solidFill>
              <a:srgbClr val="E4572E"/>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LogReg</c:v>
                  </c:pt>
                  <c:pt idx="1">
                    <c:v>Linear SVM</c:v>
                  </c:pt>
                  <c:pt idx="2">
                    <c:v>CRF</c:v>
                  </c:pt>
                  <c:pt idx="3">
                    <c:v>XLM-R</c:v>
                  </c:pt>
                  <c:pt idx="4">
                    <c:v>PhoBERT</c:v>
                  </c:pt>
                  <c:pt idx="5">
                    <c:v>ViHealthBERT</c:v>
                  </c:pt>
                </c:lvl>
              </c:multiLvlStrCache>
            </c:multiLvlStrRef>
          </c:cat>
          <c:val>
            <c:numRef>
              <c:f>Sheet1!$C$2:$C$7</c:f>
              <c:numCache>
                <c:formatCode>General</c:formatCode>
                <c:ptCount val="6"/>
                <c:pt idx="0">
                  <c:v>4.9</c:v>
                </c:pt>
                <c:pt idx="1">
                  <c:v>5.4</c:v>
                </c:pt>
                <c:pt idx="2">
                  <c:v>13.9</c:v>
                </c:pt>
                <c:pt idx="3">
                  <c:v>41.2</c:v>
                </c:pt>
                <c:pt idx="4">
                  <c:v>35.6</c:v>
                </c:pt>
                <c:pt idx="5">
                  <c:v>41.9</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F1 (%) trên ba tập</a:t>
            </a:r>
          </a:p>
        </c:rich>
      </c:tx>
      <c:layout/>
      <c:overlay val="0"/>
    </c:title>
    <c:autoTitleDeleted val="0"/>
    <c:plotArea>
      <c:layout/>
      <c:barChart>
        <c:barDir val="col"/>
        <c:grouping val="clustered"/>
        <c:varyColors val="0"/>
        <c:ser>
          <c:idx val="0"/>
          <c:order val="0"/>
          <c:tx>
            <c:strRef>
              <c:f>Sheet1!$B$1</c:f>
              <c:strCache>
                <c:ptCount val="1"/>
                <c:pt idx="0">
                  <c:v>train</c:v>
                </c:pt>
              </c:strCache>
            </c:strRef>
          </c:tx>
          <c:spPr>
            <a:solidFill>
              <a:srgbClr val="4C72B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LogReg</c:v>
                  </c:pt>
                  <c:pt idx="1">
                    <c:v>Linear SVM</c:v>
                  </c:pt>
                  <c:pt idx="2">
                    <c:v>CRF</c:v>
                  </c:pt>
                  <c:pt idx="3">
                    <c:v>XLM-R</c:v>
                  </c:pt>
                  <c:pt idx="4">
                    <c:v>PhoBERT</c:v>
                  </c:pt>
                  <c:pt idx="5">
                    <c:v>ViHealthBERT</c:v>
                  </c:pt>
                </c:lvl>
              </c:multiLvlStrCache>
            </c:multiLvlStrRef>
          </c:cat>
          <c:val>
            <c:numRef>
              <c:f>Sheet1!$B$2:$B$7</c:f>
              <c:numCache>
                <c:formatCode>General</c:formatCode>
                <c:ptCount val="6"/>
                <c:pt idx="0">
                  <c:v>99.4</c:v>
                </c:pt>
                <c:pt idx="1">
                  <c:v>98.6</c:v>
                </c:pt>
                <c:pt idx="2">
                  <c:v>100</c:v>
                </c:pt>
                <c:pt idx="3">
                  <c:v>80.5</c:v>
                </c:pt>
                <c:pt idx="4">
                  <c:v>94.9</c:v>
                </c:pt>
                <c:pt idx="5">
                  <c:v>96.7</c:v>
                </c:pt>
              </c:numCache>
            </c:numRef>
          </c:val>
        </c:ser>
        <c:ser>
          <c:idx val="1"/>
          <c:order val="1"/>
          <c:tx>
            <c:strRef>
              <c:f>Sheet1!$C$1</c:f>
              <c:strCache>
                <c:ptCount val="1"/>
                <c:pt idx="0">
                  <c:v>validation</c:v>
                </c:pt>
              </c:strCache>
            </c:strRef>
          </c:tx>
          <c:spPr>
            <a:solidFill>
              <a:srgbClr val="DD845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LogReg</c:v>
                  </c:pt>
                  <c:pt idx="1">
                    <c:v>Linear SVM</c:v>
                  </c:pt>
                  <c:pt idx="2">
                    <c:v>CRF</c:v>
                  </c:pt>
                  <c:pt idx="3">
                    <c:v>XLM-R</c:v>
                  </c:pt>
                  <c:pt idx="4">
                    <c:v>PhoBERT</c:v>
                  </c:pt>
                  <c:pt idx="5">
                    <c:v>ViHealthBERT</c:v>
                  </c:pt>
                </c:lvl>
              </c:multiLvlStrCache>
            </c:multiLvlStrRef>
          </c:cat>
          <c:val>
            <c:numRef>
              <c:f>Sheet1!$C$2:$C$7</c:f>
              <c:numCache>
                <c:formatCode>General</c:formatCode>
                <c:ptCount val="6"/>
                <c:pt idx="0">
                  <c:v>83.2</c:v>
                </c:pt>
                <c:pt idx="1">
                  <c:v>84.5</c:v>
                </c:pt>
                <c:pt idx="2">
                  <c:v>89.2</c:v>
                </c:pt>
                <c:pt idx="3">
                  <c:v>79.9</c:v>
                </c:pt>
                <c:pt idx="4">
                  <c:v>85.2</c:v>
                </c:pt>
                <c:pt idx="5">
                  <c:v>85.2</c:v>
                </c:pt>
              </c:numCache>
            </c:numRef>
          </c:val>
        </c:ser>
        <c:ser>
          <c:idx val="2"/>
          <c:order val="2"/>
          <c:tx>
            <c:strRef>
              <c:f>Sheet1!$D$1</c:f>
              <c:strCache>
                <c:ptCount val="1"/>
                <c:pt idx="0">
                  <c:v>test</c:v>
                </c:pt>
              </c:strCache>
            </c:strRef>
          </c:tx>
          <c:spPr>
            <a:solidFill>
              <a:srgbClr val="55A86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LogReg</c:v>
                  </c:pt>
                  <c:pt idx="1">
                    <c:v>Linear SVM</c:v>
                  </c:pt>
                  <c:pt idx="2">
                    <c:v>CRF</c:v>
                  </c:pt>
                  <c:pt idx="3">
                    <c:v>XLM-R</c:v>
                  </c:pt>
                  <c:pt idx="4">
                    <c:v>PhoBERT</c:v>
                  </c:pt>
                  <c:pt idx="5">
                    <c:v>ViHealthBERT</c:v>
                  </c:pt>
                </c:lvl>
              </c:multiLvlStrCache>
            </c:multiLvlStrRef>
          </c:cat>
          <c:val>
            <c:numRef>
              <c:f>Sheet1!$D$2:$D$7</c:f>
              <c:numCache>
                <c:formatCode>General</c:formatCode>
                <c:ptCount val="6"/>
                <c:pt idx="0">
                  <c:v>56.2</c:v>
                </c:pt>
                <c:pt idx="1">
                  <c:v>58.1</c:v>
                </c:pt>
                <c:pt idx="2">
                  <c:v>63.8</c:v>
                </c:pt>
                <c:pt idx="3">
                  <c:v>58.6</c:v>
                </c:pt>
                <c:pt idx="4">
                  <c:v>62.4</c:v>
                </c:pt>
                <c:pt idx="5">
                  <c:v>62.7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ViHealthBERT: F1 (%) theo epoch</a:t>
            </a:r>
          </a:p>
        </c:rich>
      </c:tx>
      <c:layout/>
      <c:overlay val="0"/>
    </c:title>
    <c:autoTitleDeleted val="0"/>
    <c:plotArea>
      <c:layout/>
      <c:lineChart>
        <c:varyColors val="0"/>
        <c:ser>
          <c:idx val="0"/>
          <c:order val="0"/>
          <c:tx>
            <c:strRef>
              <c:f>Sheet1!$B$1</c:f>
              <c:strCache>
                <c:ptCount val="1"/>
                <c:pt idx="0">
                  <c:v>train</c:v>
                </c:pt>
              </c:strCache>
            </c:strRef>
          </c:tx>
          <c:spPr>
            <a:solidFill>
              <a:srgbClr val="4C72B0"/>
            </a:solidFill>
            <a:ln w="31750" cap="flat">
              <a:solidFill>
                <a:srgbClr val="4C72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4C72B0"/>
              </a:solidFill>
              <a:ln w="9525" cap="flat">
                <a:solidFill>
                  <a:srgbClr val="4C72B0"/>
                </a:solidFill>
                <a:prstDash val="solid"/>
                <a:round/>
              </a:ln>
              <a:effectLst/>
            </c:spPr>
          </c:marker>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Sheet1!$B$2:$B$9</c:f>
              <c:numCache>
                <c:formatCode>General</c:formatCode>
                <c:ptCount val="8"/>
                <c:pt idx="0">
                  <c:v>60</c:v>
                </c:pt>
                <c:pt idx="1">
                  <c:v>81.4</c:v>
                </c:pt>
                <c:pt idx="2">
                  <c:v>87.3</c:v>
                </c:pt>
                <c:pt idx="3">
                  <c:v>91.6</c:v>
                </c:pt>
                <c:pt idx="4">
                  <c:v>93.9</c:v>
                </c:pt>
                <c:pt idx="5">
                  <c:v>95.2</c:v>
                </c:pt>
                <c:pt idx="6">
                  <c:v>96.5</c:v>
                </c:pt>
                <c:pt idx="7">
                  <c:v>96.8</c:v>
                </c:pt>
              </c:numCache>
            </c:numRef>
          </c:val>
          <c:smooth val="0"/>
        </c:ser>
        <c:ser>
          <c:idx val="1"/>
          <c:order val="1"/>
          <c:tx>
            <c:strRef>
              <c:f>Sheet1!$C$1</c:f>
              <c:strCache>
                <c:ptCount val="1"/>
                <c:pt idx="0">
                  <c:v>validation</c:v>
                </c:pt>
              </c:strCache>
            </c:strRef>
          </c:tx>
          <c:spPr>
            <a:solidFill>
              <a:srgbClr val="DD8452"/>
            </a:solidFill>
            <a:ln w="31750" cap="flat">
              <a:solidFill>
                <a:srgbClr val="DD845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D8452"/>
              </a:solidFill>
              <a:ln w="9525" cap="flat">
                <a:solidFill>
                  <a:srgbClr val="DD8452"/>
                </a:solidFill>
                <a:prstDash val="solid"/>
                <a:round/>
              </a:ln>
              <a:effectLst/>
            </c:spPr>
          </c:marker>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Sheet1!$C$2:$C$9</c:f>
              <c:numCache>
                <c:formatCode>General</c:formatCode>
                <c:ptCount val="8"/>
                <c:pt idx="0">
                  <c:v>58.5</c:v>
                </c:pt>
                <c:pt idx="1">
                  <c:v>75.7</c:v>
                </c:pt>
                <c:pt idx="2">
                  <c:v>81.2</c:v>
                </c:pt>
                <c:pt idx="3">
                  <c:v>83</c:v>
                </c:pt>
                <c:pt idx="4">
                  <c:v>84.4</c:v>
                </c:pt>
                <c:pt idx="5">
                  <c:v>84.2</c:v>
                </c:pt>
                <c:pt idx="6">
                  <c:v>85.2</c:v>
                </c:pt>
                <c:pt idx="7">
                  <c:v>85.1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 và các bạn. Nhóm 8 trình bày đồ án môn Máy học: nhận dạng thực thể y tế trong hội thoại tiếng Việt. Thay vì chỉ so sánh điểm số, nhóm kể một câu chuyện: leo lên sáu bậc mô hình, từ Logistic Regression đến ViHealthBERT, mỗi bậc thay đổi đúng một yếu tố để thấy yếu tố đó đóng góp gì. Thời gian: 30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là nhận dạng thực thể có tên trong transcript hội thoại y tế, một khâu trong hệ thống âm thanh → ASR → văn bản → NER. Mỗi âm tiết được gán một nhãn BIO; có 18 loại thực thể, tức 37 nhãn. Ví dụ từ tập test: "rong huyết" và "rong kinh" là DISEASESYMTOM. Bộ dữ liệu VietMed-NER có ba tập train 4.616, validation 1.154, test 3.497 câu, do hai người gán nhãn độc lập và hai người khác rà soát. Thời gian: 45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hai thử thách. Thứ nhất là mất cân bằng lớp: 78,5% token mang nhãn O, lớp lớn nhất nhiều gấp khoảng 600 lần lớp nhỏ nhất; vì vậy nhóm dùng F1 mức thực thể chứ không dùng accuracy. Thứ hai là lệch miền: nhóm đối chiếu từng câu và xác nhận train và validation được chia ngẫu nhiên từ cùng một nguồn, còn test là các bản ghi khác hẳn. Hệ quả rõ nhất: 6,7% thực thể validation chưa gặp trong train, nhưng ở test là 30,7%. Vì vậy khi leo thang, nhóm theo dõi hai tiêu chí: F1 test, và khả năng nhận ra thực thể chưa gặp.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leo, dữ liệu được kiểm tra và chuẩn bị chung. Không có giá trị thiếu, không lệch số âm tiết và số nhãn, không có token chưa chuẩn hoá. 23 chuỗi BIO lỗi được giữ nguyên. Mã hoá: 37 nhãn được ánh xạ sang số nguyên chỉ dựa trên train. Ba bậc cổ điển dùng cùng một bộ đặc trưng thủ công, được DictVectorizer biến thành vector thưa 77.424 chiều; ba bậc Transformer dùng subword và căn nhãn theo subword đầu. Luật chơi: mọi lựa chọn dựa trên validation, test chỉ dùng một lần, và mọi bậc được chấm cùng một thước đo. Thời gian: 45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 đồ của câu chuyện. Sáu mô hình được xếp thành thang tăng dần độ phức tạp và tri thức, mỗi bậc chỉ thay đổi đúng một yếu tố so với bậc trước, nên chênh lệch giữa hai bậc cho biết đóng góp của yếu tố đó. Bậc 1 là mốc: phân loại từng âm tiết độc lập. Bậc 2 đổi hàm mất mát. Bậc 3 thêm quan hệ giữa các nhãn liền kề. Bậc 4 thay đặc trưng thủ công bằng biểu diễn học từ pretraining. Bậc 5 dùng pretrain đúng ngôn ngữ tiếng Việt. Bậc 6 dùng pretrain đúng miền y tế. Mỗi bậc trả lời một câu hỏi, in nghiêng phía trên.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Bậc 1 là mốc xuất phát: Logistic Regression phân loại từng âm tiết độc lập, dùng đặc trưng thủ công gồm âm tiết, tiền tố, hậu tố và cửa sổ hai âm tiết mỗi bên. Nhóm dò hệ số C trên validation: C = 0,1 bị underfit với 70,7%, C = 10 tốt nhất với 83,2%, C = 30 đã giảm lại. Trên test, F1 là 56,23%. Điểm yếu: mô hình không biết nhãn của âm tiết bên cạnh, nên sinh 1.127 lần chuyển nhãn BIO vô lý, ví dụ I- đứng sau O; và chỉ nhận ra 4,9% thực thể chưa gặp. Thời gian: 50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Bậc 2 chỉ đổi hàm mất mát sang hinge loss của SVM, giữ nguyên đặc trưng. Biểu đồ dò C cho thấy rõ đánh đổi bias–variance: C = 0,01 quá chặt nên underfit, C = 1 tốt nhất với 84,5%, C = 10 bắt đầu overfit. Trên test, SVM hơn Logistic Regression 1,87 điểm, khoảng tin cậy từ +1,35 đến +2,42, có ý nghĩa thống kê. Nhưng vấn đề cấu trúc vẫn còn: 1.175 lần chuyển nhãn BIO vô lý và 1.865 thực thể lệch ranh giới. Đổi thuật toán phân loại không đủ; cần mô hình hoá cả chuỗi. Thời gian: 50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Bậc 3 là bước nhảy lớn nhất: CRF học thêm xác suất chuyển giữa các nhãn liền kề và giải mã cả câu cùng lúc. Với cùng đặc trưng, F1 test tăng 5,70 điểm lên 63,80%, cao nhất trong cả sáu mô hình theo thước đo strict. Số chuyển nhãn vô lý giảm từ hơn một nghìn xuống 9. Nhưng có một dấu hiệu đáng lo: train F1 gần 100%, và khi tách thực thể test theo đã gặp hay chưa gặp trong train, CRF nhận ra 83,2% thực thể đã gặp nhưng chỉ 13,9% thực thể mới. CRF thắng nhờ ghi nhớ. Muốn nhận ra thực thể mới, cần tri thức ngôn ngữ từ pretraining.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Bậc 4 là khúc ngoặt của câu chuyện. Thay đặc trưng thủ công bằng biểu diễn học từ pretraining, nhóm dùng XLM-RoBERTa, checkpoint của chính tác giả bộ dữ liệu. F1 strict giảm 5,17 điểm so với CRF, có ý nghĩa thống kê, vì mô hình đoán thừa nhiều, precision chỉ 52,6%. Nhưng khả năng nhận ra thực thể chưa gặp tăng từ 13,9% lên 41,2%, gần gấp ba. Tức là leo thang không phải lúc nào F1 cũng tăng, nhưng mô hình bắt đầu "hiểu" chứ không chỉ "nhớ". Thêm một phát hiện: bài báo gốc báo XLM-R đạt 0,69; chấm cùng checkpoint theo cách của bài báo (SLUE, không xét ranh giới) nhóm được 68,53%, khớp với bài báo, nên khác biệt là do thước đo. Thời gian: 1 phút 15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Bậc 5 chuyển sang mô hình đúng ngôn ngữ: PhoBERT-base-v2, do nhóm tự fine-tune. Nhóm dò 18 cấu hình gồm learning rate, số epoch và weight decay; hình cho thấy learning rate nhỏ và ít epoch gây underfitting, ví dụ lr 5e-6 với 4 epoch chỉ đạt 36,65% trên validation. Cấu hình tốt nhất là lr 3e-5, 8 epoch, weight decay 0,05, sau đó chọn seed theo validation. PhoBERT hơn XLM-R 3,80 điểm F1 test, có ý nghĩa thống kê, đạt 62,42%. Nhưng với thực thể chưa gặp, PhoBERT chỉ đạt 35,6%: văn bản chung chưa đủ tri thức y khoa.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Bậc 6 dùng ViHealthBERT, pretrain thêm trên văn bản y tế tiếng Việt, với cùng quy trình fine-tune. F1 tổng chỉ hơn PhoBERT 0,32 điểm, khoảng tin cậy chứa 0, nên hai mô hình ngang nhau về F1. Nhưng biểu đồ theo loại cho thấy ViHealthBERT tăng rõ ở các lớp y khoa như DISEASESYMTOM, MEDDEVICETECHNIQUE, DIAGNOSTICS, và giảm ở LOCATION, GENDER. Quan trọng hơn, nó nhận ra 41,9% thực thể chưa gặp, cao nhất cả thang, khoảng ba lần CRF. Theo strict, nó vẫn thua CRF khoảng 1 điểm, vì Transformer đoán thừa và cắt sai ranh giới; đó là lý do bậc tiếp theo tự nhiên là BERT-CRF.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Nhìn lại cả thang, có hai đường đi lên khác nhau. Cột xanh là F1 test theo strict: tăng qua ba bậc cổ điển và đạt đỉnh ở CRF, rồi giảm khi chuyển sang XLM-R, và leo lại qua PhoBERT, ViHealthBERT nhưng chưa vượt CRF. Đường đỏ là khả năng nhận ra thực thể chưa gặp: gần như không đổi ở ba bậc cổ điển, vọt lên ở bậc 4 và đạt đỉnh ở ViHealthBERT. Bảng bên phải là chênh lệch từng bước với khoảng tin cậy bootstrap: mọi bước đều có ý nghĩa thống kê, trừ PhoBERT → ViHealthBERT; bước duy nhất F1 giảm có ý nghĩa là CRF → XLM-R.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hai đường khác nhau? Nhóm tách thực thể test theo việc đã xuất hiện trong train hay chưa. Với thực thể đã gặp, các mô hình khá gần nhau, khoảng 77–87%. Với thực thể chưa gặp, ba mô hình cổ điển chỉ nhận ra 4,9–13,9%, còn ba Transformer 36–42%. Ví dụ thật: "rong huyết" và "rong kinh" chưa từng xuất hiện trong train; CRF chỉ nhận "huyết" thành cơ quan, còn ViHealthBERT đúng cả ba thực thể. Vì 69% thực thể test đã gặp ở train, lợi thế ghi nhớ đủ để CRF dẫn đầu F1 tổng. Kết luận chọn mô hình phụ thuộc vào dữ liệu sử dụng thực tế.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bắt buộc: các mô hình overfit hay underfit? Biểu đồ trái: cả năm mô hình do nhóm huấn luyện có train F1 cao hơn validation 9,6–16,2 điểm, tức đều overfit; XLM-R không được huấn luyện lại nên gần như không chênh. Biểu đồ phải là đường cong học của ViHealthBERT khi nhóm huấn luyện lại và chấm sau mỗi epoch: epoch 1 cả train và validation đều thấp, tức underfitting; từ epoch 5 train tiếp tục tăng lên 96,8% trong khi validation đi ngang quanh 85%, tức overfitting vừa phải. Underfitting cũng xuất hiện ở các cấu hình regularization quá mạnh của bậc 1, 2 và learning rate nhỏ của bậc 5. Nhưng khoảng cách validation–test 21–27 điểm lớn hơn nhiều, nên nguyên nhân chính làm giảm điểm test là lệch miền. Thời gian: 1 phút 15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matrix của bậc cao nhất, ViHealthBERT, chuẩn hoá theo hàng; báo cáo có đủ confusion matrix cho cả sáu mô hình. Các cặp hay nhầm: bệnh bị cắt thành cơ quan, ví dụ "tiêu xương" thành "xương" 24 lần; thủ thuật bị nhầm thành thiết bị, "implant" 40 lần; tổ chức bị nhầm thành địa điểm, "chính phủ" 9 lần. Bảng bên phải phân loại lỗi ở mức thực thể theo từng bậc: càng lên thang, bỏ sót càng giảm, từ hơn một nghìn xuống 352, nhưng đoán thừa tăng lên khoảng hai nghìn. Lỗi còn lại chủ yếu là lệch ranh giới và đoán thừa, đúng loại lỗi mà CRF làm tốt.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bài học về đánh giá: bài báo gốc báo PhoBERT đạt 0,74, cao hơn nhiều so với số của nhóm. Nguyên nhân là bài báo dùng F1 kiểu SLUE, chỉ so khớp các cặp loại và âm tiết mà không xét ranh giới. Chấm cùng checkpoint XLM-R theo SLUE, nhóm được 68,53%, khớp 69% của bài báo. Và khi đổi thước đo, thứ hạng đổi theo: strict thì CRF cao nhất, SLUE thì ViHealthBERT cao nhất. Nhóm chọn strict vì ứng dụng cần trích xuất đúng cả cụm. Thời gian: 50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mỗi bậc dạy một bài học: đặc trưng từ vựng đã đi được xa; đổi thuật toán phân loại chỉ giúp ít; mô hình hoá chuỗi là bước nhảy lớn nhất và cho F1 strict cao nhất; pretraining làm F1 giảm nhưng nhận ra thực thể mới gấp ba; pretrain đúng ngôn ngữ và đúng miền y tế tiếp tục cải thiện khả năng tổng quát hoá. Bậc tiếp theo tự nhiên là BERT-CRF, kết hợp khả năng hiểu của ViHealthBERT với ràng buộc ranh giới của CRF, cùng với xử lý lớp hiếm và bổ sung dữ liệu cùng miền. Thông điệp chính: nút thắt nằm ở dữ liệu, và cách leo từng bậc giúp nhóm đo được đóng góp của từng yếu tố.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Thầy và các bạn đã lắng nghe. Nhóm sẵn sàng trả lời câu hỏi. Thời gian: 15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D"/>
        </a:solidFill>
      </p:bgPr>
    </p:bg>
    <p:spTree>
      <p:nvGrpSpPr>
        <p:cNvPr id="1" name=""/>
        <p:cNvGrpSpPr/>
        <p:nvPr/>
      </p:nvGrpSpPr>
      <p:grpSpPr>
        <a:xfrm>
          <a:off x="0" y="0"/>
          <a:ext cx="0" cy="0"/>
          <a:chOff x="0" y="0"/>
          <a:chExt cx="0" cy="0"/>
        </a:xfrm>
      </p:grpSpPr>
      <p:sp>
        <p:nvSpPr>
          <p:cNvPr id="2" name="Shape 0"/>
          <p:cNvSpPr/>
          <p:nvPr/>
        </p:nvSpPr>
        <p:spPr>
          <a:xfrm>
            <a:off x="640080" y="502920"/>
            <a:ext cx="868680" cy="868680"/>
          </a:xfrm>
          <a:prstGeom prst="roundRect">
            <a:avLst>
              <a:gd name="adj" fmla="val 8421"/>
            </a:avLst>
          </a:prstGeom>
          <a:solidFill>
            <a:srgbClr val="FFFFFF"/>
          </a:solidFill>
          <a:ln w="12700">
            <a:solidFill>
              <a:srgbClr val="FFFFFF"/>
            </a:solidFill>
            <a:prstDash val="solid"/>
          </a:ln>
        </p:spPr>
      </p:sp>
      <p:pic>
        <p:nvPicPr>
          <p:cNvPr id="3" name="Image 0" descr="Logo UIT">    </p:cNvPr>
          <p:cNvPicPr>
            <a:picLocks noChangeAspect="1"/>
          </p:cNvPicPr>
          <p:nvPr/>
        </p:nvPicPr>
        <p:blipFill>
          <a:blip r:embed="rId1"/>
          <a:stretch>
            <a:fillRect/>
          </a:stretch>
        </p:blipFill>
        <p:spPr>
          <a:xfrm>
            <a:off x="685800" y="548640"/>
            <a:ext cx="777240" cy="777240"/>
          </a:xfrm>
          <a:prstGeom prst="rect">
            <a:avLst/>
          </a:prstGeom>
        </p:spPr>
      </p:pic>
      <p:sp>
        <p:nvSpPr>
          <p:cNvPr id="4" name="Text 1"/>
          <p:cNvSpPr txBox="1"/>
          <p:nvPr/>
        </p:nvSpPr>
        <p:spPr>
          <a:xfrm>
            <a:off x="1691640" y="566928"/>
            <a:ext cx="548640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TRƯỜNG ĐẠI HỌC CÔNG NGHỆ THÔNG TIN</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ĐẠI HỌC QUỐC GIA TP. HỒ CHÍ MINH</a:t>
            </a:r>
            <a:endParaRPr lang="en-US" sz="1300" dirty="0"/>
          </a:p>
        </p:txBody>
      </p:sp>
      <p:sp>
        <p:nvSpPr>
          <p:cNvPr id="5" name="Text 2"/>
          <p:cNvSpPr txBox="1"/>
          <p:nvPr/>
        </p:nvSpPr>
        <p:spPr>
          <a:xfrm>
            <a:off x="640080" y="1691640"/>
            <a:ext cx="6858000" cy="210312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Leo từng bậc:</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6 mô hình NER y tế tiếng Việt</a:t>
            </a:r>
            <a:endParaRPr lang="en-US" sz="3600" dirty="0"/>
          </a:p>
        </p:txBody>
      </p:sp>
      <p:sp>
        <p:nvSpPr>
          <p:cNvPr id="6" name="Text 3"/>
          <p:cNvSpPr txBox="1"/>
          <p:nvPr/>
        </p:nvSpPr>
        <p:spPr>
          <a:xfrm>
            <a:off x="640080" y="3931920"/>
            <a:ext cx="6583680" cy="731520"/>
          </a:xfrm>
          <a:prstGeom prst="rect">
            <a:avLst/>
          </a:prstGeom>
          <a:noFill/>
          <a:ln/>
        </p:spPr>
        <p:txBody>
          <a:bodyPr wrap="square" lIns="0" tIns="0" rIns="0" bIns="0" rtlCol="0" anchor="t"/>
          <a:lstStyle/>
          <a:p>
            <a:pPr indent="0" marL="0">
              <a:buNone/>
            </a:pPr>
            <a:r>
              <a:rPr lang="en-US" sz="1800" dirty="0">
                <a:solidFill>
                  <a:srgbClr val="9FD8CF"/>
                </a:solidFill>
                <a:latin typeface="Calibri" pitchFamily="34" charset="0"/>
                <a:ea typeface="Calibri" pitchFamily="34" charset="-122"/>
                <a:cs typeface="Calibri" pitchFamily="34" charset="-120"/>
              </a:rPr>
              <a:t>Từ Logistic Regression đến ViHealthBERT trên VietMed-NER — mỗi bậc thay đổi đúng một yếu tố</a:t>
            </a:r>
            <a:endParaRPr lang="en-US" sz="1800" dirty="0"/>
          </a:p>
        </p:txBody>
      </p:sp>
      <p:sp>
        <p:nvSpPr>
          <p:cNvPr id="7" name="Text 4"/>
          <p:cNvSpPr txBox="1"/>
          <p:nvPr/>
        </p:nvSpPr>
        <p:spPr>
          <a:xfrm>
            <a:off x="640080" y="4800600"/>
            <a:ext cx="6400800" cy="1097280"/>
          </a:xfrm>
          <a:prstGeom prst="rect">
            <a:avLst/>
          </a:prstGeom>
          <a:noFill/>
          <a:ln/>
        </p:spPr>
        <p:txBody>
          <a:bodyPr wrap="square" lIns="0" tIns="0" rIns="0" bIns="0" rtlCol="0" anchor="ctr"/>
          <a:lstStyle/>
          <a:p>
            <a:pPr indent="0" marL="0">
              <a:spcAft>
                <a:spcPts val="400"/>
              </a:spcAft>
              <a:buNone/>
            </a:pPr>
            <a:r>
              <a:rPr lang="en-US" sz="1600" dirty="0">
                <a:solidFill>
                  <a:srgbClr val="D6E2EA"/>
                </a:solidFill>
                <a:latin typeface="Calibri" pitchFamily="34" charset="0"/>
                <a:ea typeface="Calibri" pitchFamily="34" charset="-122"/>
                <a:cs typeface="Calibri" pitchFamily="34" charset="-120"/>
              </a:rPr>
              <a:t>Môn học: Máy học</a:t>
            </a:r>
            <a:endParaRPr lang="en-US" sz="1600" dirty="0"/>
          </a:p>
          <a:p>
            <a:pPr indent="0" marL="0">
              <a:spcAft>
                <a:spcPts val="400"/>
              </a:spcAft>
              <a:buNone/>
            </a:pPr>
            <a:r>
              <a:rPr lang="en-US" sz="1600" dirty="0">
                <a:solidFill>
                  <a:srgbClr val="D6E2EA"/>
                </a:solidFill>
                <a:latin typeface="Calibri" pitchFamily="34" charset="0"/>
                <a:ea typeface="Calibri" pitchFamily="34" charset="-122"/>
                <a:cs typeface="Calibri" pitchFamily="34" charset="-120"/>
              </a:rPr>
              <a:t>Giảng viên hướng dẫn: Đặng Văn Thìn</a:t>
            </a:r>
            <a:endParaRPr lang="en-US" sz="1600" dirty="0"/>
          </a:p>
          <a:p>
            <a:pPr indent="0" marL="0">
              <a:spcAft>
                <a:spcPts val="400"/>
              </a:spcAft>
              <a:buNone/>
            </a:pPr>
            <a:r>
              <a:rPr lang="en-US" sz="1600" dirty="0">
                <a:solidFill>
                  <a:srgbClr val="D6E2EA"/>
                </a:solidFill>
                <a:latin typeface="Calibri" pitchFamily="34" charset="0"/>
                <a:ea typeface="Calibri" pitchFamily="34" charset="-122"/>
                <a:cs typeface="Calibri" pitchFamily="34" charset="-120"/>
              </a:rPr>
              <a:t>Nhóm thực hiện: Nhóm 8</a:t>
            </a:r>
            <a:endParaRPr lang="en-US" sz="1600" dirty="0"/>
          </a:p>
        </p:txBody>
      </p:sp>
      <p:sp>
        <p:nvSpPr>
          <p:cNvPr id="8" name="Shape 5"/>
          <p:cNvSpPr/>
          <p:nvPr/>
        </p:nvSpPr>
        <p:spPr>
          <a:xfrm>
            <a:off x="7635240" y="5349240"/>
            <a:ext cx="658368" cy="640080"/>
          </a:xfrm>
          <a:prstGeom prst="rect">
            <a:avLst/>
          </a:prstGeom>
          <a:solidFill>
            <a:srgbClr val="2F5A76"/>
          </a:solidFill>
          <a:ln w="12700">
            <a:solidFill>
              <a:srgbClr val="2F5A76"/>
            </a:solidFill>
            <a:prstDash val="solid"/>
          </a:ln>
        </p:spPr>
      </p:sp>
      <p:sp>
        <p:nvSpPr>
          <p:cNvPr id="9" name="Text 6"/>
          <p:cNvSpPr txBox="1"/>
          <p:nvPr/>
        </p:nvSpPr>
        <p:spPr>
          <a:xfrm>
            <a:off x="7616952" y="4892040"/>
            <a:ext cx="694944" cy="384048"/>
          </a:xfrm>
          <a:prstGeom prst="rect">
            <a:avLst/>
          </a:prstGeom>
          <a:noFill/>
          <a:ln/>
        </p:spPr>
        <p:txBody>
          <a:bodyPr wrap="square" lIns="0" tIns="0" rIns="0" bIns="0" rtlCol="0" anchor="b"/>
          <a:lstStyle/>
          <a:p>
            <a:pPr algn="ctr" indent="0" marL="0">
              <a:buNone/>
            </a:pPr>
            <a:r>
              <a:rPr lang="en-US" sz="900" b="1" dirty="0">
                <a:solidFill>
                  <a:srgbClr val="D6E2EA"/>
                </a:solidFill>
                <a:latin typeface="Calibri" pitchFamily="34" charset="0"/>
                <a:ea typeface="Calibri" pitchFamily="34" charset="-122"/>
                <a:cs typeface="Calibri" pitchFamily="34" charset="-120"/>
              </a:rPr>
              <a:t>LogReg</a:t>
            </a:r>
            <a:endParaRPr lang="en-US" sz="900" dirty="0"/>
          </a:p>
        </p:txBody>
      </p:sp>
      <p:sp>
        <p:nvSpPr>
          <p:cNvPr id="10" name="Text 7"/>
          <p:cNvSpPr txBox="1"/>
          <p:nvPr/>
        </p:nvSpPr>
        <p:spPr>
          <a:xfrm>
            <a:off x="7635240" y="5394960"/>
            <a:ext cx="658368"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Shape 8"/>
          <p:cNvSpPr/>
          <p:nvPr/>
        </p:nvSpPr>
        <p:spPr>
          <a:xfrm>
            <a:off x="8348472" y="4690872"/>
            <a:ext cx="658368" cy="1298448"/>
          </a:xfrm>
          <a:prstGeom prst="rect">
            <a:avLst/>
          </a:prstGeom>
          <a:solidFill>
            <a:srgbClr val="2F5A76"/>
          </a:solidFill>
          <a:ln w="12700">
            <a:solidFill>
              <a:srgbClr val="2F5A76"/>
            </a:solidFill>
            <a:prstDash val="solid"/>
          </a:ln>
        </p:spPr>
      </p:sp>
      <p:sp>
        <p:nvSpPr>
          <p:cNvPr id="12" name="Text 9"/>
          <p:cNvSpPr txBox="1"/>
          <p:nvPr/>
        </p:nvSpPr>
        <p:spPr>
          <a:xfrm>
            <a:off x="8330184" y="4233672"/>
            <a:ext cx="694944" cy="384048"/>
          </a:xfrm>
          <a:prstGeom prst="rect">
            <a:avLst/>
          </a:prstGeom>
          <a:noFill/>
          <a:ln/>
        </p:spPr>
        <p:txBody>
          <a:bodyPr wrap="square" lIns="0" tIns="0" rIns="0" bIns="0" rtlCol="0" anchor="b"/>
          <a:lstStyle/>
          <a:p>
            <a:pPr algn="ctr" indent="0" marL="0">
              <a:buNone/>
            </a:pPr>
            <a:r>
              <a:rPr lang="en-US" sz="900" b="1" dirty="0">
                <a:solidFill>
                  <a:srgbClr val="D6E2EA"/>
                </a:solidFill>
                <a:latin typeface="Calibri" pitchFamily="34" charset="0"/>
                <a:ea typeface="Calibri" pitchFamily="34" charset="-122"/>
                <a:cs typeface="Calibri" pitchFamily="34" charset="-120"/>
              </a:rPr>
              <a:t>Linear SVM</a:t>
            </a:r>
            <a:endParaRPr lang="en-US" sz="900" dirty="0"/>
          </a:p>
        </p:txBody>
      </p:sp>
      <p:sp>
        <p:nvSpPr>
          <p:cNvPr id="13" name="Text 10"/>
          <p:cNvSpPr txBox="1"/>
          <p:nvPr/>
        </p:nvSpPr>
        <p:spPr>
          <a:xfrm>
            <a:off x="8348472" y="4736592"/>
            <a:ext cx="658368"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Shape 11"/>
          <p:cNvSpPr/>
          <p:nvPr/>
        </p:nvSpPr>
        <p:spPr>
          <a:xfrm>
            <a:off x="9061704" y="4032504"/>
            <a:ext cx="658368" cy="1956816"/>
          </a:xfrm>
          <a:prstGeom prst="rect">
            <a:avLst/>
          </a:prstGeom>
          <a:solidFill>
            <a:srgbClr val="2F5A76"/>
          </a:solidFill>
          <a:ln w="12700">
            <a:solidFill>
              <a:srgbClr val="2F5A76"/>
            </a:solidFill>
            <a:prstDash val="solid"/>
          </a:ln>
        </p:spPr>
      </p:sp>
      <p:sp>
        <p:nvSpPr>
          <p:cNvPr id="15" name="Text 12"/>
          <p:cNvSpPr txBox="1"/>
          <p:nvPr/>
        </p:nvSpPr>
        <p:spPr>
          <a:xfrm>
            <a:off x="9043416" y="3575304"/>
            <a:ext cx="694944" cy="384048"/>
          </a:xfrm>
          <a:prstGeom prst="rect">
            <a:avLst/>
          </a:prstGeom>
          <a:noFill/>
          <a:ln/>
        </p:spPr>
        <p:txBody>
          <a:bodyPr wrap="square" lIns="0" tIns="0" rIns="0" bIns="0" rtlCol="0" anchor="b"/>
          <a:lstStyle/>
          <a:p>
            <a:pPr algn="ctr" indent="0" marL="0">
              <a:buNone/>
            </a:pPr>
            <a:r>
              <a:rPr lang="en-US" sz="900" b="1" dirty="0">
                <a:solidFill>
                  <a:srgbClr val="D6E2EA"/>
                </a:solidFill>
                <a:latin typeface="Calibri" pitchFamily="34" charset="0"/>
                <a:ea typeface="Calibri" pitchFamily="34" charset="-122"/>
                <a:cs typeface="Calibri" pitchFamily="34" charset="-120"/>
              </a:rPr>
              <a:t>CRF</a:t>
            </a:r>
            <a:endParaRPr lang="en-US" sz="900" dirty="0"/>
          </a:p>
        </p:txBody>
      </p:sp>
      <p:sp>
        <p:nvSpPr>
          <p:cNvPr id="16" name="Text 13"/>
          <p:cNvSpPr txBox="1"/>
          <p:nvPr/>
        </p:nvSpPr>
        <p:spPr>
          <a:xfrm>
            <a:off x="9061704" y="4078224"/>
            <a:ext cx="658368"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Shape 14"/>
          <p:cNvSpPr/>
          <p:nvPr/>
        </p:nvSpPr>
        <p:spPr>
          <a:xfrm>
            <a:off x="9774936" y="3374136"/>
            <a:ext cx="658368" cy="2615184"/>
          </a:xfrm>
          <a:prstGeom prst="rect">
            <a:avLst/>
          </a:prstGeom>
          <a:solidFill>
            <a:srgbClr val="2A9D8F"/>
          </a:solidFill>
          <a:ln w="12700">
            <a:solidFill>
              <a:srgbClr val="2A9D8F"/>
            </a:solidFill>
            <a:prstDash val="solid"/>
          </a:ln>
        </p:spPr>
      </p:sp>
      <p:sp>
        <p:nvSpPr>
          <p:cNvPr id="18" name="Text 15"/>
          <p:cNvSpPr txBox="1"/>
          <p:nvPr/>
        </p:nvSpPr>
        <p:spPr>
          <a:xfrm>
            <a:off x="9756648" y="2916936"/>
            <a:ext cx="694944" cy="384048"/>
          </a:xfrm>
          <a:prstGeom prst="rect">
            <a:avLst/>
          </a:prstGeom>
          <a:noFill/>
          <a:ln/>
        </p:spPr>
        <p:txBody>
          <a:bodyPr wrap="square" lIns="0" tIns="0" rIns="0" bIns="0" rtlCol="0" anchor="b"/>
          <a:lstStyle/>
          <a:p>
            <a:pPr algn="ctr" indent="0" marL="0">
              <a:buNone/>
            </a:pPr>
            <a:r>
              <a:rPr lang="en-US" sz="900" b="1" dirty="0">
                <a:solidFill>
                  <a:srgbClr val="D6E2EA"/>
                </a:solidFill>
                <a:latin typeface="Calibri" pitchFamily="34" charset="0"/>
                <a:ea typeface="Calibri" pitchFamily="34" charset="-122"/>
                <a:cs typeface="Calibri" pitchFamily="34" charset="-120"/>
              </a:rPr>
              <a:t>XLM-R</a:t>
            </a:r>
            <a:endParaRPr lang="en-US" sz="900" dirty="0"/>
          </a:p>
        </p:txBody>
      </p:sp>
      <p:sp>
        <p:nvSpPr>
          <p:cNvPr id="19" name="Text 16"/>
          <p:cNvSpPr txBox="1"/>
          <p:nvPr/>
        </p:nvSpPr>
        <p:spPr>
          <a:xfrm>
            <a:off x="9774936" y="3419856"/>
            <a:ext cx="658368"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0" name="Shape 17"/>
          <p:cNvSpPr/>
          <p:nvPr/>
        </p:nvSpPr>
        <p:spPr>
          <a:xfrm>
            <a:off x="10488168" y="2715768"/>
            <a:ext cx="658368" cy="3273552"/>
          </a:xfrm>
          <a:prstGeom prst="rect">
            <a:avLst/>
          </a:prstGeom>
          <a:solidFill>
            <a:srgbClr val="2A9D8F"/>
          </a:solidFill>
          <a:ln w="12700">
            <a:solidFill>
              <a:srgbClr val="2A9D8F"/>
            </a:solidFill>
            <a:prstDash val="solid"/>
          </a:ln>
        </p:spPr>
      </p:sp>
      <p:sp>
        <p:nvSpPr>
          <p:cNvPr id="21" name="Text 18"/>
          <p:cNvSpPr txBox="1"/>
          <p:nvPr/>
        </p:nvSpPr>
        <p:spPr>
          <a:xfrm>
            <a:off x="10469880" y="2258568"/>
            <a:ext cx="694944" cy="384048"/>
          </a:xfrm>
          <a:prstGeom prst="rect">
            <a:avLst/>
          </a:prstGeom>
          <a:noFill/>
          <a:ln/>
        </p:spPr>
        <p:txBody>
          <a:bodyPr wrap="square" lIns="0" tIns="0" rIns="0" bIns="0" rtlCol="0" anchor="b"/>
          <a:lstStyle/>
          <a:p>
            <a:pPr algn="ctr" indent="0" marL="0">
              <a:buNone/>
            </a:pPr>
            <a:r>
              <a:rPr lang="en-US" sz="900" b="1" dirty="0">
                <a:solidFill>
                  <a:srgbClr val="D6E2EA"/>
                </a:solidFill>
                <a:latin typeface="Calibri" pitchFamily="34" charset="0"/>
                <a:ea typeface="Calibri" pitchFamily="34" charset="-122"/>
                <a:cs typeface="Calibri" pitchFamily="34" charset="-120"/>
              </a:rPr>
              <a:t>PhoBERT</a:t>
            </a:r>
            <a:endParaRPr lang="en-US" sz="900" dirty="0"/>
          </a:p>
        </p:txBody>
      </p:sp>
      <p:sp>
        <p:nvSpPr>
          <p:cNvPr id="22" name="Text 19"/>
          <p:cNvSpPr txBox="1"/>
          <p:nvPr/>
        </p:nvSpPr>
        <p:spPr>
          <a:xfrm>
            <a:off x="10488168" y="2761488"/>
            <a:ext cx="658368"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Shape 20"/>
          <p:cNvSpPr/>
          <p:nvPr/>
        </p:nvSpPr>
        <p:spPr>
          <a:xfrm>
            <a:off x="11201400" y="2057400"/>
            <a:ext cx="658368" cy="3931920"/>
          </a:xfrm>
          <a:prstGeom prst="rect">
            <a:avLst/>
          </a:prstGeom>
          <a:solidFill>
            <a:srgbClr val="E4572E"/>
          </a:solidFill>
          <a:ln w="12700">
            <a:solidFill>
              <a:srgbClr val="E4572E"/>
            </a:solidFill>
            <a:prstDash val="solid"/>
          </a:ln>
        </p:spPr>
      </p:sp>
      <p:sp>
        <p:nvSpPr>
          <p:cNvPr id="24" name="Text 21"/>
          <p:cNvSpPr txBox="1"/>
          <p:nvPr/>
        </p:nvSpPr>
        <p:spPr>
          <a:xfrm>
            <a:off x="11183112" y="1600200"/>
            <a:ext cx="694944" cy="384048"/>
          </a:xfrm>
          <a:prstGeom prst="rect">
            <a:avLst/>
          </a:prstGeom>
          <a:noFill/>
          <a:ln/>
        </p:spPr>
        <p:txBody>
          <a:bodyPr wrap="square" lIns="0" tIns="0" rIns="0" bIns="0" rtlCol="0" anchor="b"/>
          <a:lstStyle/>
          <a:p>
            <a:pPr algn="ctr" indent="0" marL="0">
              <a:buNone/>
            </a:pPr>
            <a:r>
              <a:rPr lang="en-US" sz="900" b="1" dirty="0">
                <a:solidFill>
                  <a:srgbClr val="D6E2EA"/>
                </a:solidFill>
                <a:latin typeface="Calibri" pitchFamily="34" charset="0"/>
                <a:ea typeface="Calibri" pitchFamily="34" charset="-122"/>
                <a:cs typeface="Calibri" pitchFamily="34" charset="-120"/>
              </a:rPr>
              <a:t>ViHealthBERT</a:t>
            </a:r>
            <a:endParaRPr lang="en-US" sz="900" dirty="0"/>
          </a:p>
        </p:txBody>
      </p:sp>
      <p:sp>
        <p:nvSpPr>
          <p:cNvPr id="25" name="Text 22"/>
          <p:cNvSpPr txBox="1"/>
          <p:nvPr/>
        </p:nvSpPr>
        <p:spPr>
          <a:xfrm>
            <a:off x="11201400" y="2103120"/>
            <a:ext cx="658368"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Bài toán và bộ dữ liệu</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 / 18</a:t>
            </a:r>
            <a:endParaRPr lang="en-US" sz="1000" dirty="0"/>
          </a:p>
        </p:txBody>
      </p:sp>
      <p:sp>
        <p:nvSpPr>
          <p:cNvPr id="4" name="Shape 2"/>
          <p:cNvSpPr/>
          <p:nvPr/>
        </p:nvSpPr>
        <p:spPr>
          <a:xfrm>
            <a:off x="8366760" y="868680"/>
            <a:ext cx="548640" cy="182880"/>
          </a:xfrm>
          <a:prstGeom prst="rect">
            <a:avLst/>
          </a:prstGeom>
          <a:solidFill>
            <a:srgbClr val="DDE5EB"/>
          </a:solidFill>
          <a:ln w="12700">
            <a:solidFill>
              <a:srgbClr val="DDE5EB"/>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DDE5EB"/>
          </a:solidFill>
          <a:ln w="12700">
            <a:solidFill>
              <a:srgbClr val="DDE5EB"/>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DDE5EB"/>
          </a:solidFill>
          <a:ln w="12700">
            <a:solidFill>
              <a:srgbClr val="DDE5EB"/>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DDE5EB"/>
          </a:solidFill>
          <a:ln w="12700">
            <a:solidFill>
              <a:srgbClr val="DDE5EB"/>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DDE5EB"/>
          </a:solidFill>
          <a:ln w="12700">
            <a:solidFill>
              <a:srgbClr val="DDE5EB"/>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DDE5EB"/>
          </a:solidFill>
          <a:ln w="12700">
            <a:solidFill>
              <a:srgbClr val="DDE5EB"/>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6</a:t>
            </a:r>
            <a:endParaRPr lang="en-US" sz="1000" dirty="0"/>
          </a:p>
        </p:txBody>
      </p:sp>
      <p:sp>
        <p:nvSpPr>
          <p:cNvPr id="16" name="Shape 14"/>
          <p:cNvSpPr/>
          <p:nvPr/>
        </p:nvSpPr>
        <p:spPr>
          <a:xfrm>
            <a:off x="548640" y="1234440"/>
            <a:ext cx="5394960" cy="2148840"/>
          </a:xfrm>
          <a:prstGeom prst="roundRect">
            <a:avLst>
              <a:gd name="adj" fmla="val 3404"/>
            </a:avLst>
          </a:prstGeom>
          <a:solidFill>
            <a:srgbClr val="EEF4F7"/>
          </a:solidFill>
          <a:ln w="12700">
            <a:solidFill>
              <a:srgbClr val="EEF4F7"/>
            </a:solidFill>
            <a:prstDash val="solid"/>
          </a:ln>
        </p:spPr>
      </p:sp>
      <p:sp>
        <p:nvSpPr>
          <p:cNvPr id="17" name="Text 15"/>
          <p:cNvSpPr txBox="1"/>
          <p:nvPr/>
        </p:nvSpPr>
        <p:spPr>
          <a:xfrm>
            <a:off x="749808" y="1353312"/>
            <a:ext cx="5029200" cy="365760"/>
          </a:xfrm>
          <a:prstGeom prst="rect">
            <a:avLst/>
          </a:prstGeom>
          <a:noFill/>
          <a:ln/>
        </p:spPr>
        <p:txBody>
          <a:bodyPr wrap="square" lIns="0" tIns="0" rIns="0" bIns="0" rtlCol="0" anchor="ctr"/>
          <a:lstStyle/>
          <a:p>
            <a:pPr indent="0" marL="0">
              <a:buNone/>
            </a:pPr>
            <a:r>
              <a:rPr lang="en-US" sz="1700" b="1" dirty="0">
                <a:solidFill>
                  <a:srgbClr val="0F2A3D"/>
                </a:solidFill>
                <a:latin typeface="Cambria" pitchFamily="34" charset="0"/>
                <a:ea typeface="Cambria" pitchFamily="34" charset="-122"/>
                <a:cs typeface="Cambria" pitchFamily="34" charset="-120"/>
              </a:rPr>
              <a:t>Gán nhãn chuỗi theo sơ đồ BIO</a:t>
            </a:r>
            <a:endParaRPr lang="en-US" sz="1700" dirty="0"/>
          </a:p>
        </p:txBody>
      </p:sp>
      <p:sp>
        <p:nvSpPr>
          <p:cNvPr id="18" name="Shape 16"/>
          <p:cNvSpPr/>
          <p:nvPr/>
        </p:nvSpPr>
        <p:spPr>
          <a:xfrm>
            <a:off x="749808" y="1828800"/>
            <a:ext cx="658368" cy="777240"/>
          </a:xfrm>
          <a:prstGeom prst="roundRect">
            <a:avLst>
              <a:gd name="adj" fmla="val 8333"/>
            </a:avLst>
          </a:prstGeom>
          <a:solidFill>
            <a:srgbClr val="FCE9E3"/>
          </a:solidFill>
          <a:ln w="12700">
            <a:solidFill>
              <a:srgbClr val="E4572E"/>
            </a:solidFill>
            <a:prstDash val="solid"/>
          </a:ln>
        </p:spPr>
      </p:sp>
      <p:sp>
        <p:nvSpPr>
          <p:cNvPr id="19" name="Text 17"/>
          <p:cNvSpPr txBox="1"/>
          <p:nvPr/>
        </p:nvSpPr>
        <p:spPr>
          <a:xfrm>
            <a:off x="749808" y="1874520"/>
            <a:ext cx="658368"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mbria" pitchFamily="34" charset="0"/>
                <a:ea typeface="Cambria" pitchFamily="34" charset="-122"/>
                <a:cs typeface="Cambria" pitchFamily="34" charset="-120"/>
              </a:rPr>
              <a:t>rong</a:t>
            </a:r>
            <a:endParaRPr lang="en-US" sz="1400" dirty="0"/>
          </a:p>
        </p:txBody>
      </p:sp>
      <p:sp>
        <p:nvSpPr>
          <p:cNvPr id="20" name="Text 18"/>
          <p:cNvSpPr txBox="1"/>
          <p:nvPr/>
        </p:nvSpPr>
        <p:spPr>
          <a:xfrm>
            <a:off x="749808" y="2258568"/>
            <a:ext cx="658368" cy="274320"/>
          </a:xfrm>
          <a:prstGeom prst="rect">
            <a:avLst/>
          </a:prstGeom>
          <a:noFill/>
          <a:ln/>
        </p:spPr>
        <p:txBody>
          <a:bodyPr wrap="square" lIns="0" tIns="0" rIns="0" bIns="0" rtlCol="0" anchor="ctr"/>
          <a:lstStyle/>
          <a:p>
            <a:pPr algn="ctr" indent="0" marL="0">
              <a:buNone/>
            </a:pPr>
            <a:r>
              <a:rPr lang="en-US" sz="700" dirty="0">
                <a:solidFill>
                  <a:srgbClr val="E4572E"/>
                </a:solidFill>
                <a:latin typeface="Calibri" pitchFamily="34" charset="0"/>
                <a:ea typeface="Calibri" pitchFamily="34" charset="-122"/>
                <a:cs typeface="Calibri" pitchFamily="34" charset="-120"/>
              </a:rPr>
              <a:t>B-DISEASE…</a:t>
            </a:r>
            <a:endParaRPr lang="en-US" sz="700" dirty="0"/>
          </a:p>
        </p:txBody>
      </p:sp>
      <p:sp>
        <p:nvSpPr>
          <p:cNvPr id="21" name="Shape 19"/>
          <p:cNvSpPr/>
          <p:nvPr/>
        </p:nvSpPr>
        <p:spPr>
          <a:xfrm>
            <a:off x="1472184" y="1828800"/>
            <a:ext cx="658368" cy="777240"/>
          </a:xfrm>
          <a:prstGeom prst="roundRect">
            <a:avLst>
              <a:gd name="adj" fmla="val 8333"/>
            </a:avLst>
          </a:prstGeom>
          <a:solidFill>
            <a:srgbClr val="FCE9E3"/>
          </a:solidFill>
          <a:ln w="12700">
            <a:solidFill>
              <a:srgbClr val="E4572E"/>
            </a:solidFill>
            <a:prstDash val="solid"/>
          </a:ln>
        </p:spPr>
      </p:sp>
      <p:sp>
        <p:nvSpPr>
          <p:cNvPr id="22" name="Text 20"/>
          <p:cNvSpPr txBox="1"/>
          <p:nvPr/>
        </p:nvSpPr>
        <p:spPr>
          <a:xfrm>
            <a:off x="1472184" y="1874520"/>
            <a:ext cx="658368"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mbria" pitchFamily="34" charset="0"/>
                <a:ea typeface="Cambria" pitchFamily="34" charset="-122"/>
                <a:cs typeface="Cambria" pitchFamily="34" charset="-120"/>
              </a:rPr>
              <a:t>huyết</a:t>
            </a:r>
            <a:endParaRPr lang="en-US" sz="1400" dirty="0"/>
          </a:p>
        </p:txBody>
      </p:sp>
      <p:sp>
        <p:nvSpPr>
          <p:cNvPr id="23" name="Text 21"/>
          <p:cNvSpPr txBox="1"/>
          <p:nvPr/>
        </p:nvSpPr>
        <p:spPr>
          <a:xfrm>
            <a:off x="1472184" y="2258568"/>
            <a:ext cx="658368" cy="274320"/>
          </a:xfrm>
          <a:prstGeom prst="rect">
            <a:avLst/>
          </a:prstGeom>
          <a:noFill/>
          <a:ln/>
        </p:spPr>
        <p:txBody>
          <a:bodyPr wrap="square" lIns="0" tIns="0" rIns="0" bIns="0" rtlCol="0" anchor="ctr"/>
          <a:lstStyle/>
          <a:p>
            <a:pPr algn="ctr" indent="0" marL="0">
              <a:buNone/>
            </a:pPr>
            <a:r>
              <a:rPr lang="en-US" sz="700" dirty="0">
                <a:solidFill>
                  <a:srgbClr val="E4572E"/>
                </a:solidFill>
                <a:latin typeface="Calibri" pitchFamily="34" charset="0"/>
                <a:ea typeface="Calibri" pitchFamily="34" charset="-122"/>
                <a:cs typeface="Calibri" pitchFamily="34" charset="-120"/>
              </a:rPr>
              <a:t>I-DISEASE…</a:t>
            </a:r>
            <a:endParaRPr lang="en-US" sz="700" dirty="0"/>
          </a:p>
        </p:txBody>
      </p:sp>
      <p:sp>
        <p:nvSpPr>
          <p:cNvPr id="24" name="Shape 22"/>
          <p:cNvSpPr/>
          <p:nvPr/>
        </p:nvSpPr>
        <p:spPr>
          <a:xfrm>
            <a:off x="2194560" y="1828800"/>
            <a:ext cx="658368" cy="777240"/>
          </a:xfrm>
          <a:prstGeom prst="roundRect">
            <a:avLst>
              <a:gd name="adj" fmla="val 8333"/>
            </a:avLst>
          </a:prstGeom>
          <a:solidFill>
            <a:srgbClr val="FFFFFF"/>
          </a:solidFill>
          <a:ln w="12700">
            <a:solidFill>
              <a:srgbClr val="D5DEE5"/>
            </a:solidFill>
            <a:prstDash val="solid"/>
          </a:ln>
        </p:spPr>
      </p:sp>
      <p:sp>
        <p:nvSpPr>
          <p:cNvPr id="25" name="Text 23"/>
          <p:cNvSpPr txBox="1"/>
          <p:nvPr/>
        </p:nvSpPr>
        <p:spPr>
          <a:xfrm>
            <a:off x="2194560" y="1874520"/>
            <a:ext cx="658368"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mbria" pitchFamily="34" charset="0"/>
                <a:ea typeface="Cambria" pitchFamily="34" charset="-122"/>
                <a:cs typeface="Cambria" pitchFamily="34" charset="-120"/>
              </a:rPr>
              <a:t>như</a:t>
            </a:r>
            <a:endParaRPr lang="en-US" sz="1400" dirty="0"/>
          </a:p>
        </p:txBody>
      </p:sp>
      <p:sp>
        <p:nvSpPr>
          <p:cNvPr id="26" name="Text 24"/>
          <p:cNvSpPr txBox="1"/>
          <p:nvPr/>
        </p:nvSpPr>
        <p:spPr>
          <a:xfrm>
            <a:off x="2194560" y="2258568"/>
            <a:ext cx="658368" cy="274320"/>
          </a:xfrm>
          <a:prstGeom prst="rect">
            <a:avLst/>
          </a:prstGeom>
          <a:noFill/>
          <a:ln/>
        </p:spPr>
        <p:txBody>
          <a:bodyPr wrap="square" lIns="0" tIns="0" rIns="0" bIns="0" rtlCol="0" anchor="ctr"/>
          <a:lstStyle/>
          <a:p>
            <a:pPr algn="ctr" indent="0" marL="0">
              <a:buNone/>
            </a:pPr>
            <a:r>
              <a:rPr lang="en-US" sz="700" dirty="0">
                <a:solidFill>
                  <a:srgbClr val="5B6B7A"/>
                </a:solidFill>
                <a:latin typeface="Calibri" pitchFamily="34" charset="0"/>
                <a:ea typeface="Calibri" pitchFamily="34" charset="-122"/>
                <a:cs typeface="Calibri" pitchFamily="34" charset="-120"/>
              </a:rPr>
              <a:t>O</a:t>
            </a:r>
            <a:endParaRPr lang="en-US" sz="700" dirty="0"/>
          </a:p>
        </p:txBody>
      </p:sp>
      <p:sp>
        <p:nvSpPr>
          <p:cNvPr id="27" name="Shape 25"/>
          <p:cNvSpPr/>
          <p:nvPr/>
        </p:nvSpPr>
        <p:spPr>
          <a:xfrm>
            <a:off x="2916936" y="1828800"/>
            <a:ext cx="658368" cy="777240"/>
          </a:xfrm>
          <a:prstGeom prst="roundRect">
            <a:avLst>
              <a:gd name="adj" fmla="val 8333"/>
            </a:avLst>
          </a:prstGeom>
          <a:solidFill>
            <a:srgbClr val="FFFFFF"/>
          </a:solidFill>
          <a:ln w="12700">
            <a:solidFill>
              <a:srgbClr val="D5DEE5"/>
            </a:solidFill>
            <a:prstDash val="solid"/>
          </a:ln>
        </p:spPr>
      </p:sp>
      <p:sp>
        <p:nvSpPr>
          <p:cNvPr id="28" name="Text 26"/>
          <p:cNvSpPr txBox="1"/>
          <p:nvPr/>
        </p:nvSpPr>
        <p:spPr>
          <a:xfrm>
            <a:off x="2916936" y="1874520"/>
            <a:ext cx="658368"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mbria" pitchFamily="34" charset="0"/>
                <a:ea typeface="Cambria" pitchFamily="34" charset="-122"/>
                <a:cs typeface="Cambria" pitchFamily="34" charset="-120"/>
              </a:rPr>
              <a:t>vậy</a:t>
            </a:r>
            <a:endParaRPr lang="en-US" sz="1400" dirty="0"/>
          </a:p>
        </p:txBody>
      </p:sp>
      <p:sp>
        <p:nvSpPr>
          <p:cNvPr id="29" name="Text 27"/>
          <p:cNvSpPr txBox="1"/>
          <p:nvPr/>
        </p:nvSpPr>
        <p:spPr>
          <a:xfrm>
            <a:off x="2916936" y="2258568"/>
            <a:ext cx="658368" cy="274320"/>
          </a:xfrm>
          <a:prstGeom prst="rect">
            <a:avLst/>
          </a:prstGeom>
          <a:noFill/>
          <a:ln/>
        </p:spPr>
        <p:txBody>
          <a:bodyPr wrap="square" lIns="0" tIns="0" rIns="0" bIns="0" rtlCol="0" anchor="ctr"/>
          <a:lstStyle/>
          <a:p>
            <a:pPr algn="ctr" indent="0" marL="0">
              <a:buNone/>
            </a:pPr>
            <a:r>
              <a:rPr lang="en-US" sz="700" dirty="0">
                <a:solidFill>
                  <a:srgbClr val="5B6B7A"/>
                </a:solidFill>
                <a:latin typeface="Calibri" pitchFamily="34" charset="0"/>
                <a:ea typeface="Calibri" pitchFamily="34" charset="-122"/>
                <a:cs typeface="Calibri" pitchFamily="34" charset="-120"/>
              </a:rPr>
              <a:t>O</a:t>
            </a:r>
            <a:endParaRPr lang="en-US" sz="700" dirty="0"/>
          </a:p>
        </p:txBody>
      </p:sp>
      <p:sp>
        <p:nvSpPr>
          <p:cNvPr id="30" name="Shape 28"/>
          <p:cNvSpPr/>
          <p:nvPr/>
        </p:nvSpPr>
        <p:spPr>
          <a:xfrm>
            <a:off x="3639312" y="1828800"/>
            <a:ext cx="658368" cy="777240"/>
          </a:xfrm>
          <a:prstGeom prst="roundRect">
            <a:avLst>
              <a:gd name="adj" fmla="val 8333"/>
            </a:avLst>
          </a:prstGeom>
          <a:solidFill>
            <a:srgbClr val="FFFFFF"/>
          </a:solidFill>
          <a:ln w="12700">
            <a:solidFill>
              <a:srgbClr val="D5DEE5"/>
            </a:solidFill>
            <a:prstDash val="solid"/>
          </a:ln>
        </p:spPr>
      </p:sp>
      <p:sp>
        <p:nvSpPr>
          <p:cNvPr id="31" name="Text 29"/>
          <p:cNvSpPr txBox="1"/>
          <p:nvPr/>
        </p:nvSpPr>
        <p:spPr>
          <a:xfrm>
            <a:off x="3639312" y="1874520"/>
            <a:ext cx="658368"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mbria" pitchFamily="34" charset="0"/>
                <a:ea typeface="Cambria" pitchFamily="34" charset="-122"/>
                <a:cs typeface="Cambria" pitchFamily="34" charset="-120"/>
              </a:rPr>
              <a:t>…</a:t>
            </a:r>
            <a:endParaRPr lang="en-US" sz="1400" dirty="0"/>
          </a:p>
        </p:txBody>
      </p:sp>
      <p:sp>
        <p:nvSpPr>
          <p:cNvPr id="32" name="Text 30"/>
          <p:cNvSpPr txBox="1"/>
          <p:nvPr/>
        </p:nvSpPr>
        <p:spPr>
          <a:xfrm>
            <a:off x="3639312" y="2258568"/>
            <a:ext cx="658368" cy="274320"/>
          </a:xfrm>
          <a:prstGeom prst="rect">
            <a:avLst/>
          </a:prstGeom>
          <a:noFill/>
          <a:ln/>
        </p:spPr>
        <p:txBody>
          <a:bodyPr wrap="square" lIns="0" tIns="0" rIns="0" bIns="0" rtlCol="0" anchor="ctr"/>
          <a:lstStyle/>
          <a:p>
            <a:pPr algn="ctr" indent="0" marL="0">
              <a:buNone/>
            </a:pPr>
            <a:r>
              <a:rPr lang="en-US" sz="700" dirty="0">
                <a:solidFill>
                  <a:srgbClr val="5B6B7A"/>
                </a:solidFill>
                <a:latin typeface="Calibri" pitchFamily="34" charset="0"/>
                <a:ea typeface="Calibri" pitchFamily="34" charset="-122"/>
                <a:cs typeface="Calibri" pitchFamily="34" charset="-120"/>
              </a:rPr>
              <a:t>O</a:t>
            </a:r>
            <a:endParaRPr lang="en-US" sz="700" dirty="0"/>
          </a:p>
        </p:txBody>
      </p:sp>
      <p:sp>
        <p:nvSpPr>
          <p:cNvPr id="33" name="Shape 31"/>
          <p:cNvSpPr/>
          <p:nvPr/>
        </p:nvSpPr>
        <p:spPr>
          <a:xfrm>
            <a:off x="4361688" y="1828800"/>
            <a:ext cx="658368" cy="777240"/>
          </a:xfrm>
          <a:prstGeom prst="roundRect">
            <a:avLst>
              <a:gd name="adj" fmla="val 8333"/>
            </a:avLst>
          </a:prstGeom>
          <a:solidFill>
            <a:srgbClr val="FCE9E3"/>
          </a:solidFill>
          <a:ln w="12700">
            <a:solidFill>
              <a:srgbClr val="E4572E"/>
            </a:solidFill>
            <a:prstDash val="solid"/>
          </a:ln>
        </p:spPr>
      </p:sp>
      <p:sp>
        <p:nvSpPr>
          <p:cNvPr id="34" name="Text 32"/>
          <p:cNvSpPr txBox="1"/>
          <p:nvPr/>
        </p:nvSpPr>
        <p:spPr>
          <a:xfrm>
            <a:off x="4361688" y="1874520"/>
            <a:ext cx="658368"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mbria" pitchFamily="34" charset="0"/>
                <a:ea typeface="Cambria" pitchFamily="34" charset="-122"/>
                <a:cs typeface="Cambria" pitchFamily="34" charset="-120"/>
              </a:rPr>
              <a:t>rong</a:t>
            </a:r>
            <a:endParaRPr lang="en-US" sz="1400" dirty="0"/>
          </a:p>
        </p:txBody>
      </p:sp>
      <p:sp>
        <p:nvSpPr>
          <p:cNvPr id="35" name="Text 33"/>
          <p:cNvSpPr txBox="1"/>
          <p:nvPr/>
        </p:nvSpPr>
        <p:spPr>
          <a:xfrm>
            <a:off x="4361688" y="2258568"/>
            <a:ext cx="658368" cy="274320"/>
          </a:xfrm>
          <a:prstGeom prst="rect">
            <a:avLst/>
          </a:prstGeom>
          <a:noFill/>
          <a:ln/>
        </p:spPr>
        <p:txBody>
          <a:bodyPr wrap="square" lIns="0" tIns="0" rIns="0" bIns="0" rtlCol="0" anchor="ctr"/>
          <a:lstStyle/>
          <a:p>
            <a:pPr algn="ctr" indent="0" marL="0">
              <a:buNone/>
            </a:pPr>
            <a:r>
              <a:rPr lang="en-US" sz="700" dirty="0">
                <a:solidFill>
                  <a:srgbClr val="E4572E"/>
                </a:solidFill>
                <a:latin typeface="Calibri" pitchFamily="34" charset="0"/>
                <a:ea typeface="Calibri" pitchFamily="34" charset="-122"/>
                <a:cs typeface="Calibri" pitchFamily="34" charset="-120"/>
              </a:rPr>
              <a:t>B-DISEASE…</a:t>
            </a:r>
            <a:endParaRPr lang="en-US" sz="700" dirty="0"/>
          </a:p>
        </p:txBody>
      </p:sp>
      <p:sp>
        <p:nvSpPr>
          <p:cNvPr id="36" name="Shape 34"/>
          <p:cNvSpPr/>
          <p:nvPr/>
        </p:nvSpPr>
        <p:spPr>
          <a:xfrm>
            <a:off x="5084064" y="1828800"/>
            <a:ext cx="658368" cy="777240"/>
          </a:xfrm>
          <a:prstGeom prst="roundRect">
            <a:avLst>
              <a:gd name="adj" fmla="val 8333"/>
            </a:avLst>
          </a:prstGeom>
          <a:solidFill>
            <a:srgbClr val="FCE9E3"/>
          </a:solidFill>
          <a:ln w="12700">
            <a:solidFill>
              <a:srgbClr val="E4572E"/>
            </a:solidFill>
            <a:prstDash val="solid"/>
          </a:ln>
        </p:spPr>
      </p:sp>
      <p:sp>
        <p:nvSpPr>
          <p:cNvPr id="37" name="Text 35"/>
          <p:cNvSpPr txBox="1"/>
          <p:nvPr/>
        </p:nvSpPr>
        <p:spPr>
          <a:xfrm>
            <a:off x="5084064" y="1874520"/>
            <a:ext cx="658368"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mbria" pitchFamily="34" charset="0"/>
                <a:ea typeface="Cambria" pitchFamily="34" charset="-122"/>
                <a:cs typeface="Cambria" pitchFamily="34" charset="-120"/>
              </a:rPr>
              <a:t>kinh</a:t>
            </a:r>
            <a:endParaRPr lang="en-US" sz="1400" dirty="0"/>
          </a:p>
        </p:txBody>
      </p:sp>
      <p:sp>
        <p:nvSpPr>
          <p:cNvPr id="38" name="Text 36"/>
          <p:cNvSpPr txBox="1"/>
          <p:nvPr/>
        </p:nvSpPr>
        <p:spPr>
          <a:xfrm>
            <a:off x="5084064" y="2258568"/>
            <a:ext cx="658368" cy="274320"/>
          </a:xfrm>
          <a:prstGeom prst="rect">
            <a:avLst/>
          </a:prstGeom>
          <a:noFill/>
          <a:ln/>
        </p:spPr>
        <p:txBody>
          <a:bodyPr wrap="square" lIns="0" tIns="0" rIns="0" bIns="0" rtlCol="0" anchor="ctr"/>
          <a:lstStyle/>
          <a:p>
            <a:pPr algn="ctr" indent="0" marL="0">
              <a:buNone/>
            </a:pPr>
            <a:r>
              <a:rPr lang="en-US" sz="700" dirty="0">
                <a:solidFill>
                  <a:srgbClr val="E4572E"/>
                </a:solidFill>
                <a:latin typeface="Calibri" pitchFamily="34" charset="0"/>
                <a:ea typeface="Calibri" pitchFamily="34" charset="-122"/>
                <a:cs typeface="Calibri" pitchFamily="34" charset="-120"/>
              </a:rPr>
              <a:t>I-DISEASE…</a:t>
            </a:r>
            <a:endParaRPr lang="en-US" sz="700" dirty="0"/>
          </a:p>
        </p:txBody>
      </p:sp>
      <p:sp>
        <p:nvSpPr>
          <p:cNvPr id="39" name="Text 37"/>
          <p:cNvSpPr txBox="1"/>
          <p:nvPr/>
        </p:nvSpPr>
        <p:spPr>
          <a:xfrm>
            <a:off x="749808" y="2743200"/>
            <a:ext cx="5029200" cy="594360"/>
          </a:xfrm>
          <a:prstGeom prst="rect">
            <a:avLst/>
          </a:prstGeom>
          <a:noFill/>
          <a:ln/>
        </p:spPr>
        <p:txBody>
          <a:bodyPr wrap="square" lIns="0" tIns="0" rIns="0" bIns="0" rtlCol="0" anchor="t"/>
          <a:lstStyle/>
          <a:p>
            <a:pPr algn="l" indent="0" marL="0">
              <a:buNone/>
            </a:pPr>
            <a:r>
              <a:rPr lang="en-US" sz="1350" dirty="0">
                <a:solidFill>
                  <a:srgbClr val="1B2733"/>
                </a:solidFill>
                <a:latin typeface="Calibri" pitchFamily="34" charset="0"/>
                <a:ea typeface="Calibri" pitchFamily="34" charset="-122"/>
                <a:cs typeface="Calibri" pitchFamily="34" charset="-120"/>
              </a:rPr>
              <a:t>Mỗi âm tiết một nhãn: </a:t>
            </a:r>
            <a:r>
              <a:rPr lang="en-US" sz="1350" b="1" dirty="0">
                <a:solidFill>
                  <a:srgbClr val="1B2733"/>
                </a:solidFill>
                <a:latin typeface="Calibri" pitchFamily="34" charset="0"/>
                <a:ea typeface="Calibri" pitchFamily="34" charset="-122"/>
                <a:cs typeface="Calibri" pitchFamily="34" charset="-120"/>
              </a:rPr>
              <a:t>B-X</a:t>
            </a:r>
            <a:r>
              <a:rPr lang="en-US" sz="1350" dirty="0">
                <a:solidFill>
                  <a:srgbClr val="1B2733"/>
                </a:solidFill>
                <a:latin typeface="Calibri" pitchFamily="34" charset="0"/>
                <a:ea typeface="Calibri" pitchFamily="34" charset="-122"/>
                <a:cs typeface="Calibri" pitchFamily="34" charset="-120"/>
              </a:rPr>
              <a:t> mở đầu thực thể loại X, </a:t>
            </a:r>
            <a:r>
              <a:rPr lang="en-US" sz="1350" b="1" dirty="0">
                <a:solidFill>
                  <a:srgbClr val="1B2733"/>
                </a:solidFill>
                <a:latin typeface="Calibri" pitchFamily="34" charset="0"/>
                <a:ea typeface="Calibri" pitchFamily="34" charset="-122"/>
                <a:cs typeface="Calibri" pitchFamily="34" charset="-120"/>
              </a:rPr>
              <a:t>I-X</a:t>
            </a:r>
            <a:r>
              <a:rPr lang="en-US" sz="1350" dirty="0">
                <a:solidFill>
                  <a:srgbClr val="1B2733"/>
                </a:solidFill>
                <a:latin typeface="Calibri" pitchFamily="34" charset="0"/>
                <a:ea typeface="Calibri" pitchFamily="34" charset="-122"/>
                <a:cs typeface="Calibri" pitchFamily="34" charset="-120"/>
              </a:rPr>
              <a:t> nối tiếp, </a:t>
            </a:r>
            <a:r>
              <a:rPr lang="en-US" sz="1350" b="1" dirty="0">
                <a:solidFill>
                  <a:srgbClr val="1B2733"/>
                </a:solidFill>
                <a:latin typeface="Calibri" pitchFamily="34" charset="0"/>
                <a:ea typeface="Calibri" pitchFamily="34" charset="-122"/>
                <a:cs typeface="Calibri" pitchFamily="34" charset="-120"/>
              </a:rPr>
              <a:t>O</a:t>
            </a:r>
            <a:r>
              <a:rPr lang="en-US" sz="1350" dirty="0">
                <a:solidFill>
                  <a:srgbClr val="1B2733"/>
                </a:solidFill>
                <a:latin typeface="Calibri" pitchFamily="34" charset="0"/>
                <a:ea typeface="Calibri" pitchFamily="34" charset="-122"/>
                <a:cs typeface="Calibri" pitchFamily="34" charset="-120"/>
              </a:rPr>
              <a:t> ngoài thực thể. </a:t>
            </a:r>
            <a:r>
              <a:rPr lang="en-US" sz="1350" b="1" dirty="0">
                <a:solidFill>
                  <a:srgbClr val="1B2733"/>
                </a:solidFill>
                <a:latin typeface="Calibri" pitchFamily="34" charset="0"/>
                <a:ea typeface="Calibri" pitchFamily="34" charset="-122"/>
                <a:cs typeface="Calibri" pitchFamily="34" charset="-120"/>
              </a:rPr>
              <a:t>18 loại → 37 nhãn.</a:t>
            </a:r>
            <a:r>
              <a:rPr lang="en-US" sz="1350" dirty="0">
                <a:solidFill>
                  <a:srgbClr val="1B2733"/>
                </a:solidFill>
                <a:latin typeface="Calibri" pitchFamily="34" charset="0"/>
                <a:ea typeface="Calibri" pitchFamily="34" charset="-122"/>
                <a:cs typeface="Calibri" pitchFamily="34" charset="-120"/>
              </a:rPr>
              <a:t> Dữ liệu là </a:t>
            </a:r>
            <a:r>
              <a:rPr lang="en-US" sz="1350" b="1" dirty="0">
                <a:solidFill>
                  <a:srgbClr val="1B2733"/>
                </a:solidFill>
                <a:latin typeface="Calibri" pitchFamily="34" charset="0"/>
                <a:ea typeface="Calibri" pitchFamily="34" charset="-122"/>
                <a:cs typeface="Calibri" pitchFamily="34" charset="-120"/>
              </a:rPr>
              <a:t>văn bản</a:t>
            </a:r>
            <a:r>
              <a:rPr lang="en-US" sz="1350" dirty="0">
                <a:solidFill>
                  <a:srgbClr val="1B2733"/>
                </a:solidFill>
                <a:latin typeface="Calibri" pitchFamily="34" charset="0"/>
                <a:ea typeface="Calibri" pitchFamily="34" charset="-122"/>
                <a:cs typeface="Calibri" pitchFamily="34" charset="-120"/>
              </a:rPr>
              <a:t>.</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5394960" cy="914400"/>
        </p:xfrm>
        <a:graphic>
          <a:graphicData uri="http://schemas.openxmlformats.org/drawingml/2006/table">
            <a:tbl>
              <a:tblPr/>
              <a:tblGrid>
                <a:gridCol w="1280160"/>
                <a:gridCol w="1005840"/>
                <a:gridCol w="1097280"/>
                <a:gridCol w="1097280"/>
                <a:gridCol w="914400"/>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Tập</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Số câu</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Số token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Số thực thể</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Độ dài TB</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4.616</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111.267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11.747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24,1</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validation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1.154</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27.657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2.889</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24,0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3.497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77.675</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8.338</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22,2</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bl>
          </a:graphicData>
        </a:graphic>
      </p:graphicFrame>
      <p:sp>
        <p:nvSpPr>
          <p:cNvPr id="41" name="Text 38"/>
          <p:cNvSpPr txBox="1"/>
          <p:nvPr/>
        </p:nvSpPr>
        <p:spPr>
          <a:xfrm>
            <a:off x="548640" y="5303520"/>
            <a:ext cx="5394960" cy="731520"/>
          </a:xfrm>
          <a:prstGeom prst="rect">
            <a:avLst/>
          </a:prstGeom>
          <a:noFill/>
          <a:ln/>
        </p:spPr>
        <p:txBody>
          <a:bodyPr wrap="square" lIns="0" tIns="0" rIns="0" bIns="0" rtlCol="0" anchor="t"/>
          <a:lstStyle/>
          <a:p>
            <a:pPr algn="l" indent="0" marL="0">
              <a:buNone/>
            </a:pPr>
            <a:r>
              <a:rPr lang="en-US" sz="1200" i="1" dirty="0">
                <a:solidFill>
                  <a:srgbClr val="5B6B7A"/>
                </a:solidFill>
                <a:latin typeface="Calibri" pitchFamily="34" charset="0"/>
                <a:ea typeface="Calibri" pitchFamily="34" charset="-122"/>
                <a:cs typeface="Calibri" pitchFamily="34" charset="-120"/>
              </a:rPr>
              <a:t>leduckhai/VietMed-NER: transcript hội thoại y tế thật; 2 người gán nhãn độc lập (1 có nền y khoa), 2 người rà soát.</a:t>
            </a:r>
            <a:endParaRPr lang="en-US" sz="1200" dirty="0"/>
          </a:p>
        </p:txBody>
      </p:sp>
      <p:sp>
        <p:nvSpPr>
          <p:cNvPr id="42" name="Shape 39"/>
          <p:cNvSpPr/>
          <p:nvPr/>
        </p:nvSpPr>
        <p:spPr>
          <a:xfrm>
            <a:off x="6263640" y="1234440"/>
            <a:ext cx="5394960" cy="4846320"/>
          </a:xfrm>
          <a:prstGeom prst="roundRect">
            <a:avLst>
              <a:gd name="adj" fmla="val 1509"/>
            </a:avLst>
          </a:prstGeom>
          <a:solidFill>
            <a:srgbClr val="EEF4F7"/>
          </a:solidFill>
          <a:ln w="12700">
            <a:solidFill>
              <a:srgbClr val="EEF4F7"/>
            </a:solidFill>
            <a:prstDash val="solid"/>
          </a:ln>
        </p:spPr>
      </p:sp>
      <p:sp>
        <p:nvSpPr>
          <p:cNvPr id="43" name="Text 40"/>
          <p:cNvSpPr txBox="1"/>
          <p:nvPr/>
        </p:nvSpPr>
        <p:spPr>
          <a:xfrm>
            <a:off x="6464808" y="1353312"/>
            <a:ext cx="5029200" cy="365760"/>
          </a:xfrm>
          <a:prstGeom prst="rect">
            <a:avLst/>
          </a:prstGeom>
          <a:noFill/>
          <a:ln/>
        </p:spPr>
        <p:txBody>
          <a:bodyPr wrap="square" lIns="0" tIns="0" rIns="0" bIns="0" rtlCol="0" anchor="ctr"/>
          <a:lstStyle/>
          <a:p>
            <a:pPr indent="0" marL="0">
              <a:buNone/>
            </a:pPr>
            <a:r>
              <a:rPr lang="en-US" sz="1700" b="1" dirty="0">
                <a:solidFill>
                  <a:srgbClr val="0F2A3D"/>
                </a:solidFill>
                <a:latin typeface="Cambria" pitchFamily="34" charset="0"/>
                <a:ea typeface="Cambria" pitchFamily="34" charset="-122"/>
                <a:cs typeface="Cambria" pitchFamily="34" charset="-120"/>
              </a:rPr>
              <a:t>Pipeline và phạm vi đồ án</a:t>
            </a:r>
            <a:endParaRPr lang="en-US" sz="1700" dirty="0"/>
          </a:p>
        </p:txBody>
      </p:sp>
      <p:sp>
        <p:nvSpPr>
          <p:cNvPr id="44" name="Shape 41"/>
          <p:cNvSpPr/>
          <p:nvPr/>
        </p:nvSpPr>
        <p:spPr>
          <a:xfrm>
            <a:off x="6675120" y="1828800"/>
            <a:ext cx="4572000" cy="777240"/>
          </a:xfrm>
          <a:prstGeom prst="roundRect">
            <a:avLst>
              <a:gd name="adj" fmla="val 9412"/>
            </a:avLst>
          </a:prstGeom>
          <a:solidFill>
            <a:srgbClr val="FFFFFF"/>
          </a:solidFill>
          <a:ln w="12700">
            <a:solidFill>
              <a:srgbClr val="D5DEE5"/>
            </a:solidFill>
            <a:prstDash val="solid"/>
          </a:ln>
        </p:spPr>
      </p:sp>
      <p:sp>
        <p:nvSpPr>
          <p:cNvPr id="45" name="Text 42"/>
          <p:cNvSpPr txBox="1"/>
          <p:nvPr/>
        </p:nvSpPr>
        <p:spPr>
          <a:xfrm>
            <a:off x="6858000" y="1828800"/>
            <a:ext cx="1280160" cy="77724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AUDIO</a:t>
            </a:r>
            <a:endParaRPr lang="en-US" sz="1800" dirty="0"/>
          </a:p>
        </p:txBody>
      </p:sp>
      <p:sp>
        <p:nvSpPr>
          <p:cNvPr id="46" name="Text 43"/>
          <p:cNvSpPr txBox="1"/>
          <p:nvPr/>
        </p:nvSpPr>
        <p:spPr>
          <a:xfrm>
            <a:off x="8138160" y="1828800"/>
            <a:ext cx="3017520" cy="777240"/>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Hội thoại y tế</a:t>
            </a:r>
            <a:endParaRPr lang="en-US" sz="1400" dirty="0"/>
          </a:p>
        </p:txBody>
      </p:sp>
      <p:sp>
        <p:nvSpPr>
          <p:cNvPr id="47" name="Text 44"/>
          <p:cNvSpPr txBox="1"/>
          <p:nvPr/>
        </p:nvSpPr>
        <p:spPr>
          <a:xfrm>
            <a:off x="8778240" y="2578608"/>
            <a:ext cx="365760" cy="274320"/>
          </a:xfrm>
          <a:prstGeom prst="rect">
            <a:avLst/>
          </a:prstGeom>
          <a:noFill/>
          <a:ln/>
        </p:spPr>
        <p:txBody>
          <a:bodyPr wrap="square" lIns="0" tIns="0" rIns="0" bIns="0" rtlCol="0" anchor="ctr"/>
          <a:lstStyle/>
          <a:p>
            <a:pPr algn="ctr" indent="0" marL="0">
              <a:buNone/>
            </a:pPr>
            <a:r>
              <a:rPr lang="en-US" sz="1400" dirty="0">
                <a:solidFill>
                  <a:srgbClr val="5B6B7A"/>
                </a:solidFill>
              </a:rPr>
              <a:t>↓</a:t>
            </a:r>
            <a:endParaRPr lang="en-US" sz="1400" dirty="0"/>
          </a:p>
        </p:txBody>
      </p:sp>
      <p:sp>
        <p:nvSpPr>
          <p:cNvPr id="48" name="Shape 45"/>
          <p:cNvSpPr/>
          <p:nvPr/>
        </p:nvSpPr>
        <p:spPr>
          <a:xfrm>
            <a:off x="6675120" y="2852928"/>
            <a:ext cx="4572000" cy="777240"/>
          </a:xfrm>
          <a:prstGeom prst="roundRect">
            <a:avLst>
              <a:gd name="adj" fmla="val 9412"/>
            </a:avLst>
          </a:prstGeom>
          <a:solidFill>
            <a:srgbClr val="FFFFFF"/>
          </a:solidFill>
          <a:ln w="12700">
            <a:solidFill>
              <a:srgbClr val="D5DEE5"/>
            </a:solidFill>
            <a:prstDash val="solid"/>
          </a:ln>
        </p:spPr>
      </p:sp>
      <p:sp>
        <p:nvSpPr>
          <p:cNvPr id="49" name="Text 46"/>
          <p:cNvSpPr txBox="1"/>
          <p:nvPr/>
        </p:nvSpPr>
        <p:spPr>
          <a:xfrm>
            <a:off x="6858000" y="2852928"/>
            <a:ext cx="1280160" cy="77724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ASR</a:t>
            </a:r>
            <a:endParaRPr lang="en-US" sz="1800" dirty="0"/>
          </a:p>
        </p:txBody>
      </p:sp>
      <p:sp>
        <p:nvSpPr>
          <p:cNvPr id="50" name="Text 47"/>
          <p:cNvSpPr txBox="1"/>
          <p:nvPr/>
        </p:nvSpPr>
        <p:spPr>
          <a:xfrm>
            <a:off x="8138160" y="2852928"/>
            <a:ext cx="3017520" cy="777240"/>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Nhận dạng tiếng nói</a:t>
            </a:r>
            <a:endParaRPr lang="en-US" sz="1400" dirty="0"/>
          </a:p>
        </p:txBody>
      </p:sp>
      <p:sp>
        <p:nvSpPr>
          <p:cNvPr id="51" name="Text 48"/>
          <p:cNvSpPr txBox="1"/>
          <p:nvPr/>
        </p:nvSpPr>
        <p:spPr>
          <a:xfrm>
            <a:off x="8778240" y="3602736"/>
            <a:ext cx="365760" cy="274320"/>
          </a:xfrm>
          <a:prstGeom prst="rect">
            <a:avLst/>
          </a:prstGeom>
          <a:noFill/>
          <a:ln/>
        </p:spPr>
        <p:txBody>
          <a:bodyPr wrap="square" lIns="0" tIns="0" rIns="0" bIns="0" rtlCol="0" anchor="ctr"/>
          <a:lstStyle/>
          <a:p>
            <a:pPr algn="ctr" indent="0" marL="0">
              <a:buNone/>
            </a:pPr>
            <a:r>
              <a:rPr lang="en-US" sz="1400" dirty="0">
                <a:solidFill>
                  <a:srgbClr val="5B6B7A"/>
                </a:solidFill>
              </a:rPr>
              <a:t>↓</a:t>
            </a:r>
            <a:endParaRPr lang="en-US" sz="1400" dirty="0"/>
          </a:p>
        </p:txBody>
      </p:sp>
      <p:sp>
        <p:nvSpPr>
          <p:cNvPr id="52" name="Shape 49"/>
          <p:cNvSpPr/>
          <p:nvPr/>
        </p:nvSpPr>
        <p:spPr>
          <a:xfrm>
            <a:off x="6675120" y="3877056"/>
            <a:ext cx="4572000" cy="777240"/>
          </a:xfrm>
          <a:prstGeom prst="roundRect">
            <a:avLst>
              <a:gd name="adj" fmla="val 9412"/>
            </a:avLst>
          </a:prstGeom>
          <a:solidFill>
            <a:srgbClr val="FFFFFF"/>
          </a:solidFill>
          <a:ln w="12700">
            <a:solidFill>
              <a:srgbClr val="D5DEE5"/>
            </a:solidFill>
            <a:prstDash val="solid"/>
          </a:ln>
        </p:spPr>
      </p:sp>
      <p:sp>
        <p:nvSpPr>
          <p:cNvPr id="53" name="Text 50"/>
          <p:cNvSpPr txBox="1"/>
          <p:nvPr/>
        </p:nvSpPr>
        <p:spPr>
          <a:xfrm>
            <a:off x="6858000" y="3877056"/>
            <a:ext cx="1280160" cy="77724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TEXT</a:t>
            </a:r>
            <a:endParaRPr lang="en-US" sz="1800" dirty="0"/>
          </a:p>
        </p:txBody>
      </p:sp>
      <p:sp>
        <p:nvSpPr>
          <p:cNvPr id="54" name="Text 51"/>
          <p:cNvSpPr txBox="1"/>
          <p:nvPr/>
        </p:nvSpPr>
        <p:spPr>
          <a:xfrm>
            <a:off x="8138160" y="3877056"/>
            <a:ext cx="3017520" cy="777240"/>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Transcript âm tiết</a:t>
            </a:r>
            <a:endParaRPr lang="en-US" sz="1400" dirty="0"/>
          </a:p>
        </p:txBody>
      </p:sp>
      <p:sp>
        <p:nvSpPr>
          <p:cNvPr id="55" name="Text 52"/>
          <p:cNvSpPr txBox="1"/>
          <p:nvPr/>
        </p:nvSpPr>
        <p:spPr>
          <a:xfrm>
            <a:off x="8778240" y="4626864"/>
            <a:ext cx="365760" cy="274320"/>
          </a:xfrm>
          <a:prstGeom prst="rect">
            <a:avLst/>
          </a:prstGeom>
          <a:noFill/>
          <a:ln/>
        </p:spPr>
        <p:txBody>
          <a:bodyPr wrap="square" lIns="0" tIns="0" rIns="0" bIns="0" rtlCol="0" anchor="ctr"/>
          <a:lstStyle/>
          <a:p>
            <a:pPr algn="ctr" indent="0" marL="0">
              <a:buNone/>
            </a:pPr>
            <a:r>
              <a:rPr lang="en-US" sz="1400" dirty="0">
                <a:solidFill>
                  <a:srgbClr val="5B6B7A"/>
                </a:solidFill>
              </a:rPr>
              <a:t>↓</a:t>
            </a:r>
            <a:endParaRPr lang="en-US" sz="1400" dirty="0"/>
          </a:p>
        </p:txBody>
      </p:sp>
      <p:sp>
        <p:nvSpPr>
          <p:cNvPr id="56" name="Shape 53"/>
          <p:cNvSpPr/>
          <p:nvPr/>
        </p:nvSpPr>
        <p:spPr>
          <a:xfrm>
            <a:off x="6675120" y="4901184"/>
            <a:ext cx="4572000" cy="777240"/>
          </a:xfrm>
          <a:prstGeom prst="roundRect">
            <a:avLst>
              <a:gd name="adj" fmla="val 9412"/>
            </a:avLst>
          </a:prstGeom>
          <a:solidFill>
            <a:srgbClr val="E4572E"/>
          </a:solidFill>
          <a:ln w="12700">
            <a:solidFill>
              <a:srgbClr val="E4572E"/>
            </a:solidFill>
            <a:prstDash val="solid"/>
          </a:ln>
        </p:spPr>
      </p:sp>
      <p:sp>
        <p:nvSpPr>
          <p:cNvPr id="57" name="Text 54"/>
          <p:cNvSpPr txBox="1"/>
          <p:nvPr/>
        </p:nvSpPr>
        <p:spPr>
          <a:xfrm>
            <a:off x="6858000" y="4901184"/>
            <a:ext cx="128016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NER</a:t>
            </a:r>
            <a:endParaRPr lang="en-US" sz="1800" dirty="0"/>
          </a:p>
        </p:txBody>
      </p:sp>
      <p:sp>
        <p:nvSpPr>
          <p:cNvPr id="58" name="Text 55"/>
          <p:cNvSpPr txBox="1"/>
          <p:nvPr/>
        </p:nvSpPr>
        <p:spPr>
          <a:xfrm>
            <a:off x="8138160" y="4901184"/>
            <a:ext cx="3017520" cy="777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Phạm vi đồ án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Vì sao bài toán khó: hai thử thách của dữ liệu</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3 / 18</a:t>
            </a:r>
            <a:endParaRPr lang="en-US" sz="1000" dirty="0"/>
          </a:p>
        </p:txBody>
      </p:sp>
      <p:sp>
        <p:nvSpPr>
          <p:cNvPr id="4" name="Shape 2"/>
          <p:cNvSpPr/>
          <p:nvPr/>
        </p:nvSpPr>
        <p:spPr>
          <a:xfrm>
            <a:off x="8366760" y="868680"/>
            <a:ext cx="548640" cy="182880"/>
          </a:xfrm>
          <a:prstGeom prst="rect">
            <a:avLst/>
          </a:prstGeom>
          <a:solidFill>
            <a:srgbClr val="DDE5EB"/>
          </a:solidFill>
          <a:ln w="12700">
            <a:solidFill>
              <a:srgbClr val="DDE5EB"/>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DDE5EB"/>
          </a:solidFill>
          <a:ln w="12700">
            <a:solidFill>
              <a:srgbClr val="DDE5EB"/>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DDE5EB"/>
          </a:solidFill>
          <a:ln w="12700">
            <a:solidFill>
              <a:srgbClr val="DDE5EB"/>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DDE5EB"/>
          </a:solidFill>
          <a:ln w="12700">
            <a:solidFill>
              <a:srgbClr val="DDE5EB"/>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DDE5EB"/>
          </a:solidFill>
          <a:ln w="12700">
            <a:solidFill>
              <a:srgbClr val="DDE5EB"/>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DDE5EB"/>
          </a:solidFill>
          <a:ln w="12700">
            <a:solidFill>
              <a:srgbClr val="DDE5EB"/>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6</a:t>
            </a:r>
            <a:endParaRPr lang="en-US" sz="1000" dirty="0"/>
          </a:p>
        </p:txBody>
      </p:sp>
      <p:graphicFrame>
        <p:nvGraphicFramePr>
          <p:cNvPr id="16" name="Chart 0" descr=""/>
          <p:cNvGraphicFramePr/>
          <p:nvPr/>
        </p:nvGraphicFramePr>
        <p:xfrm>
          <a:off x="457200" y="11430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548640" y="5440680"/>
            <a:ext cx="3383280" cy="868680"/>
          </a:xfrm>
          <a:prstGeom prst="roundRect">
            <a:avLst>
              <a:gd name="adj" fmla="val 8421"/>
            </a:avLst>
          </a:prstGeom>
          <a:solidFill>
            <a:srgbClr val="EEF4F7"/>
          </a:solidFill>
          <a:ln w="12700">
            <a:solidFill>
              <a:srgbClr val="EEF4F7"/>
            </a:solidFill>
            <a:prstDash val="solid"/>
          </a:ln>
        </p:spPr>
      </p:sp>
      <p:sp>
        <p:nvSpPr>
          <p:cNvPr id="18" name="Text 15"/>
          <p:cNvSpPr txBox="1"/>
          <p:nvPr/>
        </p:nvSpPr>
        <p:spPr>
          <a:xfrm>
            <a:off x="713232" y="5513832"/>
            <a:ext cx="3054096" cy="477774"/>
          </a:xfrm>
          <a:prstGeom prst="rect">
            <a:avLst/>
          </a:prstGeom>
          <a:noFill/>
          <a:ln/>
        </p:spPr>
        <p:txBody>
          <a:bodyPr wrap="square" lIns="0" tIns="0" rIns="0" bIns="0" rtlCol="0" anchor="ctr"/>
          <a:lstStyle/>
          <a:p>
            <a:pPr indent="0" marL="0">
              <a:buNone/>
            </a:pPr>
            <a:r>
              <a:rPr lang="en-US" sz="2600" b="1" dirty="0">
                <a:solidFill>
                  <a:srgbClr val="2A9D8F"/>
                </a:solidFill>
                <a:latin typeface="Cambria" pitchFamily="34" charset="0"/>
                <a:ea typeface="Cambria" pitchFamily="34" charset="-122"/>
                <a:cs typeface="Cambria" pitchFamily="34" charset="-120"/>
              </a:rPr>
              <a:t>78,5%</a:t>
            </a:r>
            <a:endParaRPr lang="en-US" sz="2600" dirty="0"/>
          </a:p>
        </p:txBody>
      </p:sp>
      <p:sp>
        <p:nvSpPr>
          <p:cNvPr id="19" name="Text 16"/>
          <p:cNvSpPr txBox="1"/>
          <p:nvPr/>
        </p:nvSpPr>
        <p:spPr>
          <a:xfrm>
            <a:off x="713232" y="5979262"/>
            <a:ext cx="3054096" cy="295351"/>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token mang nhãn O ⇒ dùng F1 thực thể, không dùng accuracy</a:t>
            </a:r>
            <a:endParaRPr lang="en-US" sz="1150" dirty="0"/>
          </a:p>
        </p:txBody>
      </p:sp>
      <p:sp>
        <p:nvSpPr>
          <p:cNvPr id="20" name="Shape 17"/>
          <p:cNvSpPr/>
          <p:nvPr/>
        </p:nvSpPr>
        <p:spPr>
          <a:xfrm>
            <a:off x="4069080" y="5440680"/>
            <a:ext cx="3337560" cy="868680"/>
          </a:xfrm>
          <a:prstGeom prst="roundRect">
            <a:avLst>
              <a:gd name="adj" fmla="val 8421"/>
            </a:avLst>
          </a:prstGeom>
          <a:solidFill>
            <a:srgbClr val="EEF4F7"/>
          </a:solidFill>
          <a:ln w="12700">
            <a:solidFill>
              <a:srgbClr val="EEF4F7"/>
            </a:solidFill>
            <a:prstDash val="solid"/>
          </a:ln>
        </p:spPr>
      </p:sp>
      <p:sp>
        <p:nvSpPr>
          <p:cNvPr id="21" name="Text 18"/>
          <p:cNvSpPr txBox="1"/>
          <p:nvPr/>
        </p:nvSpPr>
        <p:spPr>
          <a:xfrm>
            <a:off x="4233672" y="5513832"/>
            <a:ext cx="3008376" cy="477774"/>
          </a:xfrm>
          <a:prstGeom prst="rect">
            <a:avLst/>
          </a:prstGeom>
          <a:noFill/>
          <a:ln/>
        </p:spPr>
        <p:txBody>
          <a:bodyPr wrap="square" lIns="0" tIns="0" rIns="0" bIns="0" rtlCol="0" anchor="ctr"/>
          <a:lstStyle/>
          <a:p>
            <a:pPr indent="0" marL="0">
              <a:buNone/>
            </a:pPr>
            <a:r>
              <a:rPr lang="en-US" sz="2600" b="1" dirty="0">
                <a:solidFill>
                  <a:srgbClr val="E9A23B"/>
                </a:solidFill>
                <a:latin typeface="Cambria" pitchFamily="34" charset="0"/>
                <a:ea typeface="Cambria" pitchFamily="34" charset="-122"/>
                <a:cs typeface="Cambria" pitchFamily="34" charset="-120"/>
              </a:rPr>
              <a:t>≈ 600×</a:t>
            </a:r>
            <a:endParaRPr lang="en-US" sz="2600" dirty="0"/>
          </a:p>
        </p:txBody>
      </p:sp>
      <p:sp>
        <p:nvSpPr>
          <p:cNvPr id="22" name="Text 19"/>
          <p:cNvSpPr txBox="1"/>
          <p:nvPr/>
        </p:nvSpPr>
        <p:spPr>
          <a:xfrm>
            <a:off x="4233672" y="5979262"/>
            <a:ext cx="3008376" cy="295351"/>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DISEASESYMTOM 2.975 so với TRANSPORTATION 5</a:t>
            </a:r>
            <a:endParaRPr lang="en-US" sz="1150" dirty="0"/>
          </a:p>
        </p:txBody>
      </p:sp>
      <p:sp>
        <p:nvSpPr>
          <p:cNvPr id="23" name="Shape 20"/>
          <p:cNvSpPr/>
          <p:nvPr/>
        </p:nvSpPr>
        <p:spPr>
          <a:xfrm>
            <a:off x="7680960" y="1188720"/>
            <a:ext cx="3977640" cy="5120640"/>
          </a:xfrm>
          <a:prstGeom prst="roundRect">
            <a:avLst>
              <a:gd name="adj" fmla="val 1839"/>
            </a:avLst>
          </a:prstGeom>
          <a:solidFill>
            <a:srgbClr val="FCE9E3"/>
          </a:solidFill>
          <a:ln w="12700">
            <a:solidFill>
              <a:srgbClr val="FCE9E3"/>
            </a:solidFill>
            <a:prstDash val="solid"/>
          </a:ln>
        </p:spPr>
      </p:sp>
      <p:sp>
        <p:nvSpPr>
          <p:cNvPr id="24" name="Text 21"/>
          <p:cNvSpPr txBox="1"/>
          <p:nvPr/>
        </p:nvSpPr>
        <p:spPr>
          <a:xfrm>
            <a:off x="7882128" y="1325880"/>
            <a:ext cx="3657600" cy="365760"/>
          </a:xfrm>
          <a:prstGeom prst="rect">
            <a:avLst/>
          </a:prstGeom>
          <a:noFill/>
          <a:ln/>
        </p:spPr>
        <p:txBody>
          <a:bodyPr wrap="square" lIns="0" tIns="0" rIns="0" bIns="0" rtlCol="0" anchor="ctr"/>
          <a:lstStyle/>
          <a:p>
            <a:pPr indent="0" marL="0">
              <a:buNone/>
            </a:pPr>
            <a:r>
              <a:rPr lang="en-US" sz="1700" b="1" dirty="0">
                <a:solidFill>
                  <a:srgbClr val="E4572E"/>
                </a:solidFill>
                <a:latin typeface="Cambria" pitchFamily="34" charset="0"/>
                <a:ea typeface="Cambria" pitchFamily="34" charset="-122"/>
                <a:cs typeface="Cambria" pitchFamily="34" charset="-120"/>
              </a:rPr>
              <a:t>Thử thách 2 — test lệch miền</a:t>
            </a:r>
            <a:endParaRPr lang="en-US" sz="1700" dirty="0"/>
          </a:p>
        </p:txBody>
      </p:sp>
      <p:sp>
        <p:nvSpPr>
          <p:cNvPr id="25" name="Text 22"/>
          <p:cNvSpPr txBox="1"/>
          <p:nvPr/>
        </p:nvSpPr>
        <p:spPr>
          <a:xfrm>
            <a:off x="7882128" y="1783080"/>
            <a:ext cx="3611880" cy="1325880"/>
          </a:xfrm>
          <a:prstGeom prst="rect">
            <a:avLst/>
          </a:prstGeom>
          <a:noFill/>
          <a:ln/>
        </p:spPr>
        <p:txBody>
          <a:bodyPr wrap="square" lIns="0" tIns="0" rIns="0" bIns="0" rtlCol="0" anchor="t"/>
          <a:lstStyle/>
          <a:p>
            <a:pPr algn="l" indent="0" marL="0">
              <a:buNone/>
            </a:pPr>
            <a:r>
              <a:rPr lang="en-US" sz="1350" dirty="0">
                <a:solidFill>
                  <a:srgbClr val="1B2733"/>
                </a:solidFill>
                <a:latin typeface="Calibri" pitchFamily="34" charset="0"/>
                <a:ea typeface="Calibri" pitchFamily="34" charset="-122"/>
                <a:cs typeface="Calibri" pitchFamily="34" charset="-120"/>
              </a:rPr>
              <a:t>Train và val chia ngẫu nhiên từ </a:t>
            </a:r>
            <a:r>
              <a:rPr lang="en-US" sz="1350" b="1" dirty="0">
                <a:solidFill>
                  <a:srgbClr val="1B2733"/>
                </a:solidFill>
                <a:latin typeface="Calibri" pitchFamily="34" charset="0"/>
                <a:ea typeface="Calibri" pitchFamily="34" charset="-122"/>
                <a:cs typeface="Calibri" pitchFamily="34" charset="-120"/>
              </a:rPr>
              <a:t>cùng nguồn</a:t>
            </a:r>
            <a:r>
              <a:rPr lang="en-US" sz="1350" dirty="0">
                <a:solidFill>
                  <a:srgbClr val="1B2733"/>
                </a:solidFill>
                <a:latin typeface="Calibri" pitchFamily="34" charset="0"/>
                <a:ea typeface="Calibri" pitchFamily="34" charset="-122"/>
                <a:cs typeface="Calibri" pitchFamily="34" charset="-120"/>
              </a:rPr>
              <a:t> (VietMed train+dev+cv); test là </a:t>
            </a:r>
            <a:r>
              <a:rPr lang="en-US" sz="1350" b="1" dirty="0">
                <a:solidFill>
                  <a:srgbClr val="1B2733"/>
                </a:solidFill>
                <a:latin typeface="Calibri" pitchFamily="34" charset="0"/>
                <a:ea typeface="Calibri" pitchFamily="34" charset="-122"/>
                <a:cs typeface="Calibri" pitchFamily="34" charset="-120"/>
              </a:rPr>
              <a:t>bản ghi khác</a:t>
            </a:r>
            <a:r>
              <a:rPr lang="en-US" sz="1350" dirty="0">
                <a:solidFill>
                  <a:srgbClr val="1B2733"/>
                </a:solidFill>
                <a:latin typeface="Calibri" pitchFamily="34" charset="0"/>
                <a:ea typeface="Calibri" pitchFamily="34" charset="-122"/>
                <a:cs typeface="Calibri" pitchFamily="34" charset="-120"/>
              </a:rPr>
              <a:t>: podcast, bài giảng, tin tức, nhóm bệnh ICD-10 khác.</a:t>
            </a:r>
            <a:endParaRPr lang="en-US" sz="1350" dirty="0"/>
          </a:p>
        </p:txBody>
      </p:sp>
      <p:sp>
        <p:nvSpPr>
          <p:cNvPr id="26" name="Text 23"/>
          <p:cNvSpPr txBox="1"/>
          <p:nvPr/>
        </p:nvSpPr>
        <p:spPr>
          <a:xfrm>
            <a:off x="7882128" y="3200400"/>
            <a:ext cx="3611880" cy="320040"/>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Thực thể chưa gặp trong train</a:t>
            </a:r>
            <a:endParaRPr lang="en-US" sz="1300" dirty="0"/>
          </a:p>
        </p:txBody>
      </p:sp>
      <p:sp>
        <p:nvSpPr>
          <p:cNvPr id="27" name="Text 24"/>
          <p:cNvSpPr txBox="1"/>
          <p:nvPr/>
        </p:nvSpPr>
        <p:spPr>
          <a:xfrm>
            <a:off x="7882128" y="3611880"/>
            <a:ext cx="1188720" cy="640080"/>
          </a:xfrm>
          <a:prstGeom prst="rect">
            <a:avLst/>
          </a:prstGeom>
          <a:noFill/>
          <a:ln/>
        </p:spPr>
        <p:txBody>
          <a:bodyPr wrap="square" lIns="0" tIns="0" rIns="0" bIns="0" rtlCol="0" anchor="ctr"/>
          <a:lstStyle/>
          <a:p>
            <a:pPr indent="0" marL="0">
              <a:buNone/>
            </a:pPr>
            <a:r>
              <a:rPr lang="en-US" sz="1400" dirty="0">
                <a:solidFill>
                  <a:srgbClr val="1B2733"/>
                </a:solidFill>
                <a:latin typeface="Calibri" pitchFamily="34" charset="0"/>
                <a:ea typeface="Calibri" pitchFamily="34" charset="-122"/>
                <a:cs typeface="Calibri" pitchFamily="34" charset="-120"/>
              </a:rPr>
              <a:t>Validation</a:t>
            </a:r>
            <a:endParaRPr lang="en-US" sz="1400" dirty="0"/>
          </a:p>
        </p:txBody>
      </p:sp>
      <p:sp>
        <p:nvSpPr>
          <p:cNvPr id="28" name="Shape 25"/>
          <p:cNvSpPr/>
          <p:nvPr/>
        </p:nvSpPr>
        <p:spPr>
          <a:xfrm>
            <a:off x="9098280" y="3749040"/>
            <a:ext cx="453786" cy="365760"/>
          </a:xfrm>
          <a:prstGeom prst="rect">
            <a:avLst/>
          </a:prstGeom>
          <a:solidFill>
            <a:srgbClr val="2A9D8F"/>
          </a:solidFill>
          <a:ln w="12700">
            <a:solidFill>
              <a:srgbClr val="2A9D8F"/>
            </a:solidFill>
            <a:prstDash val="solid"/>
          </a:ln>
        </p:spPr>
      </p:sp>
      <p:sp>
        <p:nvSpPr>
          <p:cNvPr id="29" name="Text 26"/>
          <p:cNvSpPr txBox="1"/>
          <p:nvPr/>
        </p:nvSpPr>
        <p:spPr>
          <a:xfrm>
            <a:off x="9625218" y="3611880"/>
            <a:ext cx="914400" cy="640080"/>
          </a:xfrm>
          <a:prstGeom prst="rect">
            <a:avLst/>
          </a:prstGeom>
          <a:noFill/>
          <a:ln/>
        </p:spPr>
        <p:txBody>
          <a:bodyPr wrap="square" lIns="0" tIns="0" rIns="0" bIns="0" rtlCol="0" anchor="ctr"/>
          <a:lstStyle/>
          <a:p>
            <a:pPr indent="0" marL="0">
              <a:buNone/>
            </a:pPr>
            <a:r>
              <a:rPr lang="en-US" sz="1800" b="1" dirty="0">
                <a:solidFill>
                  <a:srgbClr val="2A9D8F"/>
                </a:solidFill>
                <a:latin typeface="Cambria" pitchFamily="34" charset="0"/>
                <a:ea typeface="Cambria" pitchFamily="34" charset="-122"/>
                <a:cs typeface="Cambria" pitchFamily="34" charset="-120"/>
              </a:rPr>
              <a:t>6,7%</a:t>
            </a:r>
            <a:endParaRPr lang="en-US" sz="1800" dirty="0"/>
          </a:p>
        </p:txBody>
      </p:sp>
      <p:sp>
        <p:nvSpPr>
          <p:cNvPr id="30" name="Text 27"/>
          <p:cNvSpPr txBox="1"/>
          <p:nvPr/>
        </p:nvSpPr>
        <p:spPr>
          <a:xfrm>
            <a:off x="7882128" y="4480560"/>
            <a:ext cx="1188720" cy="640080"/>
          </a:xfrm>
          <a:prstGeom prst="rect">
            <a:avLst/>
          </a:prstGeom>
          <a:noFill/>
          <a:ln/>
        </p:spPr>
        <p:txBody>
          <a:bodyPr wrap="square" lIns="0" tIns="0" rIns="0" bIns="0" rtlCol="0" anchor="ctr"/>
          <a:lstStyle/>
          <a:p>
            <a:pPr indent="0" marL="0">
              <a:buNone/>
            </a:pPr>
            <a:r>
              <a:rPr lang="en-US" sz="1400" dirty="0">
                <a:solidFill>
                  <a:srgbClr val="1B2733"/>
                </a:solidFill>
                <a:latin typeface="Calibri" pitchFamily="34" charset="0"/>
                <a:ea typeface="Calibri" pitchFamily="34" charset="-122"/>
                <a:cs typeface="Calibri" pitchFamily="34" charset="-120"/>
              </a:rPr>
              <a:t>Test</a:t>
            </a:r>
            <a:endParaRPr lang="en-US" sz="1400" dirty="0"/>
          </a:p>
        </p:txBody>
      </p:sp>
      <p:sp>
        <p:nvSpPr>
          <p:cNvPr id="31" name="Shape 28"/>
          <p:cNvSpPr/>
          <p:nvPr/>
        </p:nvSpPr>
        <p:spPr>
          <a:xfrm>
            <a:off x="9098280" y="4617720"/>
            <a:ext cx="2082286" cy="365760"/>
          </a:xfrm>
          <a:prstGeom prst="rect">
            <a:avLst/>
          </a:prstGeom>
          <a:solidFill>
            <a:srgbClr val="E4572E"/>
          </a:solidFill>
          <a:ln w="12700">
            <a:solidFill>
              <a:srgbClr val="E4572E"/>
            </a:solidFill>
            <a:prstDash val="solid"/>
          </a:ln>
        </p:spPr>
      </p:sp>
      <p:sp>
        <p:nvSpPr>
          <p:cNvPr id="32" name="Text 29"/>
          <p:cNvSpPr txBox="1"/>
          <p:nvPr/>
        </p:nvSpPr>
        <p:spPr>
          <a:xfrm>
            <a:off x="11253718" y="4480560"/>
            <a:ext cx="914400" cy="64008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30,7%</a:t>
            </a:r>
            <a:endParaRPr lang="en-US" sz="1800" dirty="0"/>
          </a:p>
        </p:txBody>
      </p:sp>
      <p:sp>
        <p:nvSpPr>
          <p:cNvPr id="33" name="Text 30"/>
          <p:cNvSpPr txBox="1"/>
          <p:nvPr/>
        </p:nvSpPr>
        <p:spPr>
          <a:xfrm>
            <a:off x="7882128" y="5349240"/>
            <a:ext cx="3611880" cy="868680"/>
          </a:xfrm>
          <a:prstGeom prst="rect">
            <a:avLst/>
          </a:prstGeom>
          <a:noFill/>
          <a:ln/>
        </p:spPr>
        <p:txBody>
          <a:bodyPr wrap="square" lIns="0" tIns="0" rIns="0" bIns="0" rtlCol="0" anchor="t"/>
          <a:lstStyle/>
          <a:p>
            <a:pPr algn="l" indent="0" marL="0">
              <a:buNone/>
            </a:pPr>
            <a:r>
              <a:rPr lang="en-US" sz="1350" dirty="0">
                <a:solidFill>
                  <a:srgbClr val="1B2733"/>
                </a:solidFill>
                <a:latin typeface="Calibri" pitchFamily="34" charset="0"/>
                <a:ea typeface="Calibri" pitchFamily="34" charset="-122"/>
                <a:cs typeface="Calibri" pitchFamily="34" charset="-120"/>
              </a:rPr>
              <a:t>⇒ Mô hình dựa vào </a:t>
            </a:r>
            <a:r>
              <a:rPr lang="en-US" sz="1350" b="1" dirty="0">
                <a:solidFill>
                  <a:srgbClr val="1B2733"/>
                </a:solidFill>
                <a:latin typeface="Calibri" pitchFamily="34" charset="0"/>
                <a:ea typeface="Calibri" pitchFamily="34" charset="-122"/>
                <a:cs typeface="Calibri" pitchFamily="34" charset="-120"/>
              </a:rPr>
              <a:t>ghi nhớ</a:t>
            </a:r>
            <a:r>
              <a:rPr lang="en-US" sz="1350" dirty="0">
                <a:solidFill>
                  <a:srgbClr val="1B2733"/>
                </a:solidFill>
                <a:latin typeface="Calibri" pitchFamily="34" charset="0"/>
                <a:ea typeface="Calibri" pitchFamily="34" charset="-122"/>
                <a:cs typeface="Calibri" pitchFamily="34" charset="-120"/>
              </a:rPr>
              <a:t> sẽ giữ điểm cao trên val nhưng tụt mạnh trên test. Đây là tiêu chí thứ hai khi leo thang.</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Chuẩn bị dữ liệu chung cho cả 6 bậc</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4 / 18</a:t>
            </a:r>
            <a:endParaRPr lang="en-US" sz="1000" dirty="0"/>
          </a:p>
        </p:txBody>
      </p:sp>
      <p:sp>
        <p:nvSpPr>
          <p:cNvPr id="4" name="Shape 2"/>
          <p:cNvSpPr/>
          <p:nvPr/>
        </p:nvSpPr>
        <p:spPr>
          <a:xfrm>
            <a:off x="8366760" y="868680"/>
            <a:ext cx="548640" cy="182880"/>
          </a:xfrm>
          <a:prstGeom prst="rect">
            <a:avLst/>
          </a:prstGeom>
          <a:solidFill>
            <a:srgbClr val="DDE5EB"/>
          </a:solidFill>
          <a:ln w="12700">
            <a:solidFill>
              <a:srgbClr val="DDE5EB"/>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DDE5EB"/>
          </a:solidFill>
          <a:ln w="12700">
            <a:solidFill>
              <a:srgbClr val="DDE5EB"/>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DDE5EB"/>
          </a:solidFill>
          <a:ln w="12700">
            <a:solidFill>
              <a:srgbClr val="DDE5EB"/>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DDE5EB"/>
          </a:solidFill>
          <a:ln w="12700">
            <a:solidFill>
              <a:srgbClr val="DDE5EB"/>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DDE5EB"/>
          </a:solidFill>
          <a:ln w="12700">
            <a:solidFill>
              <a:srgbClr val="DDE5EB"/>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DDE5EB"/>
          </a:solidFill>
          <a:ln w="12700">
            <a:solidFill>
              <a:srgbClr val="DDE5EB"/>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6</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5486400" cy="914400"/>
        </p:xfrm>
        <a:graphic>
          <a:graphicData uri="http://schemas.openxmlformats.org/drawingml/2006/table">
            <a:tbl>
              <a:tblPr/>
              <a:tblGrid>
                <a:gridCol w="2743200"/>
                <a:gridCol w="914400"/>
                <a:gridCol w="914400"/>
                <a:gridCol w="914400"/>
              </a:tblGrid>
              <a:tr h="420624">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Kiểm tra chất lượng</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50" b="1" dirty="0">
                          <a:solidFill>
                            <a:srgbClr val="FFFFFF"/>
                          </a:solidFill>
                          <a:latin typeface="Calibri" pitchFamily="34" charset="0"/>
                          <a:ea typeface="Calibri" pitchFamily="34" charset="-122"/>
                          <a:cs typeface="Calibri" pitchFamily="34" charset="-120"/>
                        </a:rPr>
                        <a:t>Train</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50" b="1" dirty="0">
                          <a:solidFill>
                            <a:srgbClr val="FFFFFF"/>
                          </a:solidFill>
                          <a:latin typeface="Calibri" pitchFamily="34" charset="0"/>
                          <a:ea typeface="Calibri" pitchFamily="34" charset="-122"/>
                          <a:cs typeface="Calibri" pitchFamily="34" charset="-120"/>
                        </a:rPr>
                        <a:t>Val</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50" b="1" dirty="0">
                          <a:solidFill>
                            <a:srgbClr val="FFFFFF"/>
                          </a:solidFill>
                          <a:latin typeface="Calibri" pitchFamily="34" charset="0"/>
                          <a:ea typeface="Calibri" pitchFamily="34" charset="-122"/>
                          <a:cs typeface="Calibri" pitchFamily="34" charset="-120"/>
                        </a:rPr>
                        <a:t>Test</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420624">
                <a:tc>
                  <a:txBody>
                    <a:bodyPr/>
                    <a:lstStyle/>
                    <a:p>
                      <a:pPr algn="l" indent="0" marL="0">
                        <a:buNone/>
                      </a:pPr>
                      <a:r>
                        <a:rPr lang="en-US" sz="1350" dirty="0">
                          <a:solidFill>
                            <a:srgbClr val="1B2733"/>
                          </a:solidFill>
                          <a:latin typeface="Calibri" pitchFamily="34" charset="0"/>
                          <a:ea typeface="Calibri" pitchFamily="34" charset="-122"/>
                          <a:cs typeface="Calibri" pitchFamily="34" charset="-120"/>
                        </a:rPr>
                        <a:t>Câu rỗng / token rỗng</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0 / 0</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0 / 0</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0 / 0</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20624">
                <a:tc>
                  <a:txBody>
                    <a:bodyPr/>
                    <a:lstStyle/>
                    <a:p>
                      <a:pPr algn="l" indent="0" marL="0">
                        <a:buNone/>
                      </a:pPr>
                      <a:r>
                        <a:rPr lang="en-US" sz="1350" dirty="0">
                          <a:solidFill>
                            <a:srgbClr val="1B2733"/>
                          </a:solidFill>
                          <a:latin typeface="Calibri" pitchFamily="34" charset="0"/>
                          <a:ea typeface="Calibri" pitchFamily="34" charset="-122"/>
                          <a:cs typeface="Calibri" pitchFamily="34" charset="-120"/>
                        </a:rPr>
                        <a:t>Số âm tiết ≠ số nhãn</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20624">
                <a:tc>
                  <a:txBody>
                    <a:bodyPr/>
                    <a:lstStyle/>
                    <a:p>
                      <a:pPr algn="l" indent="0" marL="0">
                        <a:buNone/>
                      </a:pPr>
                      <a:r>
                        <a:rPr lang="en-US" sz="1350" dirty="0">
                          <a:solidFill>
                            <a:srgbClr val="1B2733"/>
                          </a:solidFill>
                          <a:latin typeface="Calibri" pitchFamily="34" charset="0"/>
                          <a:ea typeface="Calibri" pitchFamily="34" charset="-122"/>
                          <a:cs typeface="Calibri" pitchFamily="34" charset="-120"/>
                        </a:rPr>
                        <a:t>Token chưa chuẩn hoá NFC</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20624">
                <a:tc>
                  <a:txBody>
                    <a:bodyPr/>
                    <a:lstStyle/>
                    <a:p>
                      <a:pPr algn="l" indent="0" marL="0">
                        <a:buNone/>
                      </a:pPr>
                      <a:r>
                        <a:rPr lang="en-US" sz="1350" dirty="0">
                          <a:solidFill>
                            <a:srgbClr val="1B2733"/>
                          </a:solidFill>
                          <a:latin typeface="Calibri" pitchFamily="34" charset="0"/>
                          <a:ea typeface="Calibri" pitchFamily="34" charset="-122"/>
                          <a:cs typeface="Calibri" pitchFamily="34" charset="-120"/>
                        </a:rPr>
                        <a:t>Token có chữ hoa / chỉ dấu câu</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0 / 0</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0 / 0</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0 / 0</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20624">
                <a:tc>
                  <a:txBody>
                    <a:bodyPr/>
                    <a:lstStyle/>
                    <a:p>
                      <a:pPr algn="l" indent="0" marL="0">
                        <a:buNone/>
                      </a:pPr>
                      <a:r>
                        <a:rPr lang="en-US" sz="1350" b="1" dirty="0">
                          <a:solidFill>
                            <a:srgbClr val="1B2733"/>
                          </a:solidFill>
                          <a:latin typeface="Calibri" pitchFamily="34" charset="0"/>
                          <a:ea typeface="Calibri" pitchFamily="34" charset="-122"/>
                          <a:cs typeface="Calibri" pitchFamily="34" charset="-120"/>
                        </a:rPr>
                        <a:t>Chuỗi BIO lỗi (I- sau O)</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350" b="1" dirty="0">
                          <a:solidFill>
                            <a:srgbClr val="1B2733"/>
                          </a:solidFill>
                          <a:latin typeface="Calibri" pitchFamily="34" charset="0"/>
                          <a:ea typeface="Calibri" pitchFamily="34" charset="-122"/>
                          <a:cs typeface="Calibri" pitchFamily="34" charset="-120"/>
                        </a:rPr>
                        <a:t>16</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350" b="1" dirty="0">
                          <a:solidFill>
                            <a:srgbClr val="1B2733"/>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350" b="1" dirty="0">
                          <a:solidFill>
                            <a:srgbClr val="1B2733"/>
                          </a:solidFill>
                          <a:latin typeface="Calibri" pitchFamily="34" charset="0"/>
                          <a:ea typeface="Calibri" pitchFamily="34" charset="-122"/>
                          <a:cs typeface="Calibri" pitchFamily="34" charset="-120"/>
                        </a:rPr>
                        <a:t>7</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r>
            </a:tbl>
          </a:graphicData>
        </a:graphic>
      </p:graphicFrame>
      <p:sp>
        <p:nvSpPr>
          <p:cNvPr id="17" name="Text 14"/>
          <p:cNvSpPr txBox="1"/>
          <p:nvPr/>
        </p:nvSpPr>
        <p:spPr>
          <a:xfrm>
            <a:off x="548640" y="3977640"/>
            <a:ext cx="5486400" cy="731520"/>
          </a:xfrm>
          <a:prstGeom prst="rect">
            <a:avLst/>
          </a:prstGeom>
          <a:noFill/>
          <a:ln/>
        </p:spPr>
        <p:txBody>
          <a:bodyPr wrap="square" lIns="0" tIns="0" rIns="0" bIns="0" rtlCol="0" anchor="t"/>
          <a:lstStyle/>
          <a:p>
            <a:pPr algn="l" indent="0" marL="0">
              <a:buNone/>
            </a:pPr>
            <a:r>
              <a:rPr lang="en-US" sz="1300" i="1" dirty="0">
                <a:solidFill>
                  <a:srgbClr val="5B6B7A"/>
                </a:solidFill>
                <a:latin typeface="Calibri" pitchFamily="34" charset="0"/>
                <a:ea typeface="Calibri" pitchFamily="34" charset="-122"/>
                <a:cs typeface="Calibri" pitchFamily="34" charset="-120"/>
              </a:rPr>
              <a:t>Không có giá trị thiếu, dữ liệu đã viết thường và chuẩn NFC. 23 chuỗi BIO lỗi (&lt; 0,02% token) được giữ nguyên để không đổi tập đánh giá.</a:t>
            </a:r>
            <a:endParaRPr lang="en-US" sz="1300" dirty="0"/>
          </a:p>
        </p:txBody>
      </p:sp>
      <p:sp>
        <p:nvSpPr>
          <p:cNvPr id="18" name="Shape 15"/>
          <p:cNvSpPr/>
          <p:nvPr/>
        </p:nvSpPr>
        <p:spPr>
          <a:xfrm>
            <a:off x="548640" y="4846320"/>
            <a:ext cx="5486400" cy="1463040"/>
          </a:xfrm>
          <a:prstGeom prst="roundRect">
            <a:avLst>
              <a:gd name="adj" fmla="val 5000"/>
            </a:avLst>
          </a:prstGeom>
          <a:solidFill>
            <a:srgbClr val="FBF1DF"/>
          </a:solidFill>
          <a:ln w="12700">
            <a:solidFill>
              <a:srgbClr val="FBF1DF"/>
            </a:solidFill>
            <a:prstDash val="solid"/>
          </a:ln>
        </p:spPr>
      </p:sp>
      <p:sp>
        <p:nvSpPr>
          <p:cNvPr id="19" name="Text 16"/>
          <p:cNvSpPr txBox="1"/>
          <p:nvPr/>
        </p:nvSpPr>
        <p:spPr>
          <a:xfrm>
            <a:off x="749808" y="4937760"/>
            <a:ext cx="5120640" cy="365760"/>
          </a:xfrm>
          <a:prstGeom prst="rect">
            <a:avLst/>
          </a:prstGeom>
          <a:noFill/>
          <a:ln/>
        </p:spPr>
        <p:txBody>
          <a:bodyPr wrap="square" lIns="0" tIns="0" rIns="0" bIns="0" rtlCol="0" anchor="ctr"/>
          <a:lstStyle/>
          <a:p>
            <a:pPr indent="0" marL="0">
              <a:buNone/>
            </a:pPr>
            <a:r>
              <a:rPr lang="en-US" sz="1600" b="1" dirty="0">
                <a:solidFill>
                  <a:srgbClr val="0F2A3D"/>
                </a:solidFill>
                <a:latin typeface="Cambria" pitchFamily="34" charset="0"/>
                <a:ea typeface="Cambria" pitchFamily="34" charset="-122"/>
                <a:cs typeface="Cambria" pitchFamily="34" charset="-120"/>
              </a:rPr>
              <a:t>Luật chơi công bằng</a:t>
            </a:r>
            <a:endParaRPr lang="en-US" sz="1600" dirty="0"/>
          </a:p>
        </p:txBody>
      </p:sp>
      <p:sp>
        <p:nvSpPr>
          <p:cNvPr id="20" name="Text 17"/>
          <p:cNvSpPr txBox="1"/>
          <p:nvPr/>
        </p:nvSpPr>
        <p:spPr>
          <a:xfrm>
            <a:off x="749808" y="5303520"/>
            <a:ext cx="5120640" cy="96012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Siêu tham số và seed chọn </a:t>
            </a:r>
            <a:r>
              <a:rPr lang="en-US" sz="1350" b="1" dirty="0">
                <a:solidFill>
                  <a:srgbClr val="1B2733"/>
                </a:solidFill>
                <a:latin typeface="Calibri" pitchFamily="34" charset="0"/>
                <a:ea typeface="Calibri" pitchFamily="34" charset="-122"/>
                <a:cs typeface="Calibri" pitchFamily="34" charset="-120"/>
              </a:rPr>
              <a:t>chỉ theo validation</a:t>
            </a:r>
            <a:r>
              <a:rPr lang="en-US" sz="1350" dirty="0">
                <a:solidFill>
                  <a:srgbClr val="1B2733"/>
                </a:solidFill>
                <a:latin typeface="Calibri" pitchFamily="34" charset="0"/>
                <a:ea typeface="Calibri" pitchFamily="34" charset="-122"/>
                <a:cs typeface="Calibri" pitchFamily="34" charset="-120"/>
              </a:rPr>
              <a:t>; test dùng 1 lần</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Cùng thước đo: </a:t>
            </a:r>
            <a:r>
              <a:rPr lang="en-US" sz="1350" b="1" dirty="0">
                <a:solidFill>
                  <a:srgbClr val="1B2733"/>
                </a:solidFill>
                <a:latin typeface="Calibri" pitchFamily="34" charset="0"/>
                <a:ea typeface="Calibri" pitchFamily="34" charset="-122"/>
                <a:cs typeface="Calibri" pitchFamily="34" charset="-120"/>
              </a:rPr>
              <a:t>F1 thực thể seqeval strict</a:t>
            </a:r>
            <a:r>
              <a:rPr lang="en-US" sz="1350" dirty="0">
                <a:solidFill>
                  <a:srgbClr val="1B2733"/>
                </a:solidFill>
                <a:latin typeface="Calibri" pitchFamily="34" charset="0"/>
                <a:ea typeface="Calibri" pitchFamily="34" charset="-122"/>
                <a:cs typeface="Calibri" pitchFamily="34" charset="-120"/>
              </a:rPr>
              <a:t> + paired bootstrap</a:t>
            </a:r>
            <a:endParaRPr lang="en-US" sz="1350" dirty="0"/>
          </a:p>
        </p:txBody>
      </p:sp>
      <p:sp>
        <p:nvSpPr>
          <p:cNvPr id="21" name="Shape 18"/>
          <p:cNvSpPr/>
          <p:nvPr/>
        </p:nvSpPr>
        <p:spPr>
          <a:xfrm>
            <a:off x="6355080" y="1234440"/>
            <a:ext cx="5303520" cy="1508760"/>
          </a:xfrm>
          <a:prstGeom prst="roundRect">
            <a:avLst>
              <a:gd name="adj" fmla="val 4848"/>
            </a:avLst>
          </a:prstGeom>
          <a:solidFill>
            <a:srgbClr val="EEF4F7"/>
          </a:solidFill>
          <a:ln w="12700">
            <a:solidFill>
              <a:srgbClr val="EEF4F7"/>
            </a:solidFill>
            <a:prstDash val="solid"/>
          </a:ln>
        </p:spPr>
      </p:sp>
      <p:sp>
        <p:nvSpPr>
          <p:cNvPr id="22" name="Text 19"/>
          <p:cNvSpPr txBox="1"/>
          <p:nvPr/>
        </p:nvSpPr>
        <p:spPr>
          <a:xfrm>
            <a:off x="6556248" y="1344168"/>
            <a:ext cx="4937760" cy="365760"/>
          </a:xfrm>
          <a:prstGeom prst="rect">
            <a:avLst/>
          </a:prstGeom>
          <a:noFill/>
          <a:ln/>
        </p:spPr>
        <p:txBody>
          <a:bodyPr wrap="square" lIns="0" tIns="0" rIns="0" bIns="0" rtlCol="0" anchor="ctr"/>
          <a:lstStyle/>
          <a:p>
            <a:pPr indent="0" marL="0">
              <a:buNone/>
            </a:pPr>
            <a:r>
              <a:rPr lang="en-US" sz="1600" b="1" dirty="0">
                <a:solidFill>
                  <a:srgbClr val="0F2A3D"/>
                </a:solidFill>
                <a:latin typeface="Cambria" pitchFamily="34" charset="0"/>
                <a:ea typeface="Cambria" pitchFamily="34" charset="-122"/>
                <a:cs typeface="Cambria" pitchFamily="34" charset="-120"/>
              </a:rPr>
              <a:t>Nhãn</a:t>
            </a:r>
            <a:endParaRPr lang="en-US" sz="1600" dirty="0"/>
          </a:p>
        </p:txBody>
      </p:sp>
      <p:sp>
        <p:nvSpPr>
          <p:cNvPr id="23" name="Text 20"/>
          <p:cNvSpPr txBox="1"/>
          <p:nvPr/>
        </p:nvSpPr>
        <p:spPr>
          <a:xfrm>
            <a:off x="6556248" y="1764792"/>
            <a:ext cx="4937760" cy="914400"/>
          </a:xfrm>
          <a:prstGeom prst="rect">
            <a:avLst/>
          </a:prstGeom>
          <a:noFill/>
          <a:ln/>
        </p:spPr>
        <p:txBody>
          <a:bodyPr wrap="square" lIns="0" tIns="0" rIns="0" bIns="0" rtlCol="0" anchor="t"/>
          <a:lstStyle/>
          <a:p>
            <a:pPr algn="l" indent="0" marL="0">
              <a:buNone/>
            </a:pPr>
            <a:r>
              <a:rPr lang="en-US" sz="1400" dirty="0">
                <a:solidFill>
                  <a:srgbClr val="1B2733"/>
                </a:solidFill>
                <a:latin typeface="Calibri" pitchFamily="34" charset="0"/>
                <a:ea typeface="Calibri" pitchFamily="34" charset="-122"/>
                <a:cs typeface="Calibri" pitchFamily="34" charset="-120"/>
              </a:rPr>
              <a:t>37 nhãn BIO → label2id chỉ từ train; nhãn "0" đổi thành O</a:t>
            </a:r>
            <a:endParaRPr lang="en-US" sz="1400" dirty="0"/>
          </a:p>
        </p:txBody>
      </p:sp>
      <p:sp>
        <p:nvSpPr>
          <p:cNvPr id="24" name="Shape 21"/>
          <p:cNvSpPr/>
          <p:nvPr/>
        </p:nvSpPr>
        <p:spPr>
          <a:xfrm>
            <a:off x="6355080" y="2926080"/>
            <a:ext cx="5303520" cy="1508760"/>
          </a:xfrm>
          <a:prstGeom prst="roundRect">
            <a:avLst>
              <a:gd name="adj" fmla="val 4848"/>
            </a:avLst>
          </a:prstGeom>
          <a:solidFill>
            <a:srgbClr val="EEF4F7"/>
          </a:solidFill>
          <a:ln w="12700">
            <a:solidFill>
              <a:srgbClr val="EEF4F7"/>
            </a:solidFill>
            <a:prstDash val="solid"/>
          </a:ln>
        </p:spPr>
      </p:sp>
      <p:sp>
        <p:nvSpPr>
          <p:cNvPr id="25" name="Text 22"/>
          <p:cNvSpPr txBox="1"/>
          <p:nvPr/>
        </p:nvSpPr>
        <p:spPr>
          <a:xfrm>
            <a:off x="6556248" y="3035808"/>
            <a:ext cx="4937760" cy="365760"/>
          </a:xfrm>
          <a:prstGeom prst="rect">
            <a:avLst/>
          </a:prstGeom>
          <a:noFill/>
          <a:ln/>
        </p:spPr>
        <p:txBody>
          <a:bodyPr wrap="square" lIns="0" tIns="0" rIns="0" bIns="0" rtlCol="0" anchor="ctr"/>
          <a:lstStyle/>
          <a:p>
            <a:pPr indent="0" marL="0">
              <a:buNone/>
            </a:pPr>
            <a:r>
              <a:rPr lang="en-US" sz="1600" b="1" dirty="0">
                <a:solidFill>
                  <a:srgbClr val="0F2A3D"/>
                </a:solidFill>
                <a:latin typeface="Cambria" pitchFamily="34" charset="0"/>
                <a:ea typeface="Cambria" pitchFamily="34" charset="-122"/>
                <a:cs typeface="Cambria" pitchFamily="34" charset="-120"/>
              </a:rPr>
              <a:t>Bậc 1–3 (cổ điển)</a:t>
            </a:r>
            <a:endParaRPr lang="en-US" sz="1600" dirty="0"/>
          </a:p>
        </p:txBody>
      </p:sp>
      <p:sp>
        <p:nvSpPr>
          <p:cNvPr id="26" name="Text 23"/>
          <p:cNvSpPr txBox="1"/>
          <p:nvPr/>
        </p:nvSpPr>
        <p:spPr>
          <a:xfrm>
            <a:off x="6556248" y="3456432"/>
            <a:ext cx="4937760" cy="914400"/>
          </a:xfrm>
          <a:prstGeom prst="rect">
            <a:avLst/>
          </a:prstGeom>
          <a:noFill/>
          <a:ln/>
        </p:spPr>
        <p:txBody>
          <a:bodyPr wrap="square" lIns="0" tIns="0" rIns="0" bIns="0" rtlCol="0" anchor="t"/>
          <a:lstStyle/>
          <a:p>
            <a:pPr algn="l" indent="0" marL="0">
              <a:buNone/>
            </a:pPr>
            <a:r>
              <a:rPr lang="en-US" sz="1400" dirty="0">
                <a:solidFill>
                  <a:srgbClr val="1B2733"/>
                </a:solidFill>
                <a:latin typeface="Calibri" pitchFamily="34" charset="0"/>
                <a:ea typeface="Calibri" pitchFamily="34" charset="-122"/>
                <a:cs typeface="Calibri" pitchFamily="34" charset="-120"/>
              </a:rPr>
              <a:t>Đặc trưng thủ công: âm tiết, tiền/hậu tố, cửa sổ ±2, bigram → DictVectorizer 77.424 chiều</a:t>
            </a:r>
            <a:endParaRPr lang="en-US" sz="1400" dirty="0"/>
          </a:p>
        </p:txBody>
      </p:sp>
      <p:sp>
        <p:nvSpPr>
          <p:cNvPr id="27" name="Shape 24"/>
          <p:cNvSpPr/>
          <p:nvPr/>
        </p:nvSpPr>
        <p:spPr>
          <a:xfrm>
            <a:off x="6355080" y="4617720"/>
            <a:ext cx="5303520" cy="1508760"/>
          </a:xfrm>
          <a:prstGeom prst="roundRect">
            <a:avLst>
              <a:gd name="adj" fmla="val 4848"/>
            </a:avLst>
          </a:prstGeom>
          <a:solidFill>
            <a:srgbClr val="EEF4F7"/>
          </a:solidFill>
          <a:ln w="12700">
            <a:solidFill>
              <a:srgbClr val="EEF4F7"/>
            </a:solidFill>
            <a:prstDash val="solid"/>
          </a:ln>
        </p:spPr>
      </p:sp>
      <p:sp>
        <p:nvSpPr>
          <p:cNvPr id="28" name="Text 25"/>
          <p:cNvSpPr txBox="1"/>
          <p:nvPr/>
        </p:nvSpPr>
        <p:spPr>
          <a:xfrm>
            <a:off x="6556248" y="4727448"/>
            <a:ext cx="4937760" cy="365760"/>
          </a:xfrm>
          <a:prstGeom prst="rect">
            <a:avLst/>
          </a:prstGeom>
          <a:noFill/>
          <a:ln/>
        </p:spPr>
        <p:txBody>
          <a:bodyPr wrap="square" lIns="0" tIns="0" rIns="0" bIns="0" rtlCol="0" anchor="ctr"/>
          <a:lstStyle/>
          <a:p>
            <a:pPr indent="0" marL="0">
              <a:buNone/>
            </a:pPr>
            <a:r>
              <a:rPr lang="en-US" sz="1600" b="1" dirty="0">
                <a:solidFill>
                  <a:srgbClr val="2A9D8F"/>
                </a:solidFill>
                <a:latin typeface="Cambria" pitchFamily="34" charset="0"/>
                <a:ea typeface="Cambria" pitchFamily="34" charset="-122"/>
                <a:cs typeface="Cambria" pitchFamily="34" charset="-120"/>
              </a:rPr>
              <a:t>Bậc 4–6 (Transformer)</a:t>
            </a:r>
            <a:endParaRPr lang="en-US" sz="1600" dirty="0"/>
          </a:p>
        </p:txBody>
      </p:sp>
      <p:sp>
        <p:nvSpPr>
          <p:cNvPr id="29" name="Text 26"/>
          <p:cNvSpPr txBox="1"/>
          <p:nvPr/>
        </p:nvSpPr>
        <p:spPr>
          <a:xfrm>
            <a:off x="6556248" y="5148072"/>
            <a:ext cx="4937760" cy="914400"/>
          </a:xfrm>
          <a:prstGeom prst="rect">
            <a:avLst/>
          </a:prstGeom>
          <a:noFill/>
          <a:ln/>
        </p:spPr>
        <p:txBody>
          <a:bodyPr wrap="square" lIns="0" tIns="0" rIns="0" bIns="0" rtlCol="0" anchor="t"/>
          <a:lstStyle/>
          <a:p>
            <a:pPr algn="l" indent="0" marL="0">
              <a:buNone/>
            </a:pPr>
            <a:r>
              <a:rPr lang="en-US" sz="1400" dirty="0">
                <a:solidFill>
                  <a:srgbClr val="1B2733"/>
                </a:solidFill>
                <a:latin typeface="Calibri" pitchFamily="34" charset="0"/>
                <a:ea typeface="Calibri" pitchFamily="34" charset="-122"/>
                <a:cs typeface="Calibri" pitchFamily="34" charset="-120"/>
              </a:rPr>
              <a:t>Âm tiết → subword; nhãn gán cho subword đầu, còn lại -100; tối đa 256 subword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Cách leo: mỗi bậc đổi đúng một yếu tố</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5 / 18</a:t>
            </a:r>
            <a:endParaRPr lang="en-US" sz="1000" dirty="0"/>
          </a:p>
        </p:txBody>
      </p:sp>
      <p:sp>
        <p:nvSpPr>
          <p:cNvPr id="4" name="Shape 2"/>
          <p:cNvSpPr/>
          <p:nvPr/>
        </p:nvSpPr>
        <p:spPr>
          <a:xfrm>
            <a:off x="8366760" y="868680"/>
            <a:ext cx="548640" cy="182880"/>
          </a:xfrm>
          <a:prstGeom prst="rect">
            <a:avLst/>
          </a:prstGeom>
          <a:solidFill>
            <a:srgbClr val="DDE5EB"/>
          </a:solidFill>
          <a:ln w="12700">
            <a:solidFill>
              <a:srgbClr val="DDE5EB"/>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DDE5EB"/>
          </a:solidFill>
          <a:ln w="12700">
            <a:solidFill>
              <a:srgbClr val="DDE5EB"/>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DDE5EB"/>
          </a:solidFill>
          <a:ln w="12700">
            <a:solidFill>
              <a:srgbClr val="DDE5EB"/>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DDE5EB"/>
          </a:solidFill>
          <a:ln w="12700">
            <a:solidFill>
              <a:srgbClr val="DDE5EB"/>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DDE5EB"/>
          </a:solidFill>
          <a:ln w="12700">
            <a:solidFill>
              <a:srgbClr val="DDE5EB"/>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DDE5EB"/>
          </a:solidFill>
          <a:ln w="12700">
            <a:solidFill>
              <a:srgbClr val="DDE5EB"/>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6</a:t>
            </a:r>
            <a:endParaRPr lang="en-US" sz="1000" dirty="0"/>
          </a:p>
        </p:txBody>
      </p:sp>
      <p:sp>
        <p:nvSpPr>
          <p:cNvPr id="16" name="Shape 14"/>
          <p:cNvSpPr/>
          <p:nvPr/>
        </p:nvSpPr>
        <p:spPr>
          <a:xfrm>
            <a:off x="548640" y="4663440"/>
            <a:ext cx="1773936" cy="1600200"/>
          </a:xfrm>
          <a:prstGeom prst="rect">
            <a:avLst/>
          </a:prstGeom>
          <a:solidFill>
            <a:srgbClr val="17384F"/>
          </a:solidFill>
          <a:ln w="12700">
            <a:solidFill>
              <a:srgbClr val="17384F"/>
            </a:solidFill>
            <a:prstDash val="solid"/>
          </a:ln>
        </p:spPr>
      </p:sp>
      <p:sp>
        <p:nvSpPr>
          <p:cNvPr id="17" name="Text 15"/>
          <p:cNvSpPr txBox="1"/>
          <p:nvPr/>
        </p:nvSpPr>
        <p:spPr>
          <a:xfrm>
            <a:off x="658368" y="4736592"/>
            <a:ext cx="45720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8" name="Text 16"/>
          <p:cNvSpPr txBox="1"/>
          <p:nvPr/>
        </p:nvSpPr>
        <p:spPr>
          <a:xfrm>
            <a:off x="658368" y="5120640"/>
            <a:ext cx="1572768" cy="41148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Logistic Regression</a:t>
            </a:r>
            <a:endParaRPr lang="en-US" sz="1400" dirty="0"/>
          </a:p>
        </p:txBody>
      </p:sp>
      <p:sp>
        <p:nvSpPr>
          <p:cNvPr id="19" name="Text 17"/>
          <p:cNvSpPr txBox="1"/>
          <p:nvPr/>
        </p:nvSpPr>
        <p:spPr>
          <a:xfrm>
            <a:off x="658368" y="5532120"/>
            <a:ext cx="1572768" cy="685800"/>
          </a:xfrm>
          <a:prstGeom prst="rect">
            <a:avLst/>
          </a:prstGeom>
          <a:noFill/>
          <a:ln/>
        </p:spPr>
        <p:txBody>
          <a:bodyPr wrap="square" lIns="0" tIns="0" rIns="0" bIns="0" rtlCol="0" anchor="t"/>
          <a:lstStyle/>
          <a:p>
            <a:pPr indent="0" marL="0">
              <a:buNone/>
            </a:pPr>
            <a:r>
              <a:rPr lang="en-US" sz="1050" dirty="0">
                <a:solidFill>
                  <a:srgbClr val="E8F0F4"/>
                </a:solidFill>
                <a:latin typeface="Calibri" pitchFamily="34" charset="0"/>
                <a:ea typeface="Calibri" pitchFamily="34" charset="-122"/>
                <a:cs typeface="Calibri" pitchFamily="34" charset="-120"/>
              </a:rPr>
              <a:t>Mốc xuất phát</a:t>
            </a:r>
            <a:endParaRPr lang="en-US" sz="1050" dirty="0"/>
          </a:p>
        </p:txBody>
      </p:sp>
      <p:sp>
        <p:nvSpPr>
          <p:cNvPr id="20" name="Text 18"/>
          <p:cNvSpPr txBox="1"/>
          <p:nvPr/>
        </p:nvSpPr>
        <p:spPr>
          <a:xfrm>
            <a:off x="594360" y="3749040"/>
            <a:ext cx="1682496" cy="822960"/>
          </a:xfrm>
          <a:prstGeom prst="rect">
            <a:avLst/>
          </a:prstGeom>
          <a:noFill/>
          <a:ln/>
        </p:spPr>
        <p:txBody>
          <a:bodyPr wrap="square" lIns="0" tIns="0" rIns="0" bIns="0" rtlCol="0" anchor="b"/>
          <a:lstStyle/>
          <a:p>
            <a:pPr indent="0" marL="0">
              <a:buNone/>
            </a:pPr>
            <a:r>
              <a:rPr lang="en-US" sz="1150" i="1" dirty="0">
                <a:solidFill>
                  <a:srgbClr val="1B2733"/>
                </a:solidFill>
                <a:latin typeface="Calibri" pitchFamily="34" charset="0"/>
                <a:ea typeface="Calibri" pitchFamily="34" charset="-122"/>
                <a:cs typeface="Calibri" pitchFamily="34" charset="-120"/>
              </a:rPr>
              <a:t>Phân loại từng âm tiết độc lập làm được đến đâu?</a:t>
            </a:r>
            <a:endParaRPr lang="en-US" sz="1150" dirty="0"/>
          </a:p>
        </p:txBody>
      </p:sp>
      <p:sp>
        <p:nvSpPr>
          <p:cNvPr id="21" name="Shape 19"/>
          <p:cNvSpPr/>
          <p:nvPr/>
        </p:nvSpPr>
        <p:spPr>
          <a:xfrm>
            <a:off x="2414016" y="4206240"/>
            <a:ext cx="1773936" cy="2057400"/>
          </a:xfrm>
          <a:prstGeom prst="rect">
            <a:avLst/>
          </a:prstGeom>
          <a:solidFill>
            <a:srgbClr val="17384F"/>
          </a:solidFill>
          <a:ln w="12700">
            <a:solidFill>
              <a:srgbClr val="17384F"/>
            </a:solidFill>
            <a:prstDash val="solid"/>
          </a:ln>
        </p:spPr>
      </p:sp>
      <p:sp>
        <p:nvSpPr>
          <p:cNvPr id="22" name="Text 20"/>
          <p:cNvSpPr txBox="1"/>
          <p:nvPr/>
        </p:nvSpPr>
        <p:spPr>
          <a:xfrm>
            <a:off x="2523744" y="4279392"/>
            <a:ext cx="45720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23" name="Text 21"/>
          <p:cNvSpPr txBox="1"/>
          <p:nvPr/>
        </p:nvSpPr>
        <p:spPr>
          <a:xfrm>
            <a:off x="2523744" y="4663440"/>
            <a:ext cx="1572768" cy="41148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Linear SVM</a:t>
            </a:r>
            <a:endParaRPr lang="en-US" sz="1400" dirty="0"/>
          </a:p>
        </p:txBody>
      </p:sp>
      <p:sp>
        <p:nvSpPr>
          <p:cNvPr id="24" name="Text 22"/>
          <p:cNvSpPr txBox="1"/>
          <p:nvPr/>
        </p:nvSpPr>
        <p:spPr>
          <a:xfrm>
            <a:off x="2523744" y="5074920"/>
            <a:ext cx="1572768" cy="685800"/>
          </a:xfrm>
          <a:prstGeom prst="rect">
            <a:avLst/>
          </a:prstGeom>
          <a:noFill/>
          <a:ln/>
        </p:spPr>
        <p:txBody>
          <a:bodyPr wrap="square" lIns="0" tIns="0" rIns="0" bIns="0" rtlCol="0" anchor="t"/>
          <a:lstStyle/>
          <a:p>
            <a:pPr indent="0" marL="0">
              <a:buNone/>
            </a:pPr>
            <a:r>
              <a:rPr lang="en-US" sz="1050" dirty="0">
                <a:solidFill>
                  <a:srgbClr val="E8F0F4"/>
                </a:solidFill>
                <a:latin typeface="Calibri" pitchFamily="34" charset="0"/>
                <a:ea typeface="Calibri" pitchFamily="34" charset="-122"/>
                <a:cs typeface="Calibri" pitchFamily="34" charset="-120"/>
              </a:rPr>
              <a:t>Hàm mất mát: log-loss → hinge</a:t>
            </a:r>
            <a:endParaRPr lang="en-US" sz="1050" dirty="0"/>
          </a:p>
        </p:txBody>
      </p:sp>
      <p:sp>
        <p:nvSpPr>
          <p:cNvPr id="25" name="Text 23"/>
          <p:cNvSpPr txBox="1"/>
          <p:nvPr/>
        </p:nvSpPr>
        <p:spPr>
          <a:xfrm>
            <a:off x="2459736" y="3291840"/>
            <a:ext cx="1682496" cy="822960"/>
          </a:xfrm>
          <a:prstGeom prst="rect">
            <a:avLst/>
          </a:prstGeom>
          <a:noFill/>
          <a:ln/>
        </p:spPr>
        <p:txBody>
          <a:bodyPr wrap="square" lIns="0" tIns="0" rIns="0" bIns="0" rtlCol="0" anchor="b"/>
          <a:lstStyle/>
          <a:p>
            <a:pPr indent="0" marL="0">
              <a:buNone/>
            </a:pPr>
            <a:r>
              <a:rPr lang="en-US" sz="1150" i="1" dirty="0">
                <a:solidFill>
                  <a:srgbClr val="1B2733"/>
                </a:solidFill>
                <a:latin typeface="Calibri" pitchFamily="34" charset="0"/>
                <a:ea typeface="Calibri" pitchFamily="34" charset="-122"/>
                <a:cs typeface="Calibri" pitchFamily="34" charset="-120"/>
              </a:rPr>
              <a:t>Đổi thuật toán phân loại có đủ không?</a:t>
            </a:r>
            <a:endParaRPr lang="en-US" sz="1150" dirty="0"/>
          </a:p>
        </p:txBody>
      </p:sp>
      <p:sp>
        <p:nvSpPr>
          <p:cNvPr id="26" name="Shape 24"/>
          <p:cNvSpPr/>
          <p:nvPr/>
        </p:nvSpPr>
        <p:spPr>
          <a:xfrm>
            <a:off x="4279392" y="3749040"/>
            <a:ext cx="1773936" cy="2514600"/>
          </a:xfrm>
          <a:prstGeom prst="rect">
            <a:avLst/>
          </a:prstGeom>
          <a:solidFill>
            <a:srgbClr val="17384F"/>
          </a:solidFill>
          <a:ln w="12700">
            <a:solidFill>
              <a:srgbClr val="17384F"/>
            </a:solidFill>
            <a:prstDash val="solid"/>
          </a:ln>
        </p:spPr>
      </p:sp>
      <p:sp>
        <p:nvSpPr>
          <p:cNvPr id="27" name="Text 25"/>
          <p:cNvSpPr txBox="1"/>
          <p:nvPr/>
        </p:nvSpPr>
        <p:spPr>
          <a:xfrm>
            <a:off x="4389120" y="3822192"/>
            <a:ext cx="45720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8" name="Text 26"/>
          <p:cNvSpPr txBox="1"/>
          <p:nvPr/>
        </p:nvSpPr>
        <p:spPr>
          <a:xfrm>
            <a:off x="4389120" y="4206240"/>
            <a:ext cx="1572768" cy="41148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CRF</a:t>
            </a:r>
            <a:endParaRPr lang="en-US" sz="1400" dirty="0"/>
          </a:p>
        </p:txBody>
      </p:sp>
      <p:sp>
        <p:nvSpPr>
          <p:cNvPr id="29" name="Text 27"/>
          <p:cNvSpPr txBox="1"/>
          <p:nvPr/>
        </p:nvSpPr>
        <p:spPr>
          <a:xfrm>
            <a:off x="4389120" y="4617720"/>
            <a:ext cx="1572768" cy="685800"/>
          </a:xfrm>
          <a:prstGeom prst="rect">
            <a:avLst/>
          </a:prstGeom>
          <a:noFill/>
          <a:ln/>
        </p:spPr>
        <p:txBody>
          <a:bodyPr wrap="square" lIns="0" tIns="0" rIns="0" bIns="0" rtlCol="0" anchor="t"/>
          <a:lstStyle/>
          <a:p>
            <a:pPr indent="0" marL="0">
              <a:buNone/>
            </a:pPr>
            <a:r>
              <a:rPr lang="en-US" sz="1050" dirty="0">
                <a:solidFill>
                  <a:srgbClr val="E8F0F4"/>
                </a:solidFill>
                <a:latin typeface="Calibri" pitchFamily="34" charset="0"/>
                <a:ea typeface="Calibri" pitchFamily="34" charset="-122"/>
                <a:cs typeface="Calibri" pitchFamily="34" charset="-120"/>
              </a:rPr>
              <a:t>Thêm quan hệ giữa các nhãn liền kề</a:t>
            </a:r>
            <a:endParaRPr lang="en-US" sz="1050" dirty="0"/>
          </a:p>
        </p:txBody>
      </p:sp>
      <p:sp>
        <p:nvSpPr>
          <p:cNvPr id="30" name="Text 28"/>
          <p:cNvSpPr txBox="1"/>
          <p:nvPr/>
        </p:nvSpPr>
        <p:spPr>
          <a:xfrm>
            <a:off x="4325112" y="2834640"/>
            <a:ext cx="1682496" cy="822960"/>
          </a:xfrm>
          <a:prstGeom prst="rect">
            <a:avLst/>
          </a:prstGeom>
          <a:noFill/>
          <a:ln/>
        </p:spPr>
        <p:txBody>
          <a:bodyPr wrap="square" lIns="0" tIns="0" rIns="0" bIns="0" rtlCol="0" anchor="b"/>
          <a:lstStyle/>
          <a:p>
            <a:pPr indent="0" marL="0">
              <a:buNone/>
            </a:pPr>
            <a:r>
              <a:rPr lang="en-US" sz="1150" i="1" dirty="0">
                <a:solidFill>
                  <a:srgbClr val="1B2733"/>
                </a:solidFill>
                <a:latin typeface="Calibri" pitchFamily="34" charset="0"/>
                <a:ea typeface="Calibri" pitchFamily="34" charset="-122"/>
                <a:cs typeface="Calibri" pitchFamily="34" charset="-120"/>
              </a:rPr>
              <a:t>Mô hình hoá chuỗi có đáng không?</a:t>
            </a:r>
            <a:endParaRPr lang="en-US" sz="1150" dirty="0"/>
          </a:p>
        </p:txBody>
      </p:sp>
      <p:sp>
        <p:nvSpPr>
          <p:cNvPr id="31" name="Shape 29"/>
          <p:cNvSpPr/>
          <p:nvPr/>
        </p:nvSpPr>
        <p:spPr>
          <a:xfrm>
            <a:off x="6144768" y="3291840"/>
            <a:ext cx="1773936" cy="2971800"/>
          </a:xfrm>
          <a:prstGeom prst="rect">
            <a:avLst/>
          </a:prstGeom>
          <a:solidFill>
            <a:srgbClr val="2A9D8F"/>
          </a:solidFill>
          <a:ln w="12700">
            <a:solidFill>
              <a:srgbClr val="2A9D8F"/>
            </a:solidFill>
            <a:prstDash val="solid"/>
          </a:ln>
        </p:spPr>
      </p:sp>
      <p:sp>
        <p:nvSpPr>
          <p:cNvPr id="32" name="Text 30"/>
          <p:cNvSpPr txBox="1"/>
          <p:nvPr/>
        </p:nvSpPr>
        <p:spPr>
          <a:xfrm>
            <a:off x="6254496" y="3364992"/>
            <a:ext cx="45720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33" name="Text 31"/>
          <p:cNvSpPr txBox="1"/>
          <p:nvPr/>
        </p:nvSpPr>
        <p:spPr>
          <a:xfrm>
            <a:off x="6254496" y="3749040"/>
            <a:ext cx="1572768" cy="41148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XLM-R</a:t>
            </a:r>
            <a:endParaRPr lang="en-US" sz="1400" dirty="0"/>
          </a:p>
        </p:txBody>
      </p:sp>
      <p:sp>
        <p:nvSpPr>
          <p:cNvPr id="34" name="Text 32"/>
          <p:cNvSpPr txBox="1"/>
          <p:nvPr/>
        </p:nvSpPr>
        <p:spPr>
          <a:xfrm>
            <a:off x="6254496" y="4160520"/>
            <a:ext cx="1572768" cy="685800"/>
          </a:xfrm>
          <a:prstGeom prst="rect">
            <a:avLst/>
          </a:prstGeom>
          <a:noFill/>
          <a:ln/>
        </p:spPr>
        <p:txBody>
          <a:bodyPr wrap="square" lIns="0" tIns="0" rIns="0" bIns="0" rtlCol="0" anchor="t"/>
          <a:lstStyle/>
          <a:p>
            <a:pPr indent="0" marL="0">
              <a:buNone/>
            </a:pPr>
            <a:r>
              <a:rPr lang="en-US" sz="1050" dirty="0">
                <a:solidFill>
                  <a:srgbClr val="E8F0F4"/>
                </a:solidFill>
                <a:latin typeface="Calibri" pitchFamily="34" charset="0"/>
                <a:ea typeface="Calibri" pitchFamily="34" charset="-122"/>
                <a:cs typeface="Calibri" pitchFamily="34" charset="-120"/>
              </a:rPr>
              <a:t>Đặc trưng thủ công → biểu diễn học từ pretraining</a:t>
            </a:r>
            <a:endParaRPr lang="en-US" sz="1050" dirty="0"/>
          </a:p>
        </p:txBody>
      </p:sp>
      <p:sp>
        <p:nvSpPr>
          <p:cNvPr id="35" name="Text 33"/>
          <p:cNvSpPr txBox="1"/>
          <p:nvPr/>
        </p:nvSpPr>
        <p:spPr>
          <a:xfrm>
            <a:off x="6190488" y="2377440"/>
            <a:ext cx="1682496" cy="822960"/>
          </a:xfrm>
          <a:prstGeom prst="rect">
            <a:avLst/>
          </a:prstGeom>
          <a:noFill/>
          <a:ln/>
        </p:spPr>
        <p:txBody>
          <a:bodyPr wrap="square" lIns="0" tIns="0" rIns="0" bIns="0" rtlCol="0" anchor="b"/>
          <a:lstStyle/>
          <a:p>
            <a:pPr indent="0" marL="0">
              <a:buNone/>
            </a:pPr>
            <a:r>
              <a:rPr lang="en-US" sz="1150" i="1" dirty="0">
                <a:solidFill>
                  <a:srgbClr val="1B2733"/>
                </a:solidFill>
                <a:latin typeface="Calibri" pitchFamily="34" charset="0"/>
                <a:ea typeface="Calibri" pitchFamily="34" charset="-122"/>
                <a:cs typeface="Calibri" pitchFamily="34" charset="-120"/>
              </a:rPr>
              <a:t>Tri thức ngôn ngữ có giúp nhận ra thực thể mới?</a:t>
            </a:r>
            <a:endParaRPr lang="en-US" sz="1150" dirty="0"/>
          </a:p>
        </p:txBody>
      </p:sp>
      <p:sp>
        <p:nvSpPr>
          <p:cNvPr id="36" name="Shape 34"/>
          <p:cNvSpPr/>
          <p:nvPr/>
        </p:nvSpPr>
        <p:spPr>
          <a:xfrm>
            <a:off x="8010144" y="2834640"/>
            <a:ext cx="1773936" cy="3429000"/>
          </a:xfrm>
          <a:prstGeom prst="rect">
            <a:avLst/>
          </a:prstGeom>
          <a:solidFill>
            <a:srgbClr val="2A9D8F"/>
          </a:solidFill>
          <a:ln w="12700">
            <a:solidFill>
              <a:srgbClr val="2A9D8F"/>
            </a:solidFill>
            <a:prstDash val="solid"/>
          </a:ln>
        </p:spPr>
      </p:sp>
      <p:sp>
        <p:nvSpPr>
          <p:cNvPr id="37" name="Text 35"/>
          <p:cNvSpPr txBox="1"/>
          <p:nvPr/>
        </p:nvSpPr>
        <p:spPr>
          <a:xfrm>
            <a:off x="8119872" y="2907792"/>
            <a:ext cx="45720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38" name="Text 36"/>
          <p:cNvSpPr txBox="1"/>
          <p:nvPr/>
        </p:nvSpPr>
        <p:spPr>
          <a:xfrm>
            <a:off x="8119872" y="3291840"/>
            <a:ext cx="1572768" cy="41148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PhoBERT</a:t>
            </a:r>
            <a:endParaRPr lang="en-US" sz="1400" dirty="0"/>
          </a:p>
        </p:txBody>
      </p:sp>
      <p:sp>
        <p:nvSpPr>
          <p:cNvPr id="39" name="Text 37"/>
          <p:cNvSpPr txBox="1"/>
          <p:nvPr/>
        </p:nvSpPr>
        <p:spPr>
          <a:xfrm>
            <a:off x="8119872" y="3703320"/>
            <a:ext cx="1572768" cy="685800"/>
          </a:xfrm>
          <a:prstGeom prst="rect">
            <a:avLst/>
          </a:prstGeom>
          <a:noFill/>
          <a:ln/>
        </p:spPr>
        <p:txBody>
          <a:bodyPr wrap="square" lIns="0" tIns="0" rIns="0" bIns="0" rtlCol="0" anchor="t"/>
          <a:lstStyle/>
          <a:p>
            <a:pPr indent="0" marL="0">
              <a:buNone/>
            </a:pPr>
            <a:r>
              <a:rPr lang="en-US" sz="1050" dirty="0">
                <a:solidFill>
                  <a:srgbClr val="E8F0F4"/>
                </a:solidFill>
                <a:latin typeface="Calibri" pitchFamily="34" charset="0"/>
                <a:ea typeface="Calibri" pitchFamily="34" charset="-122"/>
                <a:cs typeface="Calibri" pitchFamily="34" charset="-120"/>
              </a:rPr>
              <a:t>Pretrain đa ngôn ngữ → tiếng Việt, nhóm tự fine-tune</a:t>
            </a:r>
            <a:endParaRPr lang="en-US" sz="1050" dirty="0"/>
          </a:p>
        </p:txBody>
      </p:sp>
      <p:sp>
        <p:nvSpPr>
          <p:cNvPr id="40" name="Text 38"/>
          <p:cNvSpPr txBox="1"/>
          <p:nvPr/>
        </p:nvSpPr>
        <p:spPr>
          <a:xfrm>
            <a:off x="8055864" y="1920240"/>
            <a:ext cx="1682496" cy="822960"/>
          </a:xfrm>
          <a:prstGeom prst="rect">
            <a:avLst/>
          </a:prstGeom>
          <a:noFill/>
          <a:ln/>
        </p:spPr>
        <p:txBody>
          <a:bodyPr wrap="square" lIns="0" tIns="0" rIns="0" bIns="0" rtlCol="0" anchor="b"/>
          <a:lstStyle/>
          <a:p>
            <a:pPr indent="0" marL="0">
              <a:buNone/>
            </a:pPr>
            <a:r>
              <a:rPr lang="en-US" sz="1150" i="1" dirty="0">
                <a:solidFill>
                  <a:srgbClr val="1B2733"/>
                </a:solidFill>
                <a:latin typeface="Calibri" pitchFamily="34" charset="0"/>
                <a:ea typeface="Calibri" pitchFamily="34" charset="-122"/>
                <a:cs typeface="Calibri" pitchFamily="34" charset="-120"/>
              </a:rPr>
              <a:t>Đúng ngôn ngữ có tốt hơn không?</a:t>
            </a:r>
            <a:endParaRPr lang="en-US" sz="1150" dirty="0"/>
          </a:p>
        </p:txBody>
      </p:sp>
      <p:sp>
        <p:nvSpPr>
          <p:cNvPr id="41" name="Shape 39"/>
          <p:cNvSpPr/>
          <p:nvPr/>
        </p:nvSpPr>
        <p:spPr>
          <a:xfrm>
            <a:off x="9875520" y="2377440"/>
            <a:ext cx="1773936" cy="3886200"/>
          </a:xfrm>
          <a:prstGeom prst="rect">
            <a:avLst/>
          </a:prstGeom>
          <a:solidFill>
            <a:srgbClr val="E4572E"/>
          </a:solidFill>
          <a:ln w="12700">
            <a:solidFill>
              <a:srgbClr val="E4572E"/>
            </a:solidFill>
            <a:prstDash val="solid"/>
          </a:ln>
        </p:spPr>
      </p:sp>
      <p:sp>
        <p:nvSpPr>
          <p:cNvPr id="42" name="Text 40"/>
          <p:cNvSpPr txBox="1"/>
          <p:nvPr/>
        </p:nvSpPr>
        <p:spPr>
          <a:xfrm>
            <a:off x="9985248" y="2450592"/>
            <a:ext cx="45720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43" name="Text 41"/>
          <p:cNvSpPr txBox="1"/>
          <p:nvPr/>
        </p:nvSpPr>
        <p:spPr>
          <a:xfrm>
            <a:off x="9985248" y="2834640"/>
            <a:ext cx="1572768" cy="41148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ViHealthBERT</a:t>
            </a:r>
            <a:endParaRPr lang="en-US" sz="1400" dirty="0"/>
          </a:p>
        </p:txBody>
      </p:sp>
      <p:sp>
        <p:nvSpPr>
          <p:cNvPr id="44" name="Text 42"/>
          <p:cNvSpPr txBox="1"/>
          <p:nvPr/>
        </p:nvSpPr>
        <p:spPr>
          <a:xfrm>
            <a:off x="9985248" y="3246120"/>
            <a:ext cx="1572768" cy="685800"/>
          </a:xfrm>
          <a:prstGeom prst="rect">
            <a:avLst/>
          </a:prstGeom>
          <a:noFill/>
          <a:ln/>
        </p:spPr>
        <p:txBody>
          <a:bodyPr wrap="square" lIns="0" tIns="0" rIns="0" bIns="0" rtlCol="0" anchor="t"/>
          <a:lstStyle/>
          <a:p>
            <a:pPr indent="0" marL="0">
              <a:buNone/>
            </a:pPr>
            <a:r>
              <a:rPr lang="en-US" sz="1050" dirty="0">
                <a:solidFill>
                  <a:srgbClr val="E8F0F4"/>
                </a:solidFill>
                <a:latin typeface="Calibri" pitchFamily="34" charset="0"/>
                <a:ea typeface="Calibri" pitchFamily="34" charset="-122"/>
                <a:cs typeface="Calibri" pitchFamily="34" charset="-120"/>
              </a:rPr>
              <a:t>Pretrain tiếng Việt chung → văn bản y tế</a:t>
            </a:r>
            <a:endParaRPr lang="en-US" sz="1050" dirty="0"/>
          </a:p>
        </p:txBody>
      </p:sp>
      <p:sp>
        <p:nvSpPr>
          <p:cNvPr id="45" name="Text 43"/>
          <p:cNvSpPr txBox="1"/>
          <p:nvPr/>
        </p:nvSpPr>
        <p:spPr>
          <a:xfrm>
            <a:off x="9921240" y="1463040"/>
            <a:ext cx="1682496" cy="822960"/>
          </a:xfrm>
          <a:prstGeom prst="rect">
            <a:avLst/>
          </a:prstGeom>
          <a:noFill/>
          <a:ln/>
        </p:spPr>
        <p:txBody>
          <a:bodyPr wrap="square" lIns="0" tIns="0" rIns="0" bIns="0" rtlCol="0" anchor="b"/>
          <a:lstStyle/>
          <a:p>
            <a:pPr indent="0" marL="0">
              <a:buNone/>
            </a:pPr>
            <a:r>
              <a:rPr lang="en-US" sz="1150" i="1" dirty="0">
                <a:solidFill>
                  <a:srgbClr val="1B2733"/>
                </a:solidFill>
                <a:latin typeface="Calibri" pitchFamily="34" charset="0"/>
                <a:ea typeface="Calibri" pitchFamily="34" charset="-122"/>
                <a:cs typeface="Calibri" pitchFamily="34" charset="-120"/>
              </a:rPr>
              <a:t>Đúng miền y tế có tốt hơn không?</a:t>
            </a:r>
            <a:endParaRPr lang="en-US" sz="1150" dirty="0"/>
          </a:p>
        </p:txBody>
      </p:sp>
      <p:sp>
        <p:nvSpPr>
          <p:cNvPr id="46" name="Text 44"/>
          <p:cNvSpPr txBox="1"/>
          <p:nvPr/>
        </p:nvSpPr>
        <p:spPr>
          <a:xfrm>
            <a:off x="548640" y="1188720"/>
            <a:ext cx="11064240" cy="548640"/>
          </a:xfrm>
          <a:prstGeom prst="rect">
            <a:avLst/>
          </a:prstGeom>
          <a:noFill/>
          <a:ln/>
        </p:spPr>
        <p:txBody>
          <a:bodyPr wrap="square" lIns="0" tIns="0" rIns="0" bIns="0" rtlCol="0" anchor="t"/>
          <a:lstStyle/>
          <a:p>
            <a:pPr algn="l" indent="0" marL="0">
              <a:buNone/>
            </a:pPr>
            <a:r>
              <a:rPr lang="en-US" sz="1500" b="1" dirty="0">
                <a:solidFill>
                  <a:srgbClr val="1B2733"/>
                </a:solidFill>
                <a:latin typeface="Calibri" pitchFamily="34" charset="0"/>
                <a:ea typeface="Calibri" pitchFamily="34" charset="-122"/>
                <a:cs typeface="Calibri" pitchFamily="34" charset="-120"/>
              </a:rPr>
              <a:t>Bậc 1–3:</a:t>
            </a:r>
            <a:r>
              <a:rPr lang="en-US" sz="1500" dirty="0">
                <a:solidFill>
                  <a:srgbClr val="1B2733"/>
                </a:solidFill>
                <a:latin typeface="Calibri" pitchFamily="34" charset="0"/>
                <a:ea typeface="Calibri" pitchFamily="34" charset="-122"/>
                <a:cs typeface="Calibri" pitchFamily="34" charset="-120"/>
              </a:rPr>
              <a:t> học máy cổ điển, cùng một bộ đặc trưng thủ công.  </a:t>
            </a:r>
            <a:r>
              <a:rPr lang="en-US" sz="1500" b="1" dirty="0">
                <a:solidFill>
                  <a:srgbClr val="1B2733"/>
                </a:solidFill>
                <a:latin typeface="Calibri" pitchFamily="34" charset="0"/>
                <a:ea typeface="Calibri" pitchFamily="34" charset="-122"/>
                <a:cs typeface="Calibri" pitchFamily="34" charset="-120"/>
              </a:rPr>
              <a:t>Bậc 4–6:</a:t>
            </a:r>
            <a:r>
              <a:rPr lang="en-US" sz="1500" dirty="0">
                <a:solidFill>
                  <a:srgbClr val="1B2733"/>
                </a:solidFill>
                <a:latin typeface="Calibri" pitchFamily="34" charset="0"/>
                <a:ea typeface="Calibri" pitchFamily="34" charset="-122"/>
                <a:cs typeface="Calibri" pitchFamily="34" charset="-120"/>
              </a:rPr>
              <a:t> Transformer pretrain, mỗi bậc gần bài toán hơn (ngôn ngữ, rồi miền y tế).</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Bậc 1: Logistic Regression — mốc xuất phát</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6 / 18</a:t>
            </a:r>
            <a:endParaRPr lang="en-US" sz="1000" dirty="0"/>
          </a:p>
        </p:txBody>
      </p:sp>
      <p:sp>
        <p:nvSpPr>
          <p:cNvPr id="4" name="Shape 2"/>
          <p:cNvSpPr/>
          <p:nvPr/>
        </p:nvSpPr>
        <p:spPr>
          <a:xfrm>
            <a:off x="8366760" y="868680"/>
            <a:ext cx="548640" cy="182880"/>
          </a:xfrm>
          <a:prstGeom prst="rect">
            <a:avLst/>
          </a:prstGeom>
          <a:solidFill>
            <a:srgbClr val="E4572E"/>
          </a:solidFill>
          <a:ln w="12700">
            <a:solidFill>
              <a:srgbClr val="E4572E"/>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DDE5EB"/>
          </a:solidFill>
          <a:ln w="12700">
            <a:solidFill>
              <a:srgbClr val="DDE5EB"/>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DDE5EB"/>
          </a:solidFill>
          <a:ln w="12700">
            <a:solidFill>
              <a:srgbClr val="DDE5EB"/>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DDE5EB"/>
          </a:solidFill>
          <a:ln w="12700">
            <a:solidFill>
              <a:srgbClr val="DDE5EB"/>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DDE5EB"/>
          </a:solidFill>
          <a:ln w="12700">
            <a:solidFill>
              <a:srgbClr val="DDE5EB"/>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DDE5EB"/>
          </a:solidFill>
          <a:ln w="12700">
            <a:solidFill>
              <a:srgbClr val="DDE5EB"/>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6</a:t>
            </a:r>
            <a:endParaRPr lang="en-US" sz="1000" dirty="0"/>
          </a:p>
        </p:txBody>
      </p:sp>
      <p:sp>
        <p:nvSpPr>
          <p:cNvPr id="16" name="Shape 14"/>
          <p:cNvSpPr/>
          <p:nvPr/>
        </p:nvSpPr>
        <p:spPr>
          <a:xfrm>
            <a:off x="548640" y="1188720"/>
            <a:ext cx="11109960" cy="566928"/>
          </a:xfrm>
          <a:prstGeom prst="roundRect">
            <a:avLst>
              <a:gd name="adj" fmla="val 12903"/>
            </a:avLst>
          </a:prstGeom>
          <a:solidFill>
            <a:srgbClr val="FBF1DF"/>
          </a:solidFill>
          <a:ln w="12700">
            <a:solidFill>
              <a:srgbClr val="FBF1DF"/>
            </a:solidFill>
            <a:prstDash val="solid"/>
          </a:ln>
        </p:spPr>
      </p:sp>
      <p:sp>
        <p:nvSpPr>
          <p:cNvPr id="17" name="Text 15"/>
          <p:cNvSpPr txBox="1"/>
          <p:nvPr/>
        </p:nvSpPr>
        <p:spPr>
          <a:xfrm>
            <a:off x="731520" y="1188720"/>
            <a:ext cx="10789920" cy="566928"/>
          </a:xfrm>
          <a:prstGeom prst="rect">
            <a:avLst/>
          </a:prstGeom>
          <a:noFill/>
          <a:ln/>
        </p:spPr>
        <p:txBody>
          <a:bodyPr wrap="square" lIns="0" tIns="0" rIns="0" bIns="0" rtlCol="0" anchor="ctr"/>
          <a:lstStyle/>
          <a:p>
            <a:pPr algn="l" indent="0" marL="0">
              <a:buNone/>
            </a:pPr>
            <a:r>
              <a:rPr lang="en-US" sz="1500" b="1" dirty="0">
                <a:solidFill>
                  <a:srgbClr val="1B2733"/>
                </a:solidFill>
                <a:latin typeface="Calibri" pitchFamily="34" charset="0"/>
                <a:ea typeface="Calibri" pitchFamily="34" charset="-122"/>
                <a:cs typeface="Calibri" pitchFamily="34" charset="-120"/>
              </a:rPr>
              <a:t>Thay đổi so với bậc trước:</a:t>
            </a:r>
            <a:r>
              <a:rPr lang="en-US" sz="1500" dirty="0">
                <a:solidFill>
                  <a:srgbClr val="1B2733"/>
                </a:solidFill>
                <a:latin typeface="Calibri" pitchFamily="34" charset="0"/>
                <a:ea typeface="Calibri" pitchFamily="34" charset="-122"/>
                <a:cs typeface="Calibri" pitchFamily="34" charset="-120"/>
              </a:rPr>
              <a:t> Không có — phân loại </a:t>
            </a:r>
            <a:r>
              <a:rPr lang="en-US" sz="1500" b="1" dirty="0">
                <a:solidFill>
                  <a:srgbClr val="1B2733"/>
                </a:solidFill>
                <a:latin typeface="Calibri" pitchFamily="34" charset="0"/>
                <a:ea typeface="Calibri" pitchFamily="34" charset="-122"/>
                <a:cs typeface="Calibri" pitchFamily="34" charset="-120"/>
              </a:rPr>
              <a:t>từng âm tiết độc lập</a:t>
            </a:r>
            <a:r>
              <a:rPr lang="en-US" sz="1500" dirty="0">
                <a:solidFill>
                  <a:srgbClr val="1B2733"/>
                </a:solidFill>
                <a:latin typeface="Calibri" pitchFamily="34" charset="0"/>
                <a:ea typeface="Calibri" pitchFamily="34" charset="-122"/>
                <a:cs typeface="Calibri" pitchFamily="34" charset="-120"/>
              </a:rPr>
              <a:t> bằng đặc trưng thủ công (cửa sổ ±2), hồi quy logistic đa lớp, L2.</a:t>
            </a:r>
            <a:endParaRPr lang="en-US" sz="1500" dirty="0"/>
          </a:p>
        </p:txBody>
      </p:sp>
      <p:sp>
        <p:nvSpPr>
          <p:cNvPr id="18" name="Shape 16"/>
          <p:cNvSpPr/>
          <p:nvPr/>
        </p:nvSpPr>
        <p:spPr>
          <a:xfrm>
            <a:off x="548640" y="1920240"/>
            <a:ext cx="2468880" cy="1170432"/>
          </a:xfrm>
          <a:prstGeom prst="roundRect">
            <a:avLst>
              <a:gd name="adj" fmla="val 6250"/>
            </a:avLst>
          </a:prstGeom>
          <a:solidFill>
            <a:srgbClr val="EEF4F7"/>
          </a:solidFill>
          <a:ln w="12700">
            <a:solidFill>
              <a:srgbClr val="EEF4F7"/>
            </a:solidFill>
            <a:prstDash val="solid"/>
          </a:ln>
        </p:spPr>
      </p:sp>
      <p:sp>
        <p:nvSpPr>
          <p:cNvPr id="19" name="Text 17"/>
          <p:cNvSpPr txBox="1"/>
          <p:nvPr/>
        </p:nvSpPr>
        <p:spPr>
          <a:xfrm>
            <a:off x="713232" y="1993392"/>
            <a:ext cx="2139696" cy="643738"/>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83,2%</a:t>
            </a:r>
            <a:endParaRPr lang="en-US" sz="2600" dirty="0"/>
          </a:p>
        </p:txBody>
      </p:sp>
      <p:sp>
        <p:nvSpPr>
          <p:cNvPr id="20" name="Text 18"/>
          <p:cNvSpPr txBox="1"/>
          <p:nvPr/>
        </p:nvSpPr>
        <p:spPr>
          <a:xfrm>
            <a:off x="713232" y="2645908"/>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F1 validation (cùng miền)</a:t>
            </a:r>
            <a:endParaRPr lang="en-US" sz="1150" dirty="0"/>
          </a:p>
        </p:txBody>
      </p:sp>
      <p:sp>
        <p:nvSpPr>
          <p:cNvPr id="21" name="Shape 19"/>
          <p:cNvSpPr/>
          <p:nvPr/>
        </p:nvSpPr>
        <p:spPr>
          <a:xfrm>
            <a:off x="3154680" y="1920240"/>
            <a:ext cx="2468880" cy="1170432"/>
          </a:xfrm>
          <a:prstGeom prst="roundRect">
            <a:avLst>
              <a:gd name="adj" fmla="val 6250"/>
            </a:avLst>
          </a:prstGeom>
          <a:solidFill>
            <a:srgbClr val="EEF4F7"/>
          </a:solidFill>
          <a:ln w="12700">
            <a:solidFill>
              <a:srgbClr val="EEF4F7"/>
            </a:solidFill>
            <a:prstDash val="solid"/>
          </a:ln>
        </p:spPr>
      </p:sp>
      <p:sp>
        <p:nvSpPr>
          <p:cNvPr id="22" name="Text 20"/>
          <p:cNvSpPr txBox="1"/>
          <p:nvPr/>
        </p:nvSpPr>
        <p:spPr>
          <a:xfrm>
            <a:off x="3319272" y="1993392"/>
            <a:ext cx="2139696" cy="643738"/>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56,2%</a:t>
            </a:r>
            <a:endParaRPr lang="en-US" sz="2600" dirty="0"/>
          </a:p>
        </p:txBody>
      </p:sp>
      <p:sp>
        <p:nvSpPr>
          <p:cNvPr id="23" name="Text 21"/>
          <p:cNvSpPr txBox="1"/>
          <p:nvPr/>
        </p:nvSpPr>
        <p:spPr>
          <a:xfrm>
            <a:off x="3319272" y="2645908"/>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F1 test · CI95 55,1–57,3</a:t>
            </a:r>
            <a:endParaRPr lang="en-US" sz="1150" dirty="0"/>
          </a:p>
        </p:txBody>
      </p:sp>
      <p:sp>
        <p:nvSpPr>
          <p:cNvPr id="24" name="Shape 22"/>
          <p:cNvSpPr/>
          <p:nvPr/>
        </p:nvSpPr>
        <p:spPr>
          <a:xfrm>
            <a:off x="548640" y="3218688"/>
            <a:ext cx="2468880" cy="1170432"/>
          </a:xfrm>
          <a:prstGeom prst="roundRect">
            <a:avLst>
              <a:gd name="adj" fmla="val 6250"/>
            </a:avLst>
          </a:prstGeom>
          <a:solidFill>
            <a:srgbClr val="EEF4F7"/>
          </a:solidFill>
          <a:ln w="12700">
            <a:solidFill>
              <a:srgbClr val="EEF4F7"/>
            </a:solidFill>
            <a:prstDash val="solid"/>
          </a:ln>
        </p:spPr>
      </p:sp>
      <p:sp>
        <p:nvSpPr>
          <p:cNvPr id="25" name="Text 23"/>
          <p:cNvSpPr txBox="1"/>
          <p:nvPr/>
        </p:nvSpPr>
        <p:spPr>
          <a:xfrm>
            <a:off x="713232" y="3291840"/>
            <a:ext cx="2139696" cy="643738"/>
          </a:xfrm>
          <a:prstGeom prst="rect">
            <a:avLst/>
          </a:prstGeom>
          <a:noFill/>
          <a:ln/>
        </p:spPr>
        <p:txBody>
          <a:bodyPr wrap="square" lIns="0" tIns="0" rIns="0" bIns="0" rtlCol="0" anchor="ctr"/>
          <a:lstStyle/>
          <a:p>
            <a:pPr indent="0" marL="0">
              <a:buNone/>
            </a:pPr>
            <a:r>
              <a:rPr lang="en-US" sz="2600" b="1" dirty="0">
                <a:solidFill>
                  <a:srgbClr val="5B6B7A"/>
                </a:solidFill>
                <a:latin typeface="Cambria" pitchFamily="34" charset="0"/>
                <a:ea typeface="Cambria" pitchFamily="34" charset="-122"/>
                <a:cs typeface="Cambria" pitchFamily="34" charset="-120"/>
              </a:rPr>
              <a:t>—</a:t>
            </a:r>
            <a:endParaRPr lang="en-US" sz="2600" dirty="0"/>
          </a:p>
        </p:txBody>
      </p:sp>
      <p:sp>
        <p:nvSpPr>
          <p:cNvPr id="26" name="Text 24"/>
          <p:cNvSpPr txBox="1"/>
          <p:nvPr/>
        </p:nvSpPr>
        <p:spPr>
          <a:xfrm>
            <a:off x="713232" y="3944356"/>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Bậc đầu tiên (mốc so sánh)</a:t>
            </a:r>
            <a:endParaRPr lang="en-US" sz="1150" dirty="0"/>
          </a:p>
        </p:txBody>
      </p:sp>
      <p:sp>
        <p:nvSpPr>
          <p:cNvPr id="27" name="Shape 25"/>
          <p:cNvSpPr/>
          <p:nvPr/>
        </p:nvSpPr>
        <p:spPr>
          <a:xfrm>
            <a:off x="3154680" y="3218688"/>
            <a:ext cx="2468880" cy="1170432"/>
          </a:xfrm>
          <a:prstGeom prst="roundRect">
            <a:avLst>
              <a:gd name="adj" fmla="val 6250"/>
            </a:avLst>
          </a:prstGeom>
          <a:solidFill>
            <a:srgbClr val="EEF4F7"/>
          </a:solidFill>
          <a:ln w="12700">
            <a:solidFill>
              <a:srgbClr val="EEF4F7"/>
            </a:solidFill>
            <a:prstDash val="solid"/>
          </a:ln>
        </p:spPr>
      </p:sp>
      <p:sp>
        <p:nvSpPr>
          <p:cNvPr id="28" name="Text 26"/>
          <p:cNvSpPr txBox="1"/>
          <p:nvPr/>
        </p:nvSpPr>
        <p:spPr>
          <a:xfrm>
            <a:off x="3319272" y="3291840"/>
            <a:ext cx="2139696" cy="643738"/>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4,9%</a:t>
            </a:r>
            <a:endParaRPr lang="en-US" sz="2600" dirty="0"/>
          </a:p>
        </p:txBody>
      </p:sp>
      <p:sp>
        <p:nvSpPr>
          <p:cNvPr id="29" name="Text 27"/>
          <p:cNvSpPr txBox="1"/>
          <p:nvPr/>
        </p:nvSpPr>
        <p:spPr>
          <a:xfrm>
            <a:off x="3319272" y="3944356"/>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Recall thực thể chưa gặp trong train</a:t>
            </a:r>
            <a:endParaRPr lang="en-US" sz="1150" dirty="0"/>
          </a:p>
        </p:txBody>
      </p:sp>
      <p:graphicFrame>
        <p:nvGraphicFramePr>
          <p:cNvPr id="30" name="Chart 0" descr=""/>
          <p:cNvGraphicFramePr/>
          <p:nvPr/>
        </p:nvGraphicFramePr>
        <p:xfrm>
          <a:off x="5897880" y="1874520"/>
          <a:ext cx="5760720" cy="2606040"/>
        </p:xfrm>
        <a:graphic xmlns:a="http://schemas.openxmlformats.org/drawingml/2006/main">
          <a:graphicData uri="http://schemas.openxmlformats.org/drawingml/2006/chart">
            <c:chart xmlns:c="http://schemas.openxmlformats.org/drawingml/2006/chart" r:id="rId1"/>
          </a:graphicData>
        </a:graphic>
      </p:graphicFrame>
      <p:sp>
        <p:nvSpPr>
          <p:cNvPr id="31" name="Shape 28"/>
          <p:cNvSpPr/>
          <p:nvPr/>
        </p:nvSpPr>
        <p:spPr>
          <a:xfrm>
            <a:off x="548640" y="4663440"/>
            <a:ext cx="5440680" cy="1645920"/>
          </a:xfrm>
          <a:prstGeom prst="roundRect">
            <a:avLst>
              <a:gd name="adj" fmla="val 4444"/>
            </a:avLst>
          </a:prstGeom>
          <a:solidFill>
            <a:srgbClr val="E3F3F1"/>
          </a:solidFill>
          <a:ln w="12700">
            <a:solidFill>
              <a:srgbClr val="E3F3F1"/>
            </a:solidFill>
            <a:prstDash val="solid"/>
          </a:ln>
        </p:spPr>
      </p:sp>
      <p:sp>
        <p:nvSpPr>
          <p:cNvPr id="32" name="Text 29"/>
          <p:cNvSpPr txBox="1"/>
          <p:nvPr/>
        </p:nvSpPr>
        <p:spPr>
          <a:xfrm>
            <a:off x="749808" y="4754880"/>
            <a:ext cx="5029200" cy="365760"/>
          </a:xfrm>
          <a:prstGeom prst="rect">
            <a:avLst/>
          </a:prstGeom>
          <a:noFill/>
          <a:ln/>
        </p:spPr>
        <p:txBody>
          <a:bodyPr wrap="square" lIns="0" tIns="0" rIns="0" bIns="0" rtlCol="0" anchor="ctr"/>
          <a:lstStyle/>
          <a:p>
            <a:pPr indent="0" marL="0">
              <a:buNone/>
            </a:pPr>
            <a:r>
              <a:rPr lang="en-US" sz="1600" b="1" dirty="0">
                <a:solidFill>
                  <a:srgbClr val="2A9D8F"/>
                </a:solidFill>
                <a:latin typeface="Cambria" pitchFamily="34" charset="0"/>
                <a:ea typeface="Cambria" pitchFamily="34" charset="-122"/>
                <a:cs typeface="Cambria" pitchFamily="34" charset="-120"/>
              </a:rPr>
              <a:t>Học được</a:t>
            </a:r>
            <a:endParaRPr lang="en-US" sz="1600" dirty="0"/>
          </a:p>
        </p:txBody>
      </p:sp>
      <p:sp>
        <p:nvSpPr>
          <p:cNvPr id="33" name="Text 30"/>
          <p:cNvSpPr txBox="1"/>
          <p:nvPr/>
        </p:nvSpPr>
        <p:spPr>
          <a:xfrm>
            <a:off x="749808" y="5120640"/>
            <a:ext cx="5074920" cy="114300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Đặc trưng từ vựng đã đạt </a:t>
            </a:r>
            <a:r>
              <a:rPr lang="en-US" sz="1350" b="1" dirty="0">
                <a:solidFill>
                  <a:srgbClr val="1B2733"/>
                </a:solidFill>
                <a:latin typeface="Calibri" pitchFamily="34" charset="0"/>
                <a:ea typeface="Calibri" pitchFamily="34" charset="-122"/>
                <a:cs typeface="Calibri" pitchFamily="34" charset="-120"/>
              </a:rPr>
              <a:t>83,2%</a:t>
            </a:r>
            <a:r>
              <a:rPr lang="en-US" sz="1350" dirty="0">
                <a:solidFill>
                  <a:srgbClr val="1B2733"/>
                </a:solidFill>
                <a:latin typeface="Calibri" pitchFamily="34" charset="0"/>
                <a:ea typeface="Calibri" pitchFamily="34" charset="-122"/>
                <a:cs typeface="Calibri" pitchFamily="34" charset="-120"/>
              </a:rPr>
              <a:t> F1 val</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C nhỏ (0,1) ⇒ </a:t>
            </a:r>
            <a:r>
              <a:rPr lang="en-US" sz="1350" b="1" dirty="0">
                <a:solidFill>
                  <a:srgbClr val="1B2733"/>
                </a:solidFill>
                <a:latin typeface="Calibri" pitchFamily="34" charset="0"/>
                <a:ea typeface="Calibri" pitchFamily="34" charset="-122"/>
                <a:cs typeface="Calibri" pitchFamily="34" charset="-120"/>
              </a:rPr>
              <a:t>underfit</a:t>
            </a:r>
            <a:r>
              <a:rPr lang="en-US" sz="1350" dirty="0">
                <a:solidFill>
                  <a:srgbClr val="1B2733"/>
                </a:solidFill>
                <a:latin typeface="Calibri" pitchFamily="34" charset="0"/>
                <a:ea typeface="Calibri" pitchFamily="34" charset="-122"/>
                <a:cs typeface="Calibri" pitchFamily="34" charset="-120"/>
              </a:rPr>
              <a:t> 70,7%; C = 30 đã bắt đầu giảm</a:t>
            </a:r>
            <a:endParaRPr lang="en-US" sz="1350" dirty="0"/>
          </a:p>
        </p:txBody>
      </p:sp>
      <p:sp>
        <p:nvSpPr>
          <p:cNvPr id="34" name="Shape 31"/>
          <p:cNvSpPr/>
          <p:nvPr/>
        </p:nvSpPr>
        <p:spPr>
          <a:xfrm>
            <a:off x="6217920" y="4663440"/>
            <a:ext cx="5440680" cy="1645920"/>
          </a:xfrm>
          <a:prstGeom prst="roundRect">
            <a:avLst>
              <a:gd name="adj" fmla="val 4444"/>
            </a:avLst>
          </a:prstGeom>
          <a:solidFill>
            <a:srgbClr val="FCE9E3"/>
          </a:solidFill>
          <a:ln w="12700">
            <a:solidFill>
              <a:srgbClr val="FCE9E3"/>
            </a:solidFill>
            <a:prstDash val="solid"/>
          </a:ln>
        </p:spPr>
      </p:sp>
      <p:sp>
        <p:nvSpPr>
          <p:cNvPr id="35" name="Text 32"/>
          <p:cNvSpPr txBox="1"/>
          <p:nvPr/>
        </p:nvSpPr>
        <p:spPr>
          <a:xfrm>
            <a:off x="6419088" y="4754880"/>
            <a:ext cx="5029200" cy="365760"/>
          </a:xfrm>
          <a:prstGeom prst="rect">
            <a:avLst/>
          </a:prstGeom>
          <a:noFill/>
          <a:ln/>
        </p:spPr>
        <p:txBody>
          <a:bodyPr wrap="square" lIns="0" tIns="0" rIns="0" bIns="0" rtlCol="0" anchor="ctr"/>
          <a:lstStyle/>
          <a:p>
            <a:pPr indent="0" marL="0">
              <a:buNone/>
            </a:pPr>
            <a:r>
              <a:rPr lang="en-US" sz="1600" b="1" dirty="0">
                <a:solidFill>
                  <a:srgbClr val="E4572E"/>
                </a:solidFill>
                <a:latin typeface="Cambria" pitchFamily="34" charset="0"/>
                <a:ea typeface="Cambria" pitchFamily="34" charset="-122"/>
                <a:cs typeface="Cambria" pitchFamily="34" charset="-120"/>
              </a:rPr>
              <a:t>Còn thiếu → lý do lên bậc 2</a:t>
            </a:r>
            <a:endParaRPr lang="en-US" sz="1600" dirty="0"/>
          </a:p>
        </p:txBody>
      </p:sp>
      <p:sp>
        <p:nvSpPr>
          <p:cNvPr id="36" name="Text 33"/>
          <p:cNvSpPr txBox="1"/>
          <p:nvPr/>
        </p:nvSpPr>
        <p:spPr>
          <a:xfrm>
            <a:off x="6419088" y="5120640"/>
            <a:ext cx="5074920" cy="114300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Không biết nhãn của âm tiết bên cạnh ⇒ </a:t>
            </a:r>
            <a:r>
              <a:rPr lang="en-US" sz="1350" b="1" dirty="0">
                <a:solidFill>
                  <a:srgbClr val="1B2733"/>
                </a:solidFill>
                <a:latin typeface="Calibri" pitchFamily="34" charset="0"/>
                <a:ea typeface="Calibri" pitchFamily="34" charset="-122"/>
                <a:cs typeface="Calibri" pitchFamily="34" charset="-120"/>
              </a:rPr>
              <a:t>1.127</a:t>
            </a:r>
            <a:r>
              <a:rPr lang="en-US" sz="1350" dirty="0">
                <a:solidFill>
                  <a:srgbClr val="1B2733"/>
                </a:solidFill>
                <a:latin typeface="Calibri" pitchFamily="34" charset="0"/>
                <a:ea typeface="Calibri" pitchFamily="34" charset="-122"/>
                <a:cs typeface="Calibri" pitchFamily="34" charset="-120"/>
              </a:rPr>
              <a:t> chuyển nhãn BIO vô lý trên test</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Chỉ nhận ra </a:t>
            </a:r>
            <a:r>
              <a:rPr lang="en-US" sz="1350" b="1" dirty="0">
                <a:solidFill>
                  <a:srgbClr val="1B2733"/>
                </a:solidFill>
                <a:latin typeface="Calibri" pitchFamily="34" charset="0"/>
                <a:ea typeface="Calibri" pitchFamily="34" charset="-122"/>
                <a:cs typeface="Calibri" pitchFamily="34" charset="-120"/>
              </a:rPr>
              <a:t>4,9%</a:t>
            </a:r>
            <a:r>
              <a:rPr lang="en-US" sz="1350" dirty="0">
                <a:solidFill>
                  <a:srgbClr val="1B2733"/>
                </a:solidFill>
                <a:latin typeface="Calibri" pitchFamily="34" charset="0"/>
                <a:ea typeface="Calibri" pitchFamily="34" charset="-122"/>
                <a:cs typeface="Calibri" pitchFamily="34" charset="-120"/>
              </a:rPr>
              <a:t> thực thể chưa gặp</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Bậc 2: Linear SVM — đổi thuật toán phân loại</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7 / 18</a:t>
            </a:r>
            <a:endParaRPr lang="en-US" sz="1000" dirty="0"/>
          </a:p>
        </p:txBody>
      </p:sp>
      <p:sp>
        <p:nvSpPr>
          <p:cNvPr id="4" name="Shape 2"/>
          <p:cNvSpPr/>
          <p:nvPr/>
        </p:nvSpPr>
        <p:spPr>
          <a:xfrm>
            <a:off x="8366760" y="868680"/>
            <a:ext cx="548640" cy="182880"/>
          </a:xfrm>
          <a:prstGeom prst="rect">
            <a:avLst/>
          </a:prstGeom>
          <a:solidFill>
            <a:srgbClr val="2A9D8F"/>
          </a:solidFill>
          <a:ln w="12700">
            <a:solidFill>
              <a:srgbClr val="2A9D8F"/>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E4572E"/>
          </a:solidFill>
          <a:ln w="12700">
            <a:solidFill>
              <a:srgbClr val="E4572E"/>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DDE5EB"/>
          </a:solidFill>
          <a:ln w="12700">
            <a:solidFill>
              <a:srgbClr val="DDE5EB"/>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DDE5EB"/>
          </a:solidFill>
          <a:ln w="12700">
            <a:solidFill>
              <a:srgbClr val="DDE5EB"/>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DDE5EB"/>
          </a:solidFill>
          <a:ln w="12700">
            <a:solidFill>
              <a:srgbClr val="DDE5EB"/>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DDE5EB"/>
          </a:solidFill>
          <a:ln w="12700">
            <a:solidFill>
              <a:srgbClr val="DDE5EB"/>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6</a:t>
            </a:r>
            <a:endParaRPr lang="en-US" sz="1000" dirty="0"/>
          </a:p>
        </p:txBody>
      </p:sp>
      <p:sp>
        <p:nvSpPr>
          <p:cNvPr id="16" name="Shape 14"/>
          <p:cNvSpPr/>
          <p:nvPr/>
        </p:nvSpPr>
        <p:spPr>
          <a:xfrm>
            <a:off x="548640" y="1188720"/>
            <a:ext cx="11109960" cy="566928"/>
          </a:xfrm>
          <a:prstGeom prst="roundRect">
            <a:avLst>
              <a:gd name="adj" fmla="val 12903"/>
            </a:avLst>
          </a:prstGeom>
          <a:solidFill>
            <a:srgbClr val="FBF1DF"/>
          </a:solidFill>
          <a:ln w="12700">
            <a:solidFill>
              <a:srgbClr val="FBF1DF"/>
            </a:solidFill>
            <a:prstDash val="solid"/>
          </a:ln>
        </p:spPr>
      </p:sp>
      <p:sp>
        <p:nvSpPr>
          <p:cNvPr id="17" name="Text 15"/>
          <p:cNvSpPr txBox="1"/>
          <p:nvPr/>
        </p:nvSpPr>
        <p:spPr>
          <a:xfrm>
            <a:off x="731520" y="1188720"/>
            <a:ext cx="10789920" cy="566928"/>
          </a:xfrm>
          <a:prstGeom prst="rect">
            <a:avLst/>
          </a:prstGeom>
          <a:noFill/>
          <a:ln/>
        </p:spPr>
        <p:txBody>
          <a:bodyPr wrap="square" lIns="0" tIns="0" rIns="0" bIns="0" rtlCol="0" anchor="ctr"/>
          <a:lstStyle/>
          <a:p>
            <a:pPr algn="l" indent="0" marL="0">
              <a:buNone/>
            </a:pPr>
            <a:r>
              <a:rPr lang="en-US" sz="1500" b="1" dirty="0">
                <a:solidFill>
                  <a:srgbClr val="1B2733"/>
                </a:solidFill>
                <a:latin typeface="Calibri" pitchFamily="34" charset="0"/>
                <a:ea typeface="Calibri" pitchFamily="34" charset="-122"/>
                <a:cs typeface="Calibri" pitchFamily="34" charset="-120"/>
              </a:rPr>
              <a:t>Thay đổi so với bậc trước:</a:t>
            </a:r>
            <a:r>
              <a:rPr lang="en-US" sz="1500" dirty="0">
                <a:solidFill>
                  <a:srgbClr val="1B2733"/>
                </a:solidFill>
                <a:latin typeface="Calibri" pitchFamily="34" charset="0"/>
                <a:ea typeface="Calibri" pitchFamily="34" charset="-122"/>
                <a:cs typeface="Calibri" pitchFamily="34" charset="-120"/>
              </a:rPr>
              <a:t> Hàm mất mát </a:t>
            </a:r>
            <a:r>
              <a:rPr lang="en-US" sz="1500" b="1" dirty="0">
                <a:solidFill>
                  <a:srgbClr val="1B2733"/>
                </a:solidFill>
                <a:latin typeface="Calibri" pitchFamily="34" charset="0"/>
                <a:ea typeface="Calibri" pitchFamily="34" charset="-122"/>
                <a:cs typeface="Calibri" pitchFamily="34" charset="-120"/>
              </a:rPr>
              <a:t>log-loss → hinge</a:t>
            </a:r>
            <a:r>
              <a:rPr lang="en-US" sz="1500" dirty="0">
                <a:solidFill>
                  <a:srgbClr val="1B2733"/>
                </a:solidFill>
                <a:latin typeface="Calibri" pitchFamily="34" charset="0"/>
                <a:ea typeface="Calibri" pitchFamily="34" charset="-122"/>
                <a:cs typeface="Calibri" pitchFamily="34" charset="-120"/>
              </a:rPr>
              <a:t> (lề cực đại), cùng bộ đặc trưng, vẫn phân loại từng âm tiết độc lập.</a:t>
            </a:r>
            <a:endParaRPr lang="en-US" sz="1500" dirty="0"/>
          </a:p>
        </p:txBody>
      </p:sp>
      <p:sp>
        <p:nvSpPr>
          <p:cNvPr id="18" name="Shape 16"/>
          <p:cNvSpPr/>
          <p:nvPr/>
        </p:nvSpPr>
        <p:spPr>
          <a:xfrm>
            <a:off x="548640" y="1920240"/>
            <a:ext cx="2468880" cy="1170432"/>
          </a:xfrm>
          <a:prstGeom prst="roundRect">
            <a:avLst>
              <a:gd name="adj" fmla="val 6250"/>
            </a:avLst>
          </a:prstGeom>
          <a:solidFill>
            <a:srgbClr val="EEF4F7"/>
          </a:solidFill>
          <a:ln w="12700">
            <a:solidFill>
              <a:srgbClr val="EEF4F7"/>
            </a:solidFill>
            <a:prstDash val="solid"/>
          </a:ln>
        </p:spPr>
      </p:sp>
      <p:sp>
        <p:nvSpPr>
          <p:cNvPr id="19" name="Text 17"/>
          <p:cNvSpPr txBox="1"/>
          <p:nvPr/>
        </p:nvSpPr>
        <p:spPr>
          <a:xfrm>
            <a:off x="713232" y="1993392"/>
            <a:ext cx="2139696" cy="643738"/>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84,5%</a:t>
            </a:r>
            <a:endParaRPr lang="en-US" sz="2600" dirty="0"/>
          </a:p>
        </p:txBody>
      </p:sp>
      <p:sp>
        <p:nvSpPr>
          <p:cNvPr id="20" name="Text 18"/>
          <p:cNvSpPr txBox="1"/>
          <p:nvPr/>
        </p:nvSpPr>
        <p:spPr>
          <a:xfrm>
            <a:off x="713232" y="2645908"/>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F1 validation (cùng miền)</a:t>
            </a:r>
            <a:endParaRPr lang="en-US" sz="1150" dirty="0"/>
          </a:p>
        </p:txBody>
      </p:sp>
      <p:sp>
        <p:nvSpPr>
          <p:cNvPr id="21" name="Shape 19"/>
          <p:cNvSpPr/>
          <p:nvPr/>
        </p:nvSpPr>
        <p:spPr>
          <a:xfrm>
            <a:off x="3154680" y="1920240"/>
            <a:ext cx="2468880" cy="1170432"/>
          </a:xfrm>
          <a:prstGeom prst="roundRect">
            <a:avLst>
              <a:gd name="adj" fmla="val 6250"/>
            </a:avLst>
          </a:prstGeom>
          <a:solidFill>
            <a:srgbClr val="EEF4F7"/>
          </a:solidFill>
          <a:ln w="12700">
            <a:solidFill>
              <a:srgbClr val="EEF4F7"/>
            </a:solidFill>
            <a:prstDash val="solid"/>
          </a:ln>
        </p:spPr>
      </p:sp>
      <p:sp>
        <p:nvSpPr>
          <p:cNvPr id="22" name="Text 20"/>
          <p:cNvSpPr txBox="1"/>
          <p:nvPr/>
        </p:nvSpPr>
        <p:spPr>
          <a:xfrm>
            <a:off x="3319272" y="1993392"/>
            <a:ext cx="2139696" cy="643738"/>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58,1%</a:t>
            </a:r>
            <a:endParaRPr lang="en-US" sz="2600" dirty="0"/>
          </a:p>
        </p:txBody>
      </p:sp>
      <p:sp>
        <p:nvSpPr>
          <p:cNvPr id="23" name="Text 21"/>
          <p:cNvSpPr txBox="1"/>
          <p:nvPr/>
        </p:nvSpPr>
        <p:spPr>
          <a:xfrm>
            <a:off x="3319272" y="2645908"/>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F1 test · CI95 57,0–59,2</a:t>
            </a:r>
            <a:endParaRPr lang="en-US" sz="1150" dirty="0"/>
          </a:p>
        </p:txBody>
      </p:sp>
      <p:sp>
        <p:nvSpPr>
          <p:cNvPr id="24" name="Shape 22"/>
          <p:cNvSpPr/>
          <p:nvPr/>
        </p:nvSpPr>
        <p:spPr>
          <a:xfrm>
            <a:off x="548640" y="3218688"/>
            <a:ext cx="2468880" cy="1170432"/>
          </a:xfrm>
          <a:prstGeom prst="roundRect">
            <a:avLst>
              <a:gd name="adj" fmla="val 6250"/>
            </a:avLst>
          </a:prstGeom>
          <a:solidFill>
            <a:srgbClr val="EEF4F7"/>
          </a:solidFill>
          <a:ln w="12700">
            <a:solidFill>
              <a:srgbClr val="EEF4F7"/>
            </a:solidFill>
            <a:prstDash val="solid"/>
          </a:ln>
        </p:spPr>
      </p:sp>
      <p:sp>
        <p:nvSpPr>
          <p:cNvPr id="25" name="Text 23"/>
          <p:cNvSpPr txBox="1"/>
          <p:nvPr/>
        </p:nvSpPr>
        <p:spPr>
          <a:xfrm>
            <a:off x="713232" y="3291840"/>
            <a:ext cx="2139696" cy="643738"/>
          </a:xfrm>
          <a:prstGeom prst="rect">
            <a:avLst/>
          </a:prstGeom>
          <a:noFill/>
          <a:ln/>
        </p:spPr>
        <p:txBody>
          <a:bodyPr wrap="square" lIns="0" tIns="0" rIns="0" bIns="0" rtlCol="0" anchor="ctr"/>
          <a:lstStyle/>
          <a:p>
            <a:pPr indent="0" marL="0">
              <a:buNone/>
            </a:pPr>
            <a:r>
              <a:rPr lang="en-US" sz="2600" b="1" dirty="0">
                <a:solidFill>
                  <a:srgbClr val="2A9D8F"/>
                </a:solidFill>
                <a:latin typeface="Cambria" pitchFamily="34" charset="0"/>
                <a:ea typeface="Cambria" pitchFamily="34" charset="-122"/>
                <a:cs typeface="Cambria" pitchFamily="34" charset="-120"/>
              </a:rPr>
              <a:t>+1,87</a:t>
            </a:r>
            <a:endParaRPr lang="en-US" sz="2600" dirty="0"/>
          </a:p>
        </p:txBody>
      </p:sp>
      <p:sp>
        <p:nvSpPr>
          <p:cNvPr id="26" name="Text 24"/>
          <p:cNvSpPr txBox="1"/>
          <p:nvPr/>
        </p:nvSpPr>
        <p:spPr>
          <a:xfrm>
            <a:off x="713232" y="3944356"/>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so với LogReg · CI95 [+1,4; +2,4]</a:t>
            </a:r>
            <a:endParaRPr lang="en-US" sz="1150" dirty="0"/>
          </a:p>
        </p:txBody>
      </p:sp>
      <p:sp>
        <p:nvSpPr>
          <p:cNvPr id="27" name="Shape 25"/>
          <p:cNvSpPr/>
          <p:nvPr/>
        </p:nvSpPr>
        <p:spPr>
          <a:xfrm>
            <a:off x="3154680" y="3218688"/>
            <a:ext cx="2468880" cy="1170432"/>
          </a:xfrm>
          <a:prstGeom prst="roundRect">
            <a:avLst>
              <a:gd name="adj" fmla="val 6250"/>
            </a:avLst>
          </a:prstGeom>
          <a:solidFill>
            <a:srgbClr val="EEF4F7"/>
          </a:solidFill>
          <a:ln w="12700">
            <a:solidFill>
              <a:srgbClr val="EEF4F7"/>
            </a:solidFill>
            <a:prstDash val="solid"/>
          </a:ln>
        </p:spPr>
      </p:sp>
      <p:sp>
        <p:nvSpPr>
          <p:cNvPr id="28" name="Text 26"/>
          <p:cNvSpPr txBox="1"/>
          <p:nvPr/>
        </p:nvSpPr>
        <p:spPr>
          <a:xfrm>
            <a:off x="3319272" y="3291840"/>
            <a:ext cx="2139696" cy="643738"/>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5,4%</a:t>
            </a:r>
            <a:endParaRPr lang="en-US" sz="2600" dirty="0"/>
          </a:p>
        </p:txBody>
      </p:sp>
      <p:sp>
        <p:nvSpPr>
          <p:cNvPr id="29" name="Text 27"/>
          <p:cNvSpPr txBox="1"/>
          <p:nvPr/>
        </p:nvSpPr>
        <p:spPr>
          <a:xfrm>
            <a:off x="3319272" y="3944356"/>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Recall thực thể chưa gặp trong train</a:t>
            </a:r>
            <a:endParaRPr lang="en-US" sz="1150" dirty="0"/>
          </a:p>
        </p:txBody>
      </p:sp>
      <p:graphicFrame>
        <p:nvGraphicFramePr>
          <p:cNvPr id="30" name="Chart 0" descr=""/>
          <p:cNvGraphicFramePr/>
          <p:nvPr/>
        </p:nvGraphicFramePr>
        <p:xfrm>
          <a:off x="5897880" y="1874520"/>
          <a:ext cx="5760720" cy="2606040"/>
        </p:xfrm>
        <a:graphic xmlns:a="http://schemas.openxmlformats.org/drawingml/2006/main">
          <a:graphicData uri="http://schemas.openxmlformats.org/drawingml/2006/chart">
            <c:chart xmlns:c="http://schemas.openxmlformats.org/drawingml/2006/chart" r:id="rId1"/>
          </a:graphicData>
        </a:graphic>
      </p:graphicFrame>
      <p:sp>
        <p:nvSpPr>
          <p:cNvPr id="31" name="Shape 28"/>
          <p:cNvSpPr/>
          <p:nvPr/>
        </p:nvSpPr>
        <p:spPr>
          <a:xfrm>
            <a:off x="548640" y="4663440"/>
            <a:ext cx="5440680" cy="1645920"/>
          </a:xfrm>
          <a:prstGeom prst="roundRect">
            <a:avLst>
              <a:gd name="adj" fmla="val 4444"/>
            </a:avLst>
          </a:prstGeom>
          <a:solidFill>
            <a:srgbClr val="E3F3F1"/>
          </a:solidFill>
          <a:ln w="12700">
            <a:solidFill>
              <a:srgbClr val="E3F3F1"/>
            </a:solidFill>
            <a:prstDash val="solid"/>
          </a:ln>
        </p:spPr>
      </p:sp>
      <p:sp>
        <p:nvSpPr>
          <p:cNvPr id="32" name="Text 29"/>
          <p:cNvSpPr txBox="1"/>
          <p:nvPr/>
        </p:nvSpPr>
        <p:spPr>
          <a:xfrm>
            <a:off x="749808" y="4754880"/>
            <a:ext cx="5029200" cy="365760"/>
          </a:xfrm>
          <a:prstGeom prst="rect">
            <a:avLst/>
          </a:prstGeom>
          <a:noFill/>
          <a:ln/>
        </p:spPr>
        <p:txBody>
          <a:bodyPr wrap="square" lIns="0" tIns="0" rIns="0" bIns="0" rtlCol="0" anchor="ctr"/>
          <a:lstStyle/>
          <a:p>
            <a:pPr indent="0" marL="0">
              <a:buNone/>
            </a:pPr>
            <a:r>
              <a:rPr lang="en-US" sz="1600" b="1" dirty="0">
                <a:solidFill>
                  <a:srgbClr val="2A9D8F"/>
                </a:solidFill>
                <a:latin typeface="Cambria" pitchFamily="34" charset="0"/>
                <a:ea typeface="Cambria" pitchFamily="34" charset="-122"/>
                <a:cs typeface="Cambria" pitchFamily="34" charset="-120"/>
              </a:rPr>
              <a:t>Học được</a:t>
            </a:r>
            <a:endParaRPr lang="en-US" sz="1600" dirty="0"/>
          </a:p>
        </p:txBody>
      </p:sp>
      <p:sp>
        <p:nvSpPr>
          <p:cNvPr id="33" name="Text 30"/>
          <p:cNvSpPr txBox="1"/>
          <p:nvPr/>
        </p:nvSpPr>
        <p:spPr>
          <a:xfrm>
            <a:off x="749808" y="5120640"/>
            <a:ext cx="5074920" cy="114300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Tăng nhỏ nhưng có ý nghĩa thống kê: </a:t>
            </a:r>
            <a:r>
              <a:rPr lang="en-US" sz="1350" b="1" dirty="0">
                <a:solidFill>
                  <a:srgbClr val="1B2733"/>
                </a:solidFill>
                <a:latin typeface="Calibri" pitchFamily="34" charset="0"/>
                <a:ea typeface="Calibri" pitchFamily="34" charset="-122"/>
                <a:cs typeface="Calibri" pitchFamily="34" charset="-120"/>
              </a:rPr>
              <a:t>+1,87</a:t>
            </a:r>
            <a:r>
              <a:rPr lang="en-US" sz="1350" dirty="0">
                <a:solidFill>
                  <a:srgbClr val="1B2733"/>
                </a:solidFill>
                <a:latin typeface="Calibri" pitchFamily="34" charset="0"/>
                <a:ea typeface="Calibri" pitchFamily="34" charset="-122"/>
                <a:cs typeface="Calibri" pitchFamily="34" charset="-120"/>
              </a:rPr>
              <a:t> điểm</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C = 0,01 underfit (70,5%), C = 10 overfit (81,7%) — minh hoạ bias–variance</a:t>
            </a:r>
            <a:endParaRPr lang="en-US" sz="1350" dirty="0"/>
          </a:p>
        </p:txBody>
      </p:sp>
      <p:sp>
        <p:nvSpPr>
          <p:cNvPr id="34" name="Shape 31"/>
          <p:cNvSpPr/>
          <p:nvPr/>
        </p:nvSpPr>
        <p:spPr>
          <a:xfrm>
            <a:off x="6217920" y="4663440"/>
            <a:ext cx="5440680" cy="1645920"/>
          </a:xfrm>
          <a:prstGeom prst="roundRect">
            <a:avLst>
              <a:gd name="adj" fmla="val 4444"/>
            </a:avLst>
          </a:prstGeom>
          <a:solidFill>
            <a:srgbClr val="FCE9E3"/>
          </a:solidFill>
          <a:ln w="12700">
            <a:solidFill>
              <a:srgbClr val="FCE9E3"/>
            </a:solidFill>
            <a:prstDash val="solid"/>
          </a:ln>
        </p:spPr>
      </p:sp>
      <p:sp>
        <p:nvSpPr>
          <p:cNvPr id="35" name="Text 32"/>
          <p:cNvSpPr txBox="1"/>
          <p:nvPr/>
        </p:nvSpPr>
        <p:spPr>
          <a:xfrm>
            <a:off x="6419088" y="4754880"/>
            <a:ext cx="5029200" cy="365760"/>
          </a:xfrm>
          <a:prstGeom prst="rect">
            <a:avLst/>
          </a:prstGeom>
          <a:noFill/>
          <a:ln/>
        </p:spPr>
        <p:txBody>
          <a:bodyPr wrap="square" lIns="0" tIns="0" rIns="0" bIns="0" rtlCol="0" anchor="ctr"/>
          <a:lstStyle/>
          <a:p>
            <a:pPr indent="0" marL="0">
              <a:buNone/>
            </a:pPr>
            <a:r>
              <a:rPr lang="en-US" sz="1600" b="1" dirty="0">
                <a:solidFill>
                  <a:srgbClr val="E4572E"/>
                </a:solidFill>
                <a:latin typeface="Cambria" pitchFamily="34" charset="0"/>
                <a:ea typeface="Cambria" pitchFamily="34" charset="-122"/>
                <a:cs typeface="Cambria" pitchFamily="34" charset="-120"/>
              </a:rPr>
              <a:t>Còn thiếu → lý do lên bậc 3</a:t>
            </a:r>
            <a:endParaRPr lang="en-US" sz="1600" dirty="0"/>
          </a:p>
        </p:txBody>
      </p:sp>
      <p:sp>
        <p:nvSpPr>
          <p:cNvPr id="36" name="Text 33"/>
          <p:cNvSpPr txBox="1"/>
          <p:nvPr/>
        </p:nvSpPr>
        <p:spPr>
          <a:xfrm>
            <a:off x="6419088" y="5120640"/>
            <a:ext cx="5074920" cy="114300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Vẫn </a:t>
            </a:r>
            <a:r>
              <a:rPr lang="en-US" sz="1350" b="1" dirty="0">
                <a:solidFill>
                  <a:srgbClr val="1B2733"/>
                </a:solidFill>
                <a:latin typeface="Calibri" pitchFamily="34" charset="0"/>
                <a:ea typeface="Calibri" pitchFamily="34" charset="-122"/>
                <a:cs typeface="Calibri" pitchFamily="34" charset="-120"/>
              </a:rPr>
              <a:t>1.175</a:t>
            </a:r>
            <a:r>
              <a:rPr lang="en-US" sz="1350" dirty="0">
                <a:solidFill>
                  <a:srgbClr val="1B2733"/>
                </a:solidFill>
                <a:latin typeface="Calibri" pitchFamily="34" charset="0"/>
                <a:ea typeface="Calibri" pitchFamily="34" charset="-122"/>
                <a:cs typeface="Calibri" pitchFamily="34" charset="-120"/>
              </a:rPr>
              <a:t> chuyển nhãn BIO vô lý; lệch ranh giới 1.865 thực thể</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Đổi thuật toán phân loại không sửa được lỗi cấu trúc chuỗi</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Bậc 3: CRF — mô hình hoá cả chuỗi</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8 / 18</a:t>
            </a:r>
            <a:endParaRPr lang="en-US" sz="1000" dirty="0"/>
          </a:p>
        </p:txBody>
      </p:sp>
      <p:sp>
        <p:nvSpPr>
          <p:cNvPr id="4" name="Shape 2"/>
          <p:cNvSpPr/>
          <p:nvPr/>
        </p:nvSpPr>
        <p:spPr>
          <a:xfrm>
            <a:off x="8366760" y="868680"/>
            <a:ext cx="548640" cy="182880"/>
          </a:xfrm>
          <a:prstGeom prst="rect">
            <a:avLst/>
          </a:prstGeom>
          <a:solidFill>
            <a:srgbClr val="2A9D8F"/>
          </a:solidFill>
          <a:ln w="12700">
            <a:solidFill>
              <a:srgbClr val="2A9D8F"/>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2A9D8F"/>
          </a:solidFill>
          <a:ln w="12700">
            <a:solidFill>
              <a:srgbClr val="2A9D8F"/>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E4572E"/>
          </a:solidFill>
          <a:ln w="12700">
            <a:solidFill>
              <a:srgbClr val="E4572E"/>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DDE5EB"/>
          </a:solidFill>
          <a:ln w="12700">
            <a:solidFill>
              <a:srgbClr val="DDE5EB"/>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DDE5EB"/>
          </a:solidFill>
          <a:ln w="12700">
            <a:solidFill>
              <a:srgbClr val="DDE5EB"/>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DDE5EB"/>
          </a:solidFill>
          <a:ln w="12700">
            <a:solidFill>
              <a:srgbClr val="DDE5EB"/>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6</a:t>
            </a:r>
            <a:endParaRPr lang="en-US" sz="1000" dirty="0"/>
          </a:p>
        </p:txBody>
      </p:sp>
      <p:sp>
        <p:nvSpPr>
          <p:cNvPr id="16" name="Shape 14"/>
          <p:cNvSpPr/>
          <p:nvPr/>
        </p:nvSpPr>
        <p:spPr>
          <a:xfrm>
            <a:off x="548640" y="1188720"/>
            <a:ext cx="11109960" cy="566928"/>
          </a:xfrm>
          <a:prstGeom prst="roundRect">
            <a:avLst>
              <a:gd name="adj" fmla="val 12903"/>
            </a:avLst>
          </a:prstGeom>
          <a:solidFill>
            <a:srgbClr val="FBF1DF"/>
          </a:solidFill>
          <a:ln w="12700">
            <a:solidFill>
              <a:srgbClr val="FBF1DF"/>
            </a:solidFill>
            <a:prstDash val="solid"/>
          </a:ln>
        </p:spPr>
      </p:sp>
      <p:sp>
        <p:nvSpPr>
          <p:cNvPr id="17" name="Text 15"/>
          <p:cNvSpPr txBox="1"/>
          <p:nvPr/>
        </p:nvSpPr>
        <p:spPr>
          <a:xfrm>
            <a:off x="731520" y="1188720"/>
            <a:ext cx="10789920" cy="566928"/>
          </a:xfrm>
          <a:prstGeom prst="rect">
            <a:avLst/>
          </a:prstGeom>
          <a:noFill/>
          <a:ln/>
        </p:spPr>
        <p:txBody>
          <a:bodyPr wrap="square" lIns="0" tIns="0" rIns="0" bIns="0" rtlCol="0" anchor="ctr"/>
          <a:lstStyle/>
          <a:p>
            <a:pPr algn="l" indent="0" marL="0">
              <a:buNone/>
            </a:pPr>
            <a:r>
              <a:rPr lang="en-US" sz="1500" b="1" dirty="0">
                <a:solidFill>
                  <a:srgbClr val="1B2733"/>
                </a:solidFill>
                <a:latin typeface="Calibri" pitchFamily="34" charset="0"/>
                <a:ea typeface="Calibri" pitchFamily="34" charset="-122"/>
                <a:cs typeface="Calibri" pitchFamily="34" charset="-120"/>
              </a:rPr>
              <a:t>Thay đổi so với bậc trước:</a:t>
            </a:r>
            <a:r>
              <a:rPr lang="en-US" sz="1500" dirty="0">
                <a:solidFill>
                  <a:srgbClr val="1B2733"/>
                </a:solidFill>
                <a:latin typeface="Calibri" pitchFamily="34" charset="0"/>
                <a:ea typeface="Calibri" pitchFamily="34" charset="-122"/>
                <a:cs typeface="Calibri" pitchFamily="34" charset="-120"/>
              </a:rPr>
              <a:t> Thêm </a:t>
            </a:r>
            <a:r>
              <a:rPr lang="en-US" sz="1500" b="1" dirty="0">
                <a:solidFill>
                  <a:srgbClr val="1B2733"/>
                </a:solidFill>
                <a:latin typeface="Calibri" pitchFamily="34" charset="0"/>
                <a:ea typeface="Calibri" pitchFamily="34" charset="-122"/>
                <a:cs typeface="Calibri" pitchFamily="34" charset="-120"/>
              </a:rPr>
              <a:t>xác suất chuyển giữa các nhãn liền kề</a:t>
            </a:r>
            <a:r>
              <a:rPr lang="en-US" sz="1500" dirty="0">
                <a:solidFill>
                  <a:srgbClr val="1B2733"/>
                </a:solidFill>
                <a:latin typeface="Calibri" pitchFamily="34" charset="0"/>
                <a:ea typeface="Calibri" pitchFamily="34" charset="-122"/>
                <a:cs typeface="Calibri" pitchFamily="34" charset="-120"/>
              </a:rPr>
              <a:t>; cùng đặc trưng thủ công, giải mã cả câu một lúc.</a:t>
            </a:r>
            <a:endParaRPr lang="en-US" sz="1500" dirty="0"/>
          </a:p>
        </p:txBody>
      </p:sp>
      <p:sp>
        <p:nvSpPr>
          <p:cNvPr id="18" name="Shape 16"/>
          <p:cNvSpPr/>
          <p:nvPr/>
        </p:nvSpPr>
        <p:spPr>
          <a:xfrm>
            <a:off x="548640" y="1920240"/>
            <a:ext cx="2468880" cy="1170432"/>
          </a:xfrm>
          <a:prstGeom prst="roundRect">
            <a:avLst>
              <a:gd name="adj" fmla="val 6250"/>
            </a:avLst>
          </a:prstGeom>
          <a:solidFill>
            <a:srgbClr val="EEF4F7"/>
          </a:solidFill>
          <a:ln w="12700">
            <a:solidFill>
              <a:srgbClr val="EEF4F7"/>
            </a:solidFill>
            <a:prstDash val="solid"/>
          </a:ln>
        </p:spPr>
      </p:sp>
      <p:sp>
        <p:nvSpPr>
          <p:cNvPr id="19" name="Text 17"/>
          <p:cNvSpPr txBox="1"/>
          <p:nvPr/>
        </p:nvSpPr>
        <p:spPr>
          <a:xfrm>
            <a:off x="713232" y="1993392"/>
            <a:ext cx="2139696" cy="643738"/>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89,2%</a:t>
            </a:r>
            <a:endParaRPr lang="en-US" sz="2600" dirty="0"/>
          </a:p>
        </p:txBody>
      </p:sp>
      <p:sp>
        <p:nvSpPr>
          <p:cNvPr id="20" name="Text 18"/>
          <p:cNvSpPr txBox="1"/>
          <p:nvPr/>
        </p:nvSpPr>
        <p:spPr>
          <a:xfrm>
            <a:off x="713232" y="2645908"/>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F1 validation (cùng miền)</a:t>
            </a:r>
            <a:endParaRPr lang="en-US" sz="1150" dirty="0"/>
          </a:p>
        </p:txBody>
      </p:sp>
      <p:sp>
        <p:nvSpPr>
          <p:cNvPr id="21" name="Shape 19"/>
          <p:cNvSpPr/>
          <p:nvPr/>
        </p:nvSpPr>
        <p:spPr>
          <a:xfrm>
            <a:off x="3154680" y="1920240"/>
            <a:ext cx="2468880" cy="1170432"/>
          </a:xfrm>
          <a:prstGeom prst="roundRect">
            <a:avLst>
              <a:gd name="adj" fmla="val 6250"/>
            </a:avLst>
          </a:prstGeom>
          <a:solidFill>
            <a:srgbClr val="EEF4F7"/>
          </a:solidFill>
          <a:ln w="12700">
            <a:solidFill>
              <a:srgbClr val="EEF4F7"/>
            </a:solidFill>
            <a:prstDash val="solid"/>
          </a:ln>
        </p:spPr>
      </p:sp>
      <p:sp>
        <p:nvSpPr>
          <p:cNvPr id="22" name="Text 20"/>
          <p:cNvSpPr txBox="1"/>
          <p:nvPr/>
        </p:nvSpPr>
        <p:spPr>
          <a:xfrm>
            <a:off x="3319272" y="1993392"/>
            <a:ext cx="2139696" cy="643738"/>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63,8%</a:t>
            </a:r>
            <a:endParaRPr lang="en-US" sz="2600" dirty="0"/>
          </a:p>
        </p:txBody>
      </p:sp>
      <p:sp>
        <p:nvSpPr>
          <p:cNvPr id="23" name="Text 21"/>
          <p:cNvSpPr txBox="1"/>
          <p:nvPr/>
        </p:nvSpPr>
        <p:spPr>
          <a:xfrm>
            <a:off x="3319272" y="2645908"/>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F1 test · CI95 62,6–64,9</a:t>
            </a:r>
            <a:endParaRPr lang="en-US" sz="1150" dirty="0"/>
          </a:p>
        </p:txBody>
      </p:sp>
      <p:sp>
        <p:nvSpPr>
          <p:cNvPr id="24" name="Shape 22"/>
          <p:cNvSpPr/>
          <p:nvPr/>
        </p:nvSpPr>
        <p:spPr>
          <a:xfrm>
            <a:off x="548640" y="3218688"/>
            <a:ext cx="2468880" cy="1170432"/>
          </a:xfrm>
          <a:prstGeom prst="roundRect">
            <a:avLst>
              <a:gd name="adj" fmla="val 6250"/>
            </a:avLst>
          </a:prstGeom>
          <a:solidFill>
            <a:srgbClr val="EEF4F7"/>
          </a:solidFill>
          <a:ln w="12700">
            <a:solidFill>
              <a:srgbClr val="EEF4F7"/>
            </a:solidFill>
            <a:prstDash val="solid"/>
          </a:ln>
        </p:spPr>
      </p:sp>
      <p:sp>
        <p:nvSpPr>
          <p:cNvPr id="25" name="Text 23"/>
          <p:cNvSpPr txBox="1"/>
          <p:nvPr/>
        </p:nvSpPr>
        <p:spPr>
          <a:xfrm>
            <a:off x="713232" y="3291840"/>
            <a:ext cx="2139696" cy="643738"/>
          </a:xfrm>
          <a:prstGeom prst="rect">
            <a:avLst/>
          </a:prstGeom>
          <a:noFill/>
          <a:ln/>
        </p:spPr>
        <p:txBody>
          <a:bodyPr wrap="square" lIns="0" tIns="0" rIns="0" bIns="0" rtlCol="0" anchor="ctr"/>
          <a:lstStyle/>
          <a:p>
            <a:pPr indent="0" marL="0">
              <a:buNone/>
            </a:pPr>
            <a:r>
              <a:rPr lang="en-US" sz="2600" b="1" dirty="0">
                <a:solidFill>
                  <a:srgbClr val="2A9D8F"/>
                </a:solidFill>
                <a:latin typeface="Cambria" pitchFamily="34" charset="0"/>
                <a:ea typeface="Cambria" pitchFamily="34" charset="-122"/>
                <a:cs typeface="Cambria" pitchFamily="34" charset="-120"/>
              </a:rPr>
              <a:t>+5,70</a:t>
            </a:r>
            <a:endParaRPr lang="en-US" sz="2600" dirty="0"/>
          </a:p>
        </p:txBody>
      </p:sp>
      <p:sp>
        <p:nvSpPr>
          <p:cNvPr id="26" name="Text 24"/>
          <p:cNvSpPr txBox="1"/>
          <p:nvPr/>
        </p:nvSpPr>
        <p:spPr>
          <a:xfrm>
            <a:off x="713232" y="3944356"/>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so với Linear SVM · CI95 [+4,9; +6,5]</a:t>
            </a:r>
            <a:endParaRPr lang="en-US" sz="1150" dirty="0"/>
          </a:p>
        </p:txBody>
      </p:sp>
      <p:sp>
        <p:nvSpPr>
          <p:cNvPr id="27" name="Shape 25"/>
          <p:cNvSpPr/>
          <p:nvPr/>
        </p:nvSpPr>
        <p:spPr>
          <a:xfrm>
            <a:off x="3154680" y="3218688"/>
            <a:ext cx="2468880" cy="1170432"/>
          </a:xfrm>
          <a:prstGeom prst="roundRect">
            <a:avLst>
              <a:gd name="adj" fmla="val 6250"/>
            </a:avLst>
          </a:prstGeom>
          <a:solidFill>
            <a:srgbClr val="EEF4F7"/>
          </a:solidFill>
          <a:ln w="12700">
            <a:solidFill>
              <a:srgbClr val="EEF4F7"/>
            </a:solidFill>
            <a:prstDash val="solid"/>
          </a:ln>
        </p:spPr>
      </p:sp>
      <p:sp>
        <p:nvSpPr>
          <p:cNvPr id="28" name="Text 26"/>
          <p:cNvSpPr txBox="1"/>
          <p:nvPr/>
        </p:nvSpPr>
        <p:spPr>
          <a:xfrm>
            <a:off x="3319272" y="3291840"/>
            <a:ext cx="2139696" cy="643738"/>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13,9%</a:t>
            </a:r>
            <a:endParaRPr lang="en-US" sz="2600" dirty="0"/>
          </a:p>
        </p:txBody>
      </p:sp>
      <p:sp>
        <p:nvSpPr>
          <p:cNvPr id="29" name="Text 27"/>
          <p:cNvSpPr txBox="1"/>
          <p:nvPr/>
        </p:nvSpPr>
        <p:spPr>
          <a:xfrm>
            <a:off x="3319272" y="3944356"/>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Recall thực thể chưa gặp trong train</a:t>
            </a:r>
            <a:endParaRPr lang="en-US" sz="1150" dirty="0"/>
          </a:p>
        </p:txBody>
      </p:sp>
      <p:graphicFrame>
        <p:nvGraphicFramePr>
          <p:cNvPr id="30" name="Chart 0" descr=""/>
          <p:cNvGraphicFramePr/>
          <p:nvPr/>
        </p:nvGraphicFramePr>
        <p:xfrm>
          <a:off x="5897880" y="1874520"/>
          <a:ext cx="5760720" cy="2606040"/>
        </p:xfrm>
        <a:graphic xmlns:a="http://schemas.openxmlformats.org/drawingml/2006/main">
          <a:graphicData uri="http://schemas.openxmlformats.org/drawingml/2006/chart">
            <c:chart xmlns:c="http://schemas.openxmlformats.org/drawingml/2006/chart" r:id="rId1"/>
          </a:graphicData>
        </a:graphic>
      </p:graphicFrame>
      <p:sp>
        <p:nvSpPr>
          <p:cNvPr id="31" name="Shape 28"/>
          <p:cNvSpPr/>
          <p:nvPr/>
        </p:nvSpPr>
        <p:spPr>
          <a:xfrm>
            <a:off x="548640" y="4663440"/>
            <a:ext cx="5440680" cy="1645920"/>
          </a:xfrm>
          <a:prstGeom prst="roundRect">
            <a:avLst>
              <a:gd name="adj" fmla="val 4444"/>
            </a:avLst>
          </a:prstGeom>
          <a:solidFill>
            <a:srgbClr val="E3F3F1"/>
          </a:solidFill>
          <a:ln w="12700">
            <a:solidFill>
              <a:srgbClr val="E3F3F1"/>
            </a:solidFill>
            <a:prstDash val="solid"/>
          </a:ln>
        </p:spPr>
      </p:sp>
      <p:sp>
        <p:nvSpPr>
          <p:cNvPr id="32" name="Text 29"/>
          <p:cNvSpPr txBox="1"/>
          <p:nvPr/>
        </p:nvSpPr>
        <p:spPr>
          <a:xfrm>
            <a:off x="749808" y="4754880"/>
            <a:ext cx="5029200" cy="365760"/>
          </a:xfrm>
          <a:prstGeom prst="rect">
            <a:avLst/>
          </a:prstGeom>
          <a:noFill/>
          <a:ln/>
        </p:spPr>
        <p:txBody>
          <a:bodyPr wrap="square" lIns="0" tIns="0" rIns="0" bIns="0" rtlCol="0" anchor="ctr"/>
          <a:lstStyle/>
          <a:p>
            <a:pPr indent="0" marL="0">
              <a:buNone/>
            </a:pPr>
            <a:r>
              <a:rPr lang="en-US" sz="1600" b="1" dirty="0">
                <a:solidFill>
                  <a:srgbClr val="2A9D8F"/>
                </a:solidFill>
                <a:latin typeface="Cambria" pitchFamily="34" charset="0"/>
                <a:ea typeface="Cambria" pitchFamily="34" charset="-122"/>
                <a:cs typeface="Cambria" pitchFamily="34" charset="-120"/>
              </a:rPr>
              <a:t>Học được</a:t>
            </a:r>
            <a:endParaRPr lang="en-US" sz="1600" dirty="0"/>
          </a:p>
        </p:txBody>
      </p:sp>
      <p:sp>
        <p:nvSpPr>
          <p:cNvPr id="33" name="Text 30"/>
          <p:cNvSpPr txBox="1"/>
          <p:nvPr/>
        </p:nvSpPr>
        <p:spPr>
          <a:xfrm>
            <a:off x="749808" y="5120640"/>
            <a:ext cx="5074920" cy="114300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Bước nhảy lớn nhất thang: </a:t>
            </a:r>
            <a:r>
              <a:rPr lang="en-US" sz="1350" b="1" dirty="0">
                <a:solidFill>
                  <a:srgbClr val="1B2733"/>
                </a:solidFill>
                <a:latin typeface="Calibri" pitchFamily="34" charset="0"/>
                <a:ea typeface="Calibri" pitchFamily="34" charset="-122"/>
                <a:cs typeface="Calibri" pitchFamily="34" charset="-120"/>
              </a:rPr>
              <a:t>+5,70</a:t>
            </a:r>
            <a:r>
              <a:rPr lang="en-US" sz="1350" dirty="0">
                <a:solidFill>
                  <a:srgbClr val="1B2733"/>
                </a:solidFill>
                <a:latin typeface="Calibri" pitchFamily="34" charset="0"/>
                <a:ea typeface="Calibri" pitchFamily="34" charset="-122"/>
                <a:cs typeface="Calibri" pitchFamily="34" charset="-120"/>
              </a:rPr>
              <a:t> điểm; F1 test </a:t>
            </a:r>
            <a:r>
              <a:rPr lang="en-US" sz="1350" b="1" dirty="0">
                <a:solidFill>
                  <a:srgbClr val="1B2733"/>
                </a:solidFill>
                <a:latin typeface="Calibri" pitchFamily="34" charset="0"/>
                <a:ea typeface="Calibri" pitchFamily="34" charset="-122"/>
                <a:cs typeface="Calibri" pitchFamily="34" charset="-120"/>
              </a:rPr>
              <a:t>63,80%</a:t>
            </a:r>
            <a:r>
              <a:rPr lang="en-US" sz="1350" dirty="0">
                <a:solidFill>
                  <a:srgbClr val="1B2733"/>
                </a:solidFill>
                <a:latin typeface="Calibri" pitchFamily="34" charset="0"/>
                <a:ea typeface="Calibri" pitchFamily="34" charset="-122"/>
                <a:cs typeface="Calibri" pitchFamily="34" charset="-120"/>
              </a:rPr>
              <a:t> — cao nhất theo strict</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Chuyển nhãn vô lý giảm còn </a:t>
            </a:r>
            <a:r>
              <a:rPr lang="en-US" sz="1350" b="1" dirty="0">
                <a:solidFill>
                  <a:srgbClr val="1B2733"/>
                </a:solidFill>
                <a:latin typeface="Calibri" pitchFamily="34" charset="0"/>
                <a:ea typeface="Calibri" pitchFamily="34" charset="-122"/>
                <a:cs typeface="Calibri" pitchFamily="34" charset="-120"/>
              </a:rPr>
              <a:t>9</a:t>
            </a:r>
            <a:r>
              <a:rPr lang="en-US" sz="1350" dirty="0">
                <a:solidFill>
                  <a:srgbClr val="1B2733"/>
                </a:solidFill>
                <a:latin typeface="Calibri" pitchFamily="34" charset="0"/>
                <a:ea typeface="Calibri" pitchFamily="34" charset="-122"/>
                <a:cs typeface="Calibri" pitchFamily="34" charset="-120"/>
              </a:rPr>
              <a:t>; precision cao nhất (65,8%)</a:t>
            </a:r>
            <a:endParaRPr lang="en-US" sz="1350" dirty="0"/>
          </a:p>
        </p:txBody>
      </p:sp>
      <p:sp>
        <p:nvSpPr>
          <p:cNvPr id="34" name="Shape 31"/>
          <p:cNvSpPr/>
          <p:nvPr/>
        </p:nvSpPr>
        <p:spPr>
          <a:xfrm>
            <a:off x="6217920" y="4663440"/>
            <a:ext cx="5440680" cy="1645920"/>
          </a:xfrm>
          <a:prstGeom prst="roundRect">
            <a:avLst>
              <a:gd name="adj" fmla="val 4444"/>
            </a:avLst>
          </a:prstGeom>
          <a:solidFill>
            <a:srgbClr val="FCE9E3"/>
          </a:solidFill>
          <a:ln w="12700">
            <a:solidFill>
              <a:srgbClr val="FCE9E3"/>
            </a:solidFill>
            <a:prstDash val="solid"/>
          </a:ln>
        </p:spPr>
      </p:sp>
      <p:sp>
        <p:nvSpPr>
          <p:cNvPr id="35" name="Text 32"/>
          <p:cNvSpPr txBox="1"/>
          <p:nvPr/>
        </p:nvSpPr>
        <p:spPr>
          <a:xfrm>
            <a:off x="6419088" y="4754880"/>
            <a:ext cx="5029200" cy="365760"/>
          </a:xfrm>
          <a:prstGeom prst="rect">
            <a:avLst/>
          </a:prstGeom>
          <a:noFill/>
          <a:ln/>
        </p:spPr>
        <p:txBody>
          <a:bodyPr wrap="square" lIns="0" tIns="0" rIns="0" bIns="0" rtlCol="0" anchor="ctr"/>
          <a:lstStyle/>
          <a:p>
            <a:pPr indent="0" marL="0">
              <a:buNone/>
            </a:pPr>
            <a:r>
              <a:rPr lang="en-US" sz="1600" b="1" dirty="0">
                <a:solidFill>
                  <a:srgbClr val="E4572E"/>
                </a:solidFill>
                <a:latin typeface="Cambria" pitchFamily="34" charset="0"/>
                <a:ea typeface="Cambria" pitchFamily="34" charset="-122"/>
                <a:cs typeface="Cambria" pitchFamily="34" charset="-120"/>
              </a:rPr>
              <a:t>Còn thiếu → lý do lên bậc 4</a:t>
            </a:r>
            <a:endParaRPr lang="en-US" sz="1600" dirty="0"/>
          </a:p>
        </p:txBody>
      </p:sp>
      <p:sp>
        <p:nvSpPr>
          <p:cNvPr id="36" name="Text 33"/>
          <p:cNvSpPr txBox="1"/>
          <p:nvPr/>
        </p:nvSpPr>
        <p:spPr>
          <a:xfrm>
            <a:off x="6419088" y="5120640"/>
            <a:ext cx="5074920" cy="114300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Train F1 ≈ 100% ⇒ </a:t>
            </a:r>
            <a:r>
              <a:rPr lang="en-US" sz="1350" b="1" dirty="0">
                <a:solidFill>
                  <a:srgbClr val="1B2733"/>
                </a:solidFill>
                <a:latin typeface="Calibri" pitchFamily="34" charset="0"/>
                <a:ea typeface="Calibri" pitchFamily="34" charset="-122"/>
                <a:cs typeface="Calibri" pitchFamily="34" charset="-120"/>
              </a:rPr>
              <a:t>ghi nhớ</a:t>
            </a:r>
            <a:r>
              <a:rPr lang="en-US" sz="1350" dirty="0">
                <a:solidFill>
                  <a:srgbClr val="1B2733"/>
                </a:solidFill>
                <a:latin typeface="Calibri" pitchFamily="34" charset="0"/>
                <a:ea typeface="Calibri" pitchFamily="34" charset="-122"/>
                <a:cs typeface="Calibri" pitchFamily="34" charset="-120"/>
              </a:rPr>
              <a:t>; recall thực thể đã gặp 83,2% nhưng chưa gặp chỉ </a:t>
            </a:r>
            <a:r>
              <a:rPr lang="en-US" sz="1350" b="1" dirty="0">
                <a:solidFill>
                  <a:srgbClr val="1B2733"/>
                </a:solidFill>
                <a:latin typeface="Calibri" pitchFamily="34" charset="0"/>
                <a:ea typeface="Calibri" pitchFamily="34" charset="-122"/>
                <a:cs typeface="Calibri" pitchFamily="34" charset="-120"/>
              </a:rPr>
              <a:t>13,9%</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Cần tri thức ngôn ngữ để nhận ra thực thể mới</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Bậc 4: XLM-RoBERTa — tri thức từ pretraining</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9 / 18</a:t>
            </a:r>
            <a:endParaRPr lang="en-US" sz="1000" dirty="0"/>
          </a:p>
        </p:txBody>
      </p:sp>
      <p:sp>
        <p:nvSpPr>
          <p:cNvPr id="4" name="Shape 2"/>
          <p:cNvSpPr/>
          <p:nvPr/>
        </p:nvSpPr>
        <p:spPr>
          <a:xfrm>
            <a:off x="8366760" y="868680"/>
            <a:ext cx="548640" cy="182880"/>
          </a:xfrm>
          <a:prstGeom prst="rect">
            <a:avLst/>
          </a:prstGeom>
          <a:solidFill>
            <a:srgbClr val="2A9D8F"/>
          </a:solidFill>
          <a:ln w="12700">
            <a:solidFill>
              <a:srgbClr val="2A9D8F"/>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2A9D8F"/>
          </a:solidFill>
          <a:ln w="12700">
            <a:solidFill>
              <a:srgbClr val="2A9D8F"/>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2A9D8F"/>
          </a:solidFill>
          <a:ln w="12700">
            <a:solidFill>
              <a:srgbClr val="2A9D8F"/>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E4572E"/>
          </a:solidFill>
          <a:ln w="12700">
            <a:solidFill>
              <a:srgbClr val="E4572E"/>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DDE5EB"/>
          </a:solidFill>
          <a:ln w="12700">
            <a:solidFill>
              <a:srgbClr val="DDE5EB"/>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DDE5EB"/>
          </a:solidFill>
          <a:ln w="12700">
            <a:solidFill>
              <a:srgbClr val="DDE5EB"/>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6</a:t>
            </a:r>
            <a:endParaRPr lang="en-US" sz="1000" dirty="0"/>
          </a:p>
        </p:txBody>
      </p:sp>
      <p:sp>
        <p:nvSpPr>
          <p:cNvPr id="16" name="Shape 14"/>
          <p:cNvSpPr/>
          <p:nvPr/>
        </p:nvSpPr>
        <p:spPr>
          <a:xfrm>
            <a:off x="548640" y="1188720"/>
            <a:ext cx="11109960" cy="566928"/>
          </a:xfrm>
          <a:prstGeom prst="roundRect">
            <a:avLst>
              <a:gd name="adj" fmla="val 12903"/>
            </a:avLst>
          </a:prstGeom>
          <a:solidFill>
            <a:srgbClr val="FBF1DF"/>
          </a:solidFill>
          <a:ln w="12700">
            <a:solidFill>
              <a:srgbClr val="FBF1DF"/>
            </a:solidFill>
            <a:prstDash val="solid"/>
          </a:ln>
        </p:spPr>
      </p:sp>
      <p:sp>
        <p:nvSpPr>
          <p:cNvPr id="17" name="Text 15"/>
          <p:cNvSpPr txBox="1"/>
          <p:nvPr/>
        </p:nvSpPr>
        <p:spPr>
          <a:xfrm>
            <a:off x="731520" y="1188720"/>
            <a:ext cx="10789920" cy="566928"/>
          </a:xfrm>
          <a:prstGeom prst="rect">
            <a:avLst/>
          </a:prstGeom>
          <a:noFill/>
          <a:ln/>
        </p:spPr>
        <p:txBody>
          <a:bodyPr wrap="square" lIns="0" tIns="0" rIns="0" bIns="0" rtlCol="0" anchor="ctr"/>
          <a:lstStyle/>
          <a:p>
            <a:pPr algn="l" indent="0" marL="0">
              <a:buNone/>
            </a:pPr>
            <a:r>
              <a:rPr lang="en-US" sz="1500" b="1" dirty="0">
                <a:solidFill>
                  <a:srgbClr val="1B2733"/>
                </a:solidFill>
                <a:latin typeface="Calibri" pitchFamily="34" charset="0"/>
                <a:ea typeface="Calibri" pitchFamily="34" charset="-122"/>
                <a:cs typeface="Calibri" pitchFamily="34" charset="-120"/>
              </a:rPr>
              <a:t>Thay đổi so với bậc trước:</a:t>
            </a:r>
            <a:r>
              <a:rPr lang="en-US" sz="1500" dirty="0">
                <a:solidFill>
                  <a:srgbClr val="1B2733"/>
                </a:solidFill>
                <a:latin typeface="Calibri" pitchFamily="34" charset="0"/>
                <a:ea typeface="Calibri" pitchFamily="34" charset="-122"/>
                <a:cs typeface="Calibri" pitchFamily="34" charset="-120"/>
              </a:rPr>
              <a:t> Đặc trưng thủ công → </a:t>
            </a:r>
            <a:r>
              <a:rPr lang="en-US" sz="1500" b="1" dirty="0">
                <a:solidFill>
                  <a:srgbClr val="1B2733"/>
                </a:solidFill>
                <a:latin typeface="Calibri" pitchFamily="34" charset="0"/>
                <a:ea typeface="Calibri" pitchFamily="34" charset="-122"/>
                <a:cs typeface="Calibri" pitchFamily="34" charset="-120"/>
              </a:rPr>
              <a:t>biểu diễn học từ pretraining</a:t>
            </a:r>
            <a:r>
              <a:rPr lang="en-US" sz="1500" dirty="0">
                <a:solidFill>
                  <a:srgbClr val="1B2733"/>
                </a:solidFill>
                <a:latin typeface="Calibri" pitchFamily="34" charset="0"/>
                <a:ea typeface="Calibri" pitchFamily="34" charset="-122"/>
                <a:cs typeface="Calibri" pitchFamily="34" charset="-120"/>
              </a:rPr>
              <a:t> trên ~100 ngôn ngữ (checkpoint của tác giả bộ dữ liệu).</a:t>
            </a:r>
            <a:endParaRPr lang="en-US" sz="1500" dirty="0"/>
          </a:p>
        </p:txBody>
      </p:sp>
      <p:sp>
        <p:nvSpPr>
          <p:cNvPr id="18" name="Shape 16"/>
          <p:cNvSpPr/>
          <p:nvPr/>
        </p:nvSpPr>
        <p:spPr>
          <a:xfrm>
            <a:off x="548640" y="1920240"/>
            <a:ext cx="2468880" cy="1170432"/>
          </a:xfrm>
          <a:prstGeom prst="roundRect">
            <a:avLst>
              <a:gd name="adj" fmla="val 6250"/>
            </a:avLst>
          </a:prstGeom>
          <a:solidFill>
            <a:srgbClr val="EEF4F7"/>
          </a:solidFill>
          <a:ln w="12700">
            <a:solidFill>
              <a:srgbClr val="EEF4F7"/>
            </a:solidFill>
            <a:prstDash val="solid"/>
          </a:ln>
        </p:spPr>
      </p:sp>
      <p:sp>
        <p:nvSpPr>
          <p:cNvPr id="19" name="Text 17"/>
          <p:cNvSpPr txBox="1"/>
          <p:nvPr/>
        </p:nvSpPr>
        <p:spPr>
          <a:xfrm>
            <a:off x="713232" y="1993392"/>
            <a:ext cx="2139696" cy="643738"/>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79,9%</a:t>
            </a:r>
            <a:endParaRPr lang="en-US" sz="2600" dirty="0"/>
          </a:p>
        </p:txBody>
      </p:sp>
      <p:sp>
        <p:nvSpPr>
          <p:cNvPr id="20" name="Text 18"/>
          <p:cNvSpPr txBox="1"/>
          <p:nvPr/>
        </p:nvSpPr>
        <p:spPr>
          <a:xfrm>
            <a:off x="713232" y="2645908"/>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F1 validation (cùng miền)</a:t>
            </a:r>
            <a:endParaRPr lang="en-US" sz="1150" dirty="0"/>
          </a:p>
        </p:txBody>
      </p:sp>
      <p:sp>
        <p:nvSpPr>
          <p:cNvPr id="21" name="Shape 19"/>
          <p:cNvSpPr/>
          <p:nvPr/>
        </p:nvSpPr>
        <p:spPr>
          <a:xfrm>
            <a:off x="3154680" y="1920240"/>
            <a:ext cx="2468880" cy="1170432"/>
          </a:xfrm>
          <a:prstGeom prst="roundRect">
            <a:avLst>
              <a:gd name="adj" fmla="val 6250"/>
            </a:avLst>
          </a:prstGeom>
          <a:solidFill>
            <a:srgbClr val="EEF4F7"/>
          </a:solidFill>
          <a:ln w="12700">
            <a:solidFill>
              <a:srgbClr val="EEF4F7"/>
            </a:solidFill>
            <a:prstDash val="solid"/>
          </a:ln>
        </p:spPr>
      </p:sp>
      <p:sp>
        <p:nvSpPr>
          <p:cNvPr id="22" name="Text 20"/>
          <p:cNvSpPr txBox="1"/>
          <p:nvPr/>
        </p:nvSpPr>
        <p:spPr>
          <a:xfrm>
            <a:off x="3319272" y="1993392"/>
            <a:ext cx="2139696" cy="643738"/>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58,6%</a:t>
            </a:r>
            <a:endParaRPr lang="en-US" sz="2600" dirty="0"/>
          </a:p>
        </p:txBody>
      </p:sp>
      <p:sp>
        <p:nvSpPr>
          <p:cNvPr id="23" name="Text 21"/>
          <p:cNvSpPr txBox="1"/>
          <p:nvPr/>
        </p:nvSpPr>
        <p:spPr>
          <a:xfrm>
            <a:off x="3319272" y="2645908"/>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F1 test · CI95 57,5–59,7</a:t>
            </a:r>
            <a:endParaRPr lang="en-US" sz="1150" dirty="0"/>
          </a:p>
        </p:txBody>
      </p:sp>
      <p:sp>
        <p:nvSpPr>
          <p:cNvPr id="24" name="Shape 22"/>
          <p:cNvSpPr/>
          <p:nvPr/>
        </p:nvSpPr>
        <p:spPr>
          <a:xfrm>
            <a:off x="548640" y="3218688"/>
            <a:ext cx="2468880" cy="1170432"/>
          </a:xfrm>
          <a:prstGeom prst="roundRect">
            <a:avLst>
              <a:gd name="adj" fmla="val 6250"/>
            </a:avLst>
          </a:prstGeom>
          <a:solidFill>
            <a:srgbClr val="EEF4F7"/>
          </a:solidFill>
          <a:ln w="12700">
            <a:solidFill>
              <a:srgbClr val="EEF4F7"/>
            </a:solidFill>
            <a:prstDash val="solid"/>
          </a:ln>
        </p:spPr>
      </p:sp>
      <p:sp>
        <p:nvSpPr>
          <p:cNvPr id="25" name="Text 23"/>
          <p:cNvSpPr txBox="1"/>
          <p:nvPr/>
        </p:nvSpPr>
        <p:spPr>
          <a:xfrm>
            <a:off x="713232" y="3291840"/>
            <a:ext cx="2139696" cy="643738"/>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−5,17</a:t>
            </a:r>
            <a:endParaRPr lang="en-US" sz="2600" dirty="0"/>
          </a:p>
        </p:txBody>
      </p:sp>
      <p:sp>
        <p:nvSpPr>
          <p:cNvPr id="26" name="Text 24"/>
          <p:cNvSpPr txBox="1"/>
          <p:nvPr/>
        </p:nvSpPr>
        <p:spPr>
          <a:xfrm>
            <a:off x="713232" y="3944356"/>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so với CRF · CI95 [−6,3; −4,1]</a:t>
            </a:r>
            <a:endParaRPr lang="en-US" sz="1150" dirty="0"/>
          </a:p>
        </p:txBody>
      </p:sp>
      <p:sp>
        <p:nvSpPr>
          <p:cNvPr id="27" name="Shape 25"/>
          <p:cNvSpPr/>
          <p:nvPr/>
        </p:nvSpPr>
        <p:spPr>
          <a:xfrm>
            <a:off x="3154680" y="3218688"/>
            <a:ext cx="2468880" cy="1170432"/>
          </a:xfrm>
          <a:prstGeom prst="roundRect">
            <a:avLst>
              <a:gd name="adj" fmla="val 6250"/>
            </a:avLst>
          </a:prstGeom>
          <a:solidFill>
            <a:srgbClr val="EEF4F7"/>
          </a:solidFill>
          <a:ln w="12700">
            <a:solidFill>
              <a:srgbClr val="EEF4F7"/>
            </a:solidFill>
            <a:prstDash val="solid"/>
          </a:ln>
        </p:spPr>
      </p:sp>
      <p:sp>
        <p:nvSpPr>
          <p:cNvPr id="28" name="Text 26"/>
          <p:cNvSpPr txBox="1"/>
          <p:nvPr/>
        </p:nvSpPr>
        <p:spPr>
          <a:xfrm>
            <a:off x="3319272" y="3291840"/>
            <a:ext cx="2139696" cy="643738"/>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41,2%</a:t>
            </a:r>
            <a:endParaRPr lang="en-US" sz="2600" dirty="0"/>
          </a:p>
        </p:txBody>
      </p:sp>
      <p:sp>
        <p:nvSpPr>
          <p:cNvPr id="29" name="Text 27"/>
          <p:cNvSpPr txBox="1"/>
          <p:nvPr/>
        </p:nvSpPr>
        <p:spPr>
          <a:xfrm>
            <a:off x="3319272" y="3944356"/>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Recall thực thể chưa gặp trong train</a:t>
            </a:r>
            <a:endParaRPr lang="en-US" sz="1150" dirty="0"/>
          </a:p>
        </p:txBody>
      </p:sp>
      <p:graphicFrame>
        <p:nvGraphicFramePr>
          <p:cNvPr id="30" name="Chart 0" descr=""/>
          <p:cNvGraphicFramePr/>
          <p:nvPr/>
        </p:nvGraphicFramePr>
        <p:xfrm>
          <a:off x="5897880" y="1874520"/>
          <a:ext cx="5760720" cy="2606040"/>
        </p:xfrm>
        <a:graphic xmlns:a="http://schemas.openxmlformats.org/drawingml/2006/main">
          <a:graphicData uri="http://schemas.openxmlformats.org/drawingml/2006/chart">
            <c:chart xmlns:c="http://schemas.openxmlformats.org/drawingml/2006/chart" r:id="rId1"/>
          </a:graphicData>
        </a:graphic>
      </p:graphicFrame>
      <p:sp>
        <p:nvSpPr>
          <p:cNvPr id="31" name="Shape 28"/>
          <p:cNvSpPr/>
          <p:nvPr/>
        </p:nvSpPr>
        <p:spPr>
          <a:xfrm>
            <a:off x="548640" y="4663440"/>
            <a:ext cx="5440680" cy="1645920"/>
          </a:xfrm>
          <a:prstGeom prst="roundRect">
            <a:avLst>
              <a:gd name="adj" fmla="val 4444"/>
            </a:avLst>
          </a:prstGeom>
          <a:solidFill>
            <a:srgbClr val="E3F3F1"/>
          </a:solidFill>
          <a:ln w="12700">
            <a:solidFill>
              <a:srgbClr val="E3F3F1"/>
            </a:solidFill>
            <a:prstDash val="solid"/>
          </a:ln>
        </p:spPr>
      </p:sp>
      <p:sp>
        <p:nvSpPr>
          <p:cNvPr id="32" name="Text 29"/>
          <p:cNvSpPr txBox="1"/>
          <p:nvPr/>
        </p:nvSpPr>
        <p:spPr>
          <a:xfrm>
            <a:off x="749808" y="4754880"/>
            <a:ext cx="5029200" cy="365760"/>
          </a:xfrm>
          <a:prstGeom prst="rect">
            <a:avLst/>
          </a:prstGeom>
          <a:noFill/>
          <a:ln/>
        </p:spPr>
        <p:txBody>
          <a:bodyPr wrap="square" lIns="0" tIns="0" rIns="0" bIns="0" rtlCol="0" anchor="ctr"/>
          <a:lstStyle/>
          <a:p>
            <a:pPr indent="0" marL="0">
              <a:buNone/>
            </a:pPr>
            <a:r>
              <a:rPr lang="en-US" sz="1600" b="1" dirty="0">
                <a:solidFill>
                  <a:srgbClr val="2A9D8F"/>
                </a:solidFill>
                <a:latin typeface="Cambria" pitchFamily="34" charset="0"/>
                <a:ea typeface="Cambria" pitchFamily="34" charset="-122"/>
                <a:cs typeface="Cambria" pitchFamily="34" charset="-120"/>
              </a:rPr>
              <a:t>Học được</a:t>
            </a:r>
            <a:endParaRPr lang="en-US" sz="1600" dirty="0"/>
          </a:p>
        </p:txBody>
      </p:sp>
      <p:sp>
        <p:nvSpPr>
          <p:cNvPr id="33" name="Text 30"/>
          <p:cNvSpPr txBox="1"/>
          <p:nvPr/>
        </p:nvSpPr>
        <p:spPr>
          <a:xfrm>
            <a:off x="749808" y="5120640"/>
            <a:ext cx="5074920" cy="114300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Thực thể chưa gặp: </a:t>
            </a:r>
            <a:r>
              <a:rPr lang="en-US" sz="1350" b="1" dirty="0">
                <a:solidFill>
                  <a:srgbClr val="1B2733"/>
                </a:solidFill>
                <a:latin typeface="Calibri" pitchFamily="34" charset="0"/>
                <a:ea typeface="Calibri" pitchFamily="34" charset="-122"/>
                <a:cs typeface="Calibri" pitchFamily="34" charset="-120"/>
              </a:rPr>
              <a:t>13,9% → 41,2%</a:t>
            </a:r>
            <a:r>
              <a:rPr lang="en-US" sz="1350" dirty="0">
                <a:solidFill>
                  <a:srgbClr val="1B2733"/>
                </a:solidFill>
                <a:latin typeface="Calibri" pitchFamily="34" charset="0"/>
                <a:ea typeface="Calibri" pitchFamily="34" charset="-122"/>
                <a:cs typeface="Calibri" pitchFamily="34" charset="-120"/>
              </a:rPr>
              <a:t> (gần gấp 3)</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Cùng checkpoint, chấm kiểu SLUE được 68,53% ≈ 69% bài báo ⇒ khác biệt do thước đo</a:t>
            </a:r>
            <a:endParaRPr lang="en-US" sz="1350" dirty="0"/>
          </a:p>
        </p:txBody>
      </p:sp>
      <p:sp>
        <p:nvSpPr>
          <p:cNvPr id="34" name="Shape 31"/>
          <p:cNvSpPr/>
          <p:nvPr/>
        </p:nvSpPr>
        <p:spPr>
          <a:xfrm>
            <a:off x="6217920" y="4663440"/>
            <a:ext cx="5440680" cy="1645920"/>
          </a:xfrm>
          <a:prstGeom prst="roundRect">
            <a:avLst>
              <a:gd name="adj" fmla="val 4444"/>
            </a:avLst>
          </a:prstGeom>
          <a:solidFill>
            <a:srgbClr val="FCE9E3"/>
          </a:solidFill>
          <a:ln w="12700">
            <a:solidFill>
              <a:srgbClr val="FCE9E3"/>
            </a:solidFill>
            <a:prstDash val="solid"/>
          </a:ln>
        </p:spPr>
      </p:sp>
      <p:sp>
        <p:nvSpPr>
          <p:cNvPr id="35" name="Text 32"/>
          <p:cNvSpPr txBox="1"/>
          <p:nvPr/>
        </p:nvSpPr>
        <p:spPr>
          <a:xfrm>
            <a:off x="6419088" y="4754880"/>
            <a:ext cx="5029200" cy="365760"/>
          </a:xfrm>
          <a:prstGeom prst="rect">
            <a:avLst/>
          </a:prstGeom>
          <a:noFill/>
          <a:ln/>
        </p:spPr>
        <p:txBody>
          <a:bodyPr wrap="square" lIns="0" tIns="0" rIns="0" bIns="0" rtlCol="0" anchor="ctr"/>
          <a:lstStyle/>
          <a:p>
            <a:pPr indent="0" marL="0">
              <a:buNone/>
            </a:pPr>
            <a:r>
              <a:rPr lang="en-US" sz="1600" b="1" dirty="0">
                <a:solidFill>
                  <a:srgbClr val="E4572E"/>
                </a:solidFill>
                <a:latin typeface="Cambria" pitchFamily="34" charset="0"/>
                <a:ea typeface="Cambria" pitchFamily="34" charset="-122"/>
                <a:cs typeface="Cambria" pitchFamily="34" charset="-120"/>
              </a:rPr>
              <a:t>Còn thiếu → lý do lên bậc 5</a:t>
            </a:r>
            <a:endParaRPr lang="en-US" sz="1600" dirty="0"/>
          </a:p>
        </p:txBody>
      </p:sp>
      <p:sp>
        <p:nvSpPr>
          <p:cNvPr id="36" name="Text 33"/>
          <p:cNvSpPr txBox="1"/>
          <p:nvPr/>
        </p:nvSpPr>
        <p:spPr>
          <a:xfrm>
            <a:off x="6419088" y="5120640"/>
            <a:ext cx="5074920" cy="114300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F1 strict </a:t>
            </a:r>
            <a:r>
              <a:rPr lang="en-US" sz="1350" b="1" dirty="0">
                <a:solidFill>
                  <a:srgbClr val="1B2733"/>
                </a:solidFill>
                <a:latin typeface="Calibri" pitchFamily="34" charset="0"/>
                <a:ea typeface="Calibri" pitchFamily="34" charset="-122"/>
                <a:cs typeface="Calibri" pitchFamily="34" charset="-120"/>
              </a:rPr>
              <a:t>giảm 5,17</a:t>
            </a:r>
            <a:r>
              <a:rPr lang="en-US" sz="1350" dirty="0">
                <a:solidFill>
                  <a:srgbClr val="1B2733"/>
                </a:solidFill>
                <a:latin typeface="Calibri" pitchFamily="34" charset="0"/>
                <a:ea typeface="Calibri" pitchFamily="34" charset="-122"/>
                <a:cs typeface="Calibri" pitchFamily="34" charset="-120"/>
              </a:rPr>
              <a:t> điểm: precision thấp (52,6%), đoán thừa nhiều</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Đa ngôn ngữ, không fine-tune lại ⇒ cần mô hình </a:t>
            </a:r>
            <a:r>
              <a:rPr lang="en-US" sz="1350" b="1" dirty="0">
                <a:solidFill>
                  <a:srgbClr val="1B2733"/>
                </a:solidFill>
                <a:latin typeface="Calibri" pitchFamily="34" charset="0"/>
                <a:ea typeface="Calibri" pitchFamily="34" charset="-122"/>
                <a:cs typeface="Calibri" pitchFamily="34" charset="-120"/>
              </a:rPr>
              <a:t>tiếng Việt</a:t>
            </a:r>
            <a:r>
              <a:rPr lang="en-US" sz="1350" dirty="0">
                <a:solidFill>
                  <a:srgbClr val="1B2733"/>
                </a:solidFill>
                <a:latin typeface="Calibri" pitchFamily="34" charset="0"/>
                <a:ea typeface="Calibri" pitchFamily="34" charset="-122"/>
                <a:cs typeface="Calibri" pitchFamily="34" charset="-120"/>
              </a:rPr>
              <a:t> do nhóm tự huấn luyện</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Bậc 5: PhoBERT — đúng ngôn ngữ tiếng Việt</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10 / 18</a:t>
            </a:r>
            <a:endParaRPr lang="en-US" sz="1000" dirty="0"/>
          </a:p>
        </p:txBody>
      </p:sp>
      <p:sp>
        <p:nvSpPr>
          <p:cNvPr id="4" name="Shape 2"/>
          <p:cNvSpPr/>
          <p:nvPr/>
        </p:nvSpPr>
        <p:spPr>
          <a:xfrm>
            <a:off x="8366760" y="868680"/>
            <a:ext cx="548640" cy="182880"/>
          </a:xfrm>
          <a:prstGeom prst="rect">
            <a:avLst/>
          </a:prstGeom>
          <a:solidFill>
            <a:srgbClr val="2A9D8F"/>
          </a:solidFill>
          <a:ln w="12700">
            <a:solidFill>
              <a:srgbClr val="2A9D8F"/>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2A9D8F"/>
          </a:solidFill>
          <a:ln w="12700">
            <a:solidFill>
              <a:srgbClr val="2A9D8F"/>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2A9D8F"/>
          </a:solidFill>
          <a:ln w="12700">
            <a:solidFill>
              <a:srgbClr val="2A9D8F"/>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2A9D8F"/>
          </a:solidFill>
          <a:ln w="12700">
            <a:solidFill>
              <a:srgbClr val="2A9D8F"/>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E4572E"/>
          </a:solidFill>
          <a:ln w="12700">
            <a:solidFill>
              <a:srgbClr val="E4572E"/>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DDE5EB"/>
          </a:solidFill>
          <a:ln w="12700">
            <a:solidFill>
              <a:srgbClr val="DDE5EB"/>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5B6B7A"/>
                </a:solidFill>
                <a:latin typeface="Calibri" pitchFamily="34" charset="0"/>
                <a:ea typeface="Calibri" pitchFamily="34" charset="-122"/>
                <a:cs typeface="Calibri" pitchFamily="34" charset="-120"/>
              </a:rPr>
              <a:t>6</a:t>
            </a:r>
            <a:endParaRPr lang="en-US" sz="1000" dirty="0"/>
          </a:p>
        </p:txBody>
      </p:sp>
      <p:sp>
        <p:nvSpPr>
          <p:cNvPr id="16" name="Shape 14"/>
          <p:cNvSpPr/>
          <p:nvPr/>
        </p:nvSpPr>
        <p:spPr>
          <a:xfrm>
            <a:off x="548640" y="1188720"/>
            <a:ext cx="11109960" cy="566928"/>
          </a:xfrm>
          <a:prstGeom prst="roundRect">
            <a:avLst>
              <a:gd name="adj" fmla="val 12903"/>
            </a:avLst>
          </a:prstGeom>
          <a:solidFill>
            <a:srgbClr val="FBF1DF"/>
          </a:solidFill>
          <a:ln w="12700">
            <a:solidFill>
              <a:srgbClr val="FBF1DF"/>
            </a:solidFill>
            <a:prstDash val="solid"/>
          </a:ln>
        </p:spPr>
      </p:sp>
      <p:sp>
        <p:nvSpPr>
          <p:cNvPr id="17" name="Text 15"/>
          <p:cNvSpPr txBox="1"/>
          <p:nvPr/>
        </p:nvSpPr>
        <p:spPr>
          <a:xfrm>
            <a:off x="731520" y="1188720"/>
            <a:ext cx="10789920" cy="566928"/>
          </a:xfrm>
          <a:prstGeom prst="rect">
            <a:avLst/>
          </a:prstGeom>
          <a:noFill/>
          <a:ln/>
        </p:spPr>
        <p:txBody>
          <a:bodyPr wrap="square" lIns="0" tIns="0" rIns="0" bIns="0" rtlCol="0" anchor="ctr"/>
          <a:lstStyle/>
          <a:p>
            <a:pPr algn="l" indent="0" marL="0">
              <a:buNone/>
            </a:pPr>
            <a:r>
              <a:rPr lang="en-US" sz="1500" b="1" dirty="0">
                <a:solidFill>
                  <a:srgbClr val="1B2733"/>
                </a:solidFill>
                <a:latin typeface="Calibri" pitchFamily="34" charset="0"/>
                <a:ea typeface="Calibri" pitchFamily="34" charset="-122"/>
                <a:cs typeface="Calibri" pitchFamily="34" charset="-120"/>
              </a:rPr>
              <a:t>Thay đổi so với bậc trước:</a:t>
            </a:r>
            <a:r>
              <a:rPr lang="en-US" sz="1500" dirty="0">
                <a:solidFill>
                  <a:srgbClr val="1B2733"/>
                </a:solidFill>
                <a:latin typeface="Calibri" pitchFamily="34" charset="0"/>
                <a:ea typeface="Calibri" pitchFamily="34" charset="-122"/>
                <a:cs typeface="Calibri" pitchFamily="34" charset="-120"/>
              </a:rPr>
              <a:t> Pretrain đa ngôn ngữ → </a:t>
            </a:r>
            <a:r>
              <a:rPr lang="en-US" sz="1500" b="1" dirty="0">
                <a:solidFill>
                  <a:srgbClr val="1B2733"/>
                </a:solidFill>
                <a:latin typeface="Calibri" pitchFamily="34" charset="0"/>
                <a:ea typeface="Calibri" pitchFamily="34" charset="-122"/>
                <a:cs typeface="Calibri" pitchFamily="34" charset="-120"/>
              </a:rPr>
              <a:t>tiếng Việt</a:t>
            </a:r>
            <a:r>
              <a:rPr lang="en-US" sz="1500" dirty="0">
                <a:solidFill>
                  <a:srgbClr val="1B2733"/>
                </a:solidFill>
                <a:latin typeface="Calibri" pitchFamily="34" charset="0"/>
                <a:ea typeface="Calibri" pitchFamily="34" charset="-122"/>
                <a:cs typeface="Calibri" pitchFamily="34" charset="-120"/>
              </a:rPr>
              <a:t> (PhoBERT-base-v2); nhóm fine-tune với lưới 18 cấu hình × 3 seed.</a:t>
            </a:r>
            <a:endParaRPr lang="en-US" sz="1500" dirty="0"/>
          </a:p>
        </p:txBody>
      </p:sp>
      <p:sp>
        <p:nvSpPr>
          <p:cNvPr id="18" name="Shape 16"/>
          <p:cNvSpPr/>
          <p:nvPr/>
        </p:nvSpPr>
        <p:spPr>
          <a:xfrm>
            <a:off x="548640" y="1920240"/>
            <a:ext cx="2468880" cy="1170432"/>
          </a:xfrm>
          <a:prstGeom prst="roundRect">
            <a:avLst>
              <a:gd name="adj" fmla="val 6250"/>
            </a:avLst>
          </a:prstGeom>
          <a:solidFill>
            <a:srgbClr val="EEF4F7"/>
          </a:solidFill>
          <a:ln w="12700">
            <a:solidFill>
              <a:srgbClr val="EEF4F7"/>
            </a:solidFill>
            <a:prstDash val="solid"/>
          </a:ln>
        </p:spPr>
      </p:sp>
      <p:sp>
        <p:nvSpPr>
          <p:cNvPr id="19" name="Text 17"/>
          <p:cNvSpPr txBox="1"/>
          <p:nvPr/>
        </p:nvSpPr>
        <p:spPr>
          <a:xfrm>
            <a:off x="713232" y="1993392"/>
            <a:ext cx="2139696" cy="643738"/>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85,2%</a:t>
            </a:r>
            <a:endParaRPr lang="en-US" sz="2600" dirty="0"/>
          </a:p>
        </p:txBody>
      </p:sp>
      <p:sp>
        <p:nvSpPr>
          <p:cNvPr id="20" name="Text 18"/>
          <p:cNvSpPr txBox="1"/>
          <p:nvPr/>
        </p:nvSpPr>
        <p:spPr>
          <a:xfrm>
            <a:off x="713232" y="2645908"/>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F1 validation (cùng miền)</a:t>
            </a:r>
            <a:endParaRPr lang="en-US" sz="1150" dirty="0"/>
          </a:p>
        </p:txBody>
      </p:sp>
      <p:sp>
        <p:nvSpPr>
          <p:cNvPr id="21" name="Shape 19"/>
          <p:cNvSpPr/>
          <p:nvPr/>
        </p:nvSpPr>
        <p:spPr>
          <a:xfrm>
            <a:off x="3154680" y="1920240"/>
            <a:ext cx="2468880" cy="1170432"/>
          </a:xfrm>
          <a:prstGeom prst="roundRect">
            <a:avLst>
              <a:gd name="adj" fmla="val 6250"/>
            </a:avLst>
          </a:prstGeom>
          <a:solidFill>
            <a:srgbClr val="EEF4F7"/>
          </a:solidFill>
          <a:ln w="12700">
            <a:solidFill>
              <a:srgbClr val="EEF4F7"/>
            </a:solidFill>
            <a:prstDash val="solid"/>
          </a:ln>
        </p:spPr>
      </p:sp>
      <p:sp>
        <p:nvSpPr>
          <p:cNvPr id="22" name="Text 20"/>
          <p:cNvSpPr txBox="1"/>
          <p:nvPr/>
        </p:nvSpPr>
        <p:spPr>
          <a:xfrm>
            <a:off x="3319272" y="1993392"/>
            <a:ext cx="2139696" cy="643738"/>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62,4%</a:t>
            </a:r>
            <a:endParaRPr lang="en-US" sz="2600" dirty="0"/>
          </a:p>
        </p:txBody>
      </p:sp>
      <p:sp>
        <p:nvSpPr>
          <p:cNvPr id="23" name="Text 21"/>
          <p:cNvSpPr txBox="1"/>
          <p:nvPr/>
        </p:nvSpPr>
        <p:spPr>
          <a:xfrm>
            <a:off x="3319272" y="2645908"/>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F1 test · CI95 61,3–63,5</a:t>
            </a:r>
            <a:endParaRPr lang="en-US" sz="1150" dirty="0"/>
          </a:p>
        </p:txBody>
      </p:sp>
      <p:sp>
        <p:nvSpPr>
          <p:cNvPr id="24" name="Shape 22"/>
          <p:cNvSpPr/>
          <p:nvPr/>
        </p:nvSpPr>
        <p:spPr>
          <a:xfrm>
            <a:off x="548640" y="3218688"/>
            <a:ext cx="2468880" cy="1170432"/>
          </a:xfrm>
          <a:prstGeom prst="roundRect">
            <a:avLst>
              <a:gd name="adj" fmla="val 6250"/>
            </a:avLst>
          </a:prstGeom>
          <a:solidFill>
            <a:srgbClr val="EEF4F7"/>
          </a:solidFill>
          <a:ln w="12700">
            <a:solidFill>
              <a:srgbClr val="EEF4F7"/>
            </a:solidFill>
            <a:prstDash val="solid"/>
          </a:ln>
        </p:spPr>
      </p:sp>
      <p:sp>
        <p:nvSpPr>
          <p:cNvPr id="25" name="Text 23"/>
          <p:cNvSpPr txBox="1"/>
          <p:nvPr/>
        </p:nvSpPr>
        <p:spPr>
          <a:xfrm>
            <a:off x="713232" y="3291840"/>
            <a:ext cx="2139696" cy="643738"/>
          </a:xfrm>
          <a:prstGeom prst="rect">
            <a:avLst/>
          </a:prstGeom>
          <a:noFill/>
          <a:ln/>
        </p:spPr>
        <p:txBody>
          <a:bodyPr wrap="square" lIns="0" tIns="0" rIns="0" bIns="0" rtlCol="0" anchor="ctr"/>
          <a:lstStyle/>
          <a:p>
            <a:pPr indent="0" marL="0">
              <a:buNone/>
            </a:pPr>
            <a:r>
              <a:rPr lang="en-US" sz="2600" b="1" dirty="0">
                <a:solidFill>
                  <a:srgbClr val="2A9D8F"/>
                </a:solidFill>
                <a:latin typeface="Cambria" pitchFamily="34" charset="0"/>
                <a:ea typeface="Cambria" pitchFamily="34" charset="-122"/>
                <a:cs typeface="Cambria" pitchFamily="34" charset="-120"/>
              </a:rPr>
              <a:t>+3,80</a:t>
            </a:r>
            <a:endParaRPr lang="en-US" sz="2600" dirty="0"/>
          </a:p>
        </p:txBody>
      </p:sp>
      <p:sp>
        <p:nvSpPr>
          <p:cNvPr id="26" name="Text 24"/>
          <p:cNvSpPr txBox="1"/>
          <p:nvPr/>
        </p:nvSpPr>
        <p:spPr>
          <a:xfrm>
            <a:off x="713232" y="3944356"/>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so với XLM-R · CI95 [+2,9; +4,8]</a:t>
            </a:r>
            <a:endParaRPr lang="en-US" sz="1150" dirty="0"/>
          </a:p>
        </p:txBody>
      </p:sp>
      <p:sp>
        <p:nvSpPr>
          <p:cNvPr id="27" name="Shape 25"/>
          <p:cNvSpPr/>
          <p:nvPr/>
        </p:nvSpPr>
        <p:spPr>
          <a:xfrm>
            <a:off x="3154680" y="3218688"/>
            <a:ext cx="2468880" cy="1170432"/>
          </a:xfrm>
          <a:prstGeom prst="roundRect">
            <a:avLst>
              <a:gd name="adj" fmla="val 6250"/>
            </a:avLst>
          </a:prstGeom>
          <a:solidFill>
            <a:srgbClr val="EEF4F7"/>
          </a:solidFill>
          <a:ln w="12700">
            <a:solidFill>
              <a:srgbClr val="EEF4F7"/>
            </a:solidFill>
            <a:prstDash val="solid"/>
          </a:ln>
        </p:spPr>
      </p:sp>
      <p:sp>
        <p:nvSpPr>
          <p:cNvPr id="28" name="Text 26"/>
          <p:cNvSpPr txBox="1"/>
          <p:nvPr/>
        </p:nvSpPr>
        <p:spPr>
          <a:xfrm>
            <a:off x="3319272" y="3291840"/>
            <a:ext cx="2139696" cy="643738"/>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35,6%</a:t>
            </a:r>
            <a:endParaRPr lang="en-US" sz="2600" dirty="0"/>
          </a:p>
        </p:txBody>
      </p:sp>
      <p:sp>
        <p:nvSpPr>
          <p:cNvPr id="29" name="Text 27"/>
          <p:cNvSpPr txBox="1"/>
          <p:nvPr/>
        </p:nvSpPr>
        <p:spPr>
          <a:xfrm>
            <a:off x="3319272" y="3944356"/>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Recall thực thể chưa gặp trong train</a:t>
            </a:r>
            <a:endParaRPr lang="en-US" sz="1150" dirty="0"/>
          </a:p>
        </p:txBody>
      </p:sp>
      <p:pic>
        <p:nvPicPr>
          <p:cNvPr id="30" name="Image 0" descr="fig_sweep_underfitting.png">    </p:cNvPr>
          <p:cNvPicPr>
            <a:picLocks noChangeAspect="1"/>
          </p:cNvPicPr>
          <p:nvPr/>
        </p:nvPicPr>
        <p:blipFill>
          <a:blip r:embed="rId1"/>
          <a:stretch>
            <a:fillRect/>
          </a:stretch>
        </p:blipFill>
        <p:spPr>
          <a:xfrm>
            <a:off x="5897880" y="1874520"/>
            <a:ext cx="5760720" cy="2094807"/>
          </a:xfrm>
          <a:prstGeom prst="rect">
            <a:avLst/>
          </a:prstGeom>
        </p:spPr>
      </p:pic>
      <p:sp>
        <p:nvSpPr>
          <p:cNvPr id="31" name="Shape 28"/>
          <p:cNvSpPr/>
          <p:nvPr/>
        </p:nvSpPr>
        <p:spPr>
          <a:xfrm>
            <a:off x="548640" y="4663440"/>
            <a:ext cx="5440680" cy="1645920"/>
          </a:xfrm>
          <a:prstGeom prst="roundRect">
            <a:avLst>
              <a:gd name="adj" fmla="val 4444"/>
            </a:avLst>
          </a:prstGeom>
          <a:solidFill>
            <a:srgbClr val="E3F3F1"/>
          </a:solidFill>
          <a:ln w="12700">
            <a:solidFill>
              <a:srgbClr val="E3F3F1"/>
            </a:solidFill>
            <a:prstDash val="solid"/>
          </a:ln>
        </p:spPr>
      </p:sp>
      <p:sp>
        <p:nvSpPr>
          <p:cNvPr id="32" name="Text 29"/>
          <p:cNvSpPr txBox="1"/>
          <p:nvPr/>
        </p:nvSpPr>
        <p:spPr>
          <a:xfrm>
            <a:off x="749808" y="4754880"/>
            <a:ext cx="5029200" cy="365760"/>
          </a:xfrm>
          <a:prstGeom prst="rect">
            <a:avLst/>
          </a:prstGeom>
          <a:noFill/>
          <a:ln/>
        </p:spPr>
        <p:txBody>
          <a:bodyPr wrap="square" lIns="0" tIns="0" rIns="0" bIns="0" rtlCol="0" anchor="ctr"/>
          <a:lstStyle/>
          <a:p>
            <a:pPr indent="0" marL="0">
              <a:buNone/>
            </a:pPr>
            <a:r>
              <a:rPr lang="en-US" sz="1600" b="1" dirty="0">
                <a:solidFill>
                  <a:srgbClr val="2A9D8F"/>
                </a:solidFill>
                <a:latin typeface="Cambria" pitchFamily="34" charset="0"/>
                <a:ea typeface="Cambria" pitchFamily="34" charset="-122"/>
                <a:cs typeface="Cambria" pitchFamily="34" charset="-120"/>
              </a:rPr>
              <a:t>Học được</a:t>
            </a:r>
            <a:endParaRPr lang="en-US" sz="1600" dirty="0"/>
          </a:p>
        </p:txBody>
      </p:sp>
      <p:sp>
        <p:nvSpPr>
          <p:cNvPr id="33" name="Text 30"/>
          <p:cNvSpPr txBox="1"/>
          <p:nvPr/>
        </p:nvSpPr>
        <p:spPr>
          <a:xfrm>
            <a:off x="749808" y="5120640"/>
            <a:ext cx="5074920" cy="1143000"/>
          </a:xfrm>
          <a:prstGeom prst="rect">
            <a:avLst/>
          </a:prstGeom>
          <a:noFill/>
          <a:ln/>
        </p:spPr>
        <p:txBody>
          <a:bodyPr wrap="square" lIns="635" tIns="635" rIns="635" bIns="635" rtlCol="0" anchor="t"/>
          <a:lstStyle/>
          <a:p>
            <a:pPr marL="203200" indent="-203200">
              <a:spcAft>
                <a:spcPts val="600"/>
              </a:spcAft>
              <a:buSzPct val="100000"/>
              <a:buChar char="•"/>
            </a:pPr>
            <a:r>
              <a:rPr lang="en-US" sz="1350" b="1" dirty="0">
                <a:solidFill>
                  <a:srgbClr val="1B2733"/>
                </a:solidFill>
                <a:latin typeface="Calibri" pitchFamily="34" charset="0"/>
                <a:ea typeface="Calibri" pitchFamily="34" charset="-122"/>
                <a:cs typeface="Calibri" pitchFamily="34" charset="-120"/>
              </a:rPr>
              <a:t>+3,80</a:t>
            </a:r>
            <a:r>
              <a:rPr lang="en-US" sz="1350" dirty="0">
                <a:solidFill>
                  <a:srgbClr val="1B2733"/>
                </a:solidFill>
                <a:latin typeface="Calibri" pitchFamily="34" charset="0"/>
                <a:ea typeface="Calibri" pitchFamily="34" charset="-122"/>
                <a:cs typeface="Calibri" pitchFamily="34" charset="-120"/>
              </a:rPr>
              <a:t> điểm so với XLM-R, có ý nghĩa; F1 test 62,42%</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lr 5e-6 × 4 epoch chỉ 36,65% ⇒ </a:t>
            </a:r>
            <a:r>
              <a:rPr lang="en-US" sz="1350" b="1" dirty="0">
                <a:solidFill>
                  <a:srgbClr val="1B2733"/>
                </a:solidFill>
                <a:latin typeface="Calibri" pitchFamily="34" charset="0"/>
                <a:ea typeface="Calibri" pitchFamily="34" charset="-122"/>
                <a:cs typeface="Calibri" pitchFamily="34" charset="-120"/>
              </a:rPr>
              <a:t>underfit</a:t>
            </a:r>
            <a:r>
              <a:rPr lang="en-US" sz="1350" dirty="0">
                <a:solidFill>
                  <a:srgbClr val="1B2733"/>
                </a:solidFill>
                <a:latin typeface="Calibri" pitchFamily="34" charset="0"/>
                <a:ea typeface="Calibri" pitchFamily="34" charset="-122"/>
                <a:cs typeface="Calibri" pitchFamily="34" charset="-120"/>
              </a:rPr>
              <a:t>; chọn lr 3e-5, 8 epoch, wd 0,05</a:t>
            </a:r>
            <a:endParaRPr lang="en-US" sz="1350" dirty="0"/>
          </a:p>
        </p:txBody>
      </p:sp>
      <p:sp>
        <p:nvSpPr>
          <p:cNvPr id="34" name="Shape 31"/>
          <p:cNvSpPr/>
          <p:nvPr/>
        </p:nvSpPr>
        <p:spPr>
          <a:xfrm>
            <a:off x="6217920" y="4663440"/>
            <a:ext cx="5440680" cy="1645920"/>
          </a:xfrm>
          <a:prstGeom prst="roundRect">
            <a:avLst>
              <a:gd name="adj" fmla="val 4444"/>
            </a:avLst>
          </a:prstGeom>
          <a:solidFill>
            <a:srgbClr val="FCE9E3"/>
          </a:solidFill>
          <a:ln w="12700">
            <a:solidFill>
              <a:srgbClr val="FCE9E3"/>
            </a:solidFill>
            <a:prstDash val="solid"/>
          </a:ln>
        </p:spPr>
      </p:sp>
      <p:sp>
        <p:nvSpPr>
          <p:cNvPr id="35" name="Text 32"/>
          <p:cNvSpPr txBox="1"/>
          <p:nvPr/>
        </p:nvSpPr>
        <p:spPr>
          <a:xfrm>
            <a:off x="6419088" y="4754880"/>
            <a:ext cx="5029200" cy="365760"/>
          </a:xfrm>
          <a:prstGeom prst="rect">
            <a:avLst/>
          </a:prstGeom>
          <a:noFill/>
          <a:ln/>
        </p:spPr>
        <p:txBody>
          <a:bodyPr wrap="square" lIns="0" tIns="0" rIns="0" bIns="0" rtlCol="0" anchor="ctr"/>
          <a:lstStyle/>
          <a:p>
            <a:pPr indent="0" marL="0">
              <a:buNone/>
            </a:pPr>
            <a:r>
              <a:rPr lang="en-US" sz="1600" b="1" dirty="0">
                <a:solidFill>
                  <a:srgbClr val="E4572E"/>
                </a:solidFill>
                <a:latin typeface="Cambria" pitchFamily="34" charset="0"/>
                <a:ea typeface="Cambria" pitchFamily="34" charset="-122"/>
                <a:cs typeface="Cambria" pitchFamily="34" charset="-120"/>
              </a:rPr>
              <a:t>Còn thiếu → lý do lên bậc 6</a:t>
            </a:r>
            <a:endParaRPr lang="en-US" sz="1600" dirty="0"/>
          </a:p>
        </p:txBody>
      </p:sp>
      <p:sp>
        <p:nvSpPr>
          <p:cNvPr id="36" name="Text 33"/>
          <p:cNvSpPr txBox="1"/>
          <p:nvPr/>
        </p:nvSpPr>
        <p:spPr>
          <a:xfrm>
            <a:off x="6419088" y="5120640"/>
            <a:ext cx="5074920" cy="114300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Recall thực thể chưa gặp 35,6%, chưa hơn XLM-R</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Pretrain trên văn bản chung, chưa có tri thức </a:t>
            </a:r>
            <a:r>
              <a:rPr lang="en-US" sz="1350" b="1" dirty="0">
                <a:solidFill>
                  <a:srgbClr val="1B2733"/>
                </a:solidFill>
                <a:latin typeface="Calibri" pitchFamily="34" charset="0"/>
                <a:ea typeface="Calibri" pitchFamily="34" charset="-122"/>
                <a:cs typeface="Calibri" pitchFamily="34" charset="-120"/>
              </a:rPr>
              <a:t>y khoa</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Bậc 6: ViHealthBERT — đúng miền y tế</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11 / 18</a:t>
            </a:r>
            <a:endParaRPr lang="en-US" sz="1000" dirty="0"/>
          </a:p>
        </p:txBody>
      </p:sp>
      <p:sp>
        <p:nvSpPr>
          <p:cNvPr id="4" name="Shape 2"/>
          <p:cNvSpPr/>
          <p:nvPr/>
        </p:nvSpPr>
        <p:spPr>
          <a:xfrm>
            <a:off x="8366760" y="868680"/>
            <a:ext cx="548640" cy="182880"/>
          </a:xfrm>
          <a:prstGeom prst="rect">
            <a:avLst/>
          </a:prstGeom>
          <a:solidFill>
            <a:srgbClr val="2A9D8F"/>
          </a:solidFill>
          <a:ln w="12700">
            <a:solidFill>
              <a:srgbClr val="2A9D8F"/>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2A9D8F"/>
          </a:solidFill>
          <a:ln w="12700">
            <a:solidFill>
              <a:srgbClr val="2A9D8F"/>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2A9D8F"/>
          </a:solidFill>
          <a:ln w="12700">
            <a:solidFill>
              <a:srgbClr val="2A9D8F"/>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2A9D8F"/>
          </a:solidFill>
          <a:ln w="12700">
            <a:solidFill>
              <a:srgbClr val="2A9D8F"/>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2A9D8F"/>
          </a:solidFill>
          <a:ln w="12700">
            <a:solidFill>
              <a:srgbClr val="2A9D8F"/>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E4572E"/>
          </a:solidFill>
          <a:ln w="12700">
            <a:solidFill>
              <a:srgbClr val="E4572E"/>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16" name="Shape 14"/>
          <p:cNvSpPr/>
          <p:nvPr/>
        </p:nvSpPr>
        <p:spPr>
          <a:xfrm>
            <a:off x="548640" y="1188720"/>
            <a:ext cx="11109960" cy="566928"/>
          </a:xfrm>
          <a:prstGeom prst="roundRect">
            <a:avLst>
              <a:gd name="adj" fmla="val 12903"/>
            </a:avLst>
          </a:prstGeom>
          <a:solidFill>
            <a:srgbClr val="FBF1DF"/>
          </a:solidFill>
          <a:ln w="12700">
            <a:solidFill>
              <a:srgbClr val="FBF1DF"/>
            </a:solidFill>
            <a:prstDash val="solid"/>
          </a:ln>
        </p:spPr>
      </p:sp>
      <p:sp>
        <p:nvSpPr>
          <p:cNvPr id="17" name="Text 15"/>
          <p:cNvSpPr txBox="1"/>
          <p:nvPr/>
        </p:nvSpPr>
        <p:spPr>
          <a:xfrm>
            <a:off x="731520" y="1188720"/>
            <a:ext cx="10789920" cy="566928"/>
          </a:xfrm>
          <a:prstGeom prst="rect">
            <a:avLst/>
          </a:prstGeom>
          <a:noFill/>
          <a:ln/>
        </p:spPr>
        <p:txBody>
          <a:bodyPr wrap="square" lIns="0" tIns="0" rIns="0" bIns="0" rtlCol="0" anchor="ctr"/>
          <a:lstStyle/>
          <a:p>
            <a:pPr algn="l" indent="0" marL="0">
              <a:buNone/>
            </a:pPr>
            <a:r>
              <a:rPr lang="en-US" sz="1500" b="1" dirty="0">
                <a:solidFill>
                  <a:srgbClr val="1B2733"/>
                </a:solidFill>
                <a:latin typeface="Calibri" pitchFamily="34" charset="0"/>
                <a:ea typeface="Calibri" pitchFamily="34" charset="-122"/>
                <a:cs typeface="Calibri" pitchFamily="34" charset="-120"/>
              </a:rPr>
              <a:t>Thay đổi so với bậc trước:</a:t>
            </a:r>
            <a:r>
              <a:rPr lang="en-US" sz="1500" dirty="0">
                <a:solidFill>
                  <a:srgbClr val="1B2733"/>
                </a:solidFill>
                <a:latin typeface="Calibri" pitchFamily="34" charset="0"/>
                <a:ea typeface="Calibri" pitchFamily="34" charset="-122"/>
                <a:cs typeface="Calibri" pitchFamily="34" charset="-120"/>
              </a:rPr>
              <a:t> Pretrain tiếng Việt chung → </a:t>
            </a:r>
            <a:r>
              <a:rPr lang="en-US" sz="1500" b="1" dirty="0">
                <a:solidFill>
                  <a:srgbClr val="1B2733"/>
                </a:solidFill>
                <a:latin typeface="Calibri" pitchFamily="34" charset="0"/>
                <a:ea typeface="Calibri" pitchFamily="34" charset="-122"/>
                <a:cs typeface="Calibri" pitchFamily="34" charset="-120"/>
              </a:rPr>
              <a:t>văn bản y tế tiếng Việt</a:t>
            </a:r>
            <a:r>
              <a:rPr lang="en-US" sz="1500" dirty="0">
                <a:solidFill>
                  <a:srgbClr val="1B2733"/>
                </a:solidFill>
                <a:latin typeface="Calibri" pitchFamily="34" charset="0"/>
                <a:ea typeface="Calibri" pitchFamily="34" charset="-122"/>
                <a:cs typeface="Calibri" pitchFamily="34" charset="-120"/>
              </a:rPr>
              <a:t>; cùng quy trình fine-tune với PhoBERT.</a:t>
            </a:r>
            <a:endParaRPr lang="en-US" sz="1500" dirty="0"/>
          </a:p>
        </p:txBody>
      </p:sp>
      <p:sp>
        <p:nvSpPr>
          <p:cNvPr id="18" name="Shape 16"/>
          <p:cNvSpPr/>
          <p:nvPr/>
        </p:nvSpPr>
        <p:spPr>
          <a:xfrm>
            <a:off x="548640" y="1920240"/>
            <a:ext cx="2468880" cy="1170432"/>
          </a:xfrm>
          <a:prstGeom prst="roundRect">
            <a:avLst>
              <a:gd name="adj" fmla="val 6250"/>
            </a:avLst>
          </a:prstGeom>
          <a:solidFill>
            <a:srgbClr val="EEF4F7"/>
          </a:solidFill>
          <a:ln w="12700">
            <a:solidFill>
              <a:srgbClr val="EEF4F7"/>
            </a:solidFill>
            <a:prstDash val="solid"/>
          </a:ln>
        </p:spPr>
      </p:sp>
      <p:sp>
        <p:nvSpPr>
          <p:cNvPr id="19" name="Text 17"/>
          <p:cNvSpPr txBox="1"/>
          <p:nvPr/>
        </p:nvSpPr>
        <p:spPr>
          <a:xfrm>
            <a:off x="713232" y="1993392"/>
            <a:ext cx="2139696" cy="643738"/>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85,2%</a:t>
            </a:r>
            <a:endParaRPr lang="en-US" sz="2600" dirty="0"/>
          </a:p>
        </p:txBody>
      </p:sp>
      <p:sp>
        <p:nvSpPr>
          <p:cNvPr id="20" name="Text 18"/>
          <p:cNvSpPr txBox="1"/>
          <p:nvPr/>
        </p:nvSpPr>
        <p:spPr>
          <a:xfrm>
            <a:off x="713232" y="2645908"/>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F1 validation (cùng miền)</a:t>
            </a:r>
            <a:endParaRPr lang="en-US" sz="1150" dirty="0"/>
          </a:p>
        </p:txBody>
      </p:sp>
      <p:sp>
        <p:nvSpPr>
          <p:cNvPr id="21" name="Shape 19"/>
          <p:cNvSpPr/>
          <p:nvPr/>
        </p:nvSpPr>
        <p:spPr>
          <a:xfrm>
            <a:off x="3154680" y="1920240"/>
            <a:ext cx="2468880" cy="1170432"/>
          </a:xfrm>
          <a:prstGeom prst="roundRect">
            <a:avLst>
              <a:gd name="adj" fmla="val 6250"/>
            </a:avLst>
          </a:prstGeom>
          <a:solidFill>
            <a:srgbClr val="EEF4F7"/>
          </a:solidFill>
          <a:ln w="12700">
            <a:solidFill>
              <a:srgbClr val="EEF4F7"/>
            </a:solidFill>
            <a:prstDash val="solid"/>
          </a:ln>
        </p:spPr>
      </p:sp>
      <p:sp>
        <p:nvSpPr>
          <p:cNvPr id="22" name="Text 20"/>
          <p:cNvSpPr txBox="1"/>
          <p:nvPr/>
        </p:nvSpPr>
        <p:spPr>
          <a:xfrm>
            <a:off x="3319272" y="1993392"/>
            <a:ext cx="2139696" cy="643738"/>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62,7%</a:t>
            </a:r>
            <a:endParaRPr lang="en-US" sz="2600" dirty="0"/>
          </a:p>
        </p:txBody>
      </p:sp>
      <p:sp>
        <p:nvSpPr>
          <p:cNvPr id="23" name="Text 21"/>
          <p:cNvSpPr txBox="1"/>
          <p:nvPr/>
        </p:nvSpPr>
        <p:spPr>
          <a:xfrm>
            <a:off x="3319272" y="2645908"/>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F1 test · CI95 61,7–63,8</a:t>
            </a:r>
            <a:endParaRPr lang="en-US" sz="1150" dirty="0"/>
          </a:p>
        </p:txBody>
      </p:sp>
      <p:sp>
        <p:nvSpPr>
          <p:cNvPr id="24" name="Shape 22"/>
          <p:cNvSpPr/>
          <p:nvPr/>
        </p:nvSpPr>
        <p:spPr>
          <a:xfrm>
            <a:off x="548640" y="3218688"/>
            <a:ext cx="2468880" cy="1170432"/>
          </a:xfrm>
          <a:prstGeom prst="roundRect">
            <a:avLst>
              <a:gd name="adj" fmla="val 6250"/>
            </a:avLst>
          </a:prstGeom>
          <a:solidFill>
            <a:srgbClr val="EEF4F7"/>
          </a:solidFill>
          <a:ln w="12700">
            <a:solidFill>
              <a:srgbClr val="EEF4F7"/>
            </a:solidFill>
            <a:prstDash val="solid"/>
          </a:ln>
        </p:spPr>
      </p:sp>
      <p:sp>
        <p:nvSpPr>
          <p:cNvPr id="25" name="Text 23"/>
          <p:cNvSpPr txBox="1"/>
          <p:nvPr/>
        </p:nvSpPr>
        <p:spPr>
          <a:xfrm>
            <a:off x="713232" y="3291840"/>
            <a:ext cx="2139696" cy="643738"/>
          </a:xfrm>
          <a:prstGeom prst="rect">
            <a:avLst/>
          </a:prstGeom>
          <a:noFill/>
          <a:ln/>
        </p:spPr>
        <p:txBody>
          <a:bodyPr wrap="square" lIns="0" tIns="0" rIns="0" bIns="0" rtlCol="0" anchor="ctr"/>
          <a:lstStyle/>
          <a:p>
            <a:pPr indent="0" marL="0">
              <a:buNone/>
            </a:pPr>
            <a:r>
              <a:rPr lang="en-US" sz="2600" b="1" dirty="0">
                <a:solidFill>
                  <a:srgbClr val="E9A23B"/>
                </a:solidFill>
                <a:latin typeface="Cambria" pitchFamily="34" charset="0"/>
                <a:ea typeface="Cambria" pitchFamily="34" charset="-122"/>
                <a:cs typeface="Cambria" pitchFamily="34" charset="-120"/>
              </a:rPr>
              <a:t>+0,32</a:t>
            </a:r>
            <a:endParaRPr lang="en-US" sz="2600" dirty="0"/>
          </a:p>
        </p:txBody>
      </p:sp>
      <p:sp>
        <p:nvSpPr>
          <p:cNvPr id="26" name="Text 24"/>
          <p:cNvSpPr txBox="1"/>
          <p:nvPr/>
        </p:nvSpPr>
        <p:spPr>
          <a:xfrm>
            <a:off x="713232" y="3944356"/>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so với PhoBERT · CI95 [−0,4; +1,0]</a:t>
            </a:r>
            <a:endParaRPr lang="en-US" sz="1150" dirty="0"/>
          </a:p>
        </p:txBody>
      </p:sp>
      <p:sp>
        <p:nvSpPr>
          <p:cNvPr id="27" name="Shape 25"/>
          <p:cNvSpPr/>
          <p:nvPr/>
        </p:nvSpPr>
        <p:spPr>
          <a:xfrm>
            <a:off x="3154680" y="3218688"/>
            <a:ext cx="2468880" cy="1170432"/>
          </a:xfrm>
          <a:prstGeom prst="roundRect">
            <a:avLst>
              <a:gd name="adj" fmla="val 6250"/>
            </a:avLst>
          </a:prstGeom>
          <a:solidFill>
            <a:srgbClr val="EEF4F7"/>
          </a:solidFill>
          <a:ln w="12700">
            <a:solidFill>
              <a:srgbClr val="EEF4F7"/>
            </a:solidFill>
            <a:prstDash val="solid"/>
          </a:ln>
        </p:spPr>
      </p:sp>
      <p:sp>
        <p:nvSpPr>
          <p:cNvPr id="28" name="Text 26"/>
          <p:cNvSpPr txBox="1"/>
          <p:nvPr/>
        </p:nvSpPr>
        <p:spPr>
          <a:xfrm>
            <a:off x="3319272" y="3291840"/>
            <a:ext cx="2139696" cy="643738"/>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41,9%</a:t>
            </a:r>
            <a:endParaRPr lang="en-US" sz="2600" dirty="0"/>
          </a:p>
        </p:txBody>
      </p:sp>
      <p:sp>
        <p:nvSpPr>
          <p:cNvPr id="29" name="Text 27"/>
          <p:cNvSpPr txBox="1"/>
          <p:nvPr/>
        </p:nvSpPr>
        <p:spPr>
          <a:xfrm>
            <a:off x="3319272" y="3944356"/>
            <a:ext cx="2139696" cy="397947"/>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Recall thực thể chưa gặp trong train</a:t>
            </a:r>
            <a:endParaRPr lang="en-US" sz="1150" dirty="0"/>
          </a:p>
        </p:txBody>
      </p:sp>
      <p:graphicFrame>
        <p:nvGraphicFramePr>
          <p:cNvPr id="30" name="Chart 0" descr=""/>
          <p:cNvGraphicFramePr/>
          <p:nvPr/>
        </p:nvGraphicFramePr>
        <p:xfrm>
          <a:off x="5897880" y="1874520"/>
          <a:ext cx="5760720" cy="2606040"/>
        </p:xfrm>
        <a:graphic xmlns:a="http://schemas.openxmlformats.org/drawingml/2006/main">
          <a:graphicData uri="http://schemas.openxmlformats.org/drawingml/2006/chart">
            <c:chart xmlns:c="http://schemas.openxmlformats.org/drawingml/2006/chart" r:id="rId1"/>
          </a:graphicData>
        </a:graphic>
      </p:graphicFrame>
      <p:sp>
        <p:nvSpPr>
          <p:cNvPr id="31" name="Shape 28"/>
          <p:cNvSpPr/>
          <p:nvPr/>
        </p:nvSpPr>
        <p:spPr>
          <a:xfrm>
            <a:off x="548640" y="4663440"/>
            <a:ext cx="5440680" cy="1645920"/>
          </a:xfrm>
          <a:prstGeom prst="roundRect">
            <a:avLst>
              <a:gd name="adj" fmla="val 4444"/>
            </a:avLst>
          </a:prstGeom>
          <a:solidFill>
            <a:srgbClr val="E3F3F1"/>
          </a:solidFill>
          <a:ln w="12700">
            <a:solidFill>
              <a:srgbClr val="E3F3F1"/>
            </a:solidFill>
            <a:prstDash val="solid"/>
          </a:ln>
        </p:spPr>
      </p:sp>
      <p:sp>
        <p:nvSpPr>
          <p:cNvPr id="32" name="Text 29"/>
          <p:cNvSpPr txBox="1"/>
          <p:nvPr/>
        </p:nvSpPr>
        <p:spPr>
          <a:xfrm>
            <a:off x="749808" y="4754880"/>
            <a:ext cx="5029200" cy="365760"/>
          </a:xfrm>
          <a:prstGeom prst="rect">
            <a:avLst/>
          </a:prstGeom>
          <a:noFill/>
          <a:ln/>
        </p:spPr>
        <p:txBody>
          <a:bodyPr wrap="square" lIns="0" tIns="0" rIns="0" bIns="0" rtlCol="0" anchor="ctr"/>
          <a:lstStyle/>
          <a:p>
            <a:pPr indent="0" marL="0">
              <a:buNone/>
            </a:pPr>
            <a:r>
              <a:rPr lang="en-US" sz="1600" b="1" dirty="0">
                <a:solidFill>
                  <a:srgbClr val="2A9D8F"/>
                </a:solidFill>
                <a:latin typeface="Cambria" pitchFamily="34" charset="0"/>
                <a:ea typeface="Cambria" pitchFamily="34" charset="-122"/>
                <a:cs typeface="Cambria" pitchFamily="34" charset="-120"/>
              </a:rPr>
              <a:t>Học được</a:t>
            </a:r>
            <a:endParaRPr lang="en-US" sz="1600" dirty="0"/>
          </a:p>
        </p:txBody>
      </p:sp>
      <p:sp>
        <p:nvSpPr>
          <p:cNvPr id="33" name="Text 30"/>
          <p:cNvSpPr txBox="1"/>
          <p:nvPr/>
        </p:nvSpPr>
        <p:spPr>
          <a:xfrm>
            <a:off x="749808" y="5120640"/>
            <a:ext cx="5074920" cy="114300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Thực thể chưa gặp </a:t>
            </a:r>
            <a:r>
              <a:rPr lang="en-US" sz="1350" b="1" dirty="0">
                <a:solidFill>
                  <a:srgbClr val="1B2733"/>
                </a:solidFill>
                <a:latin typeface="Calibri" pitchFamily="34" charset="0"/>
                <a:ea typeface="Calibri" pitchFamily="34" charset="-122"/>
                <a:cs typeface="Calibri" pitchFamily="34" charset="-120"/>
              </a:rPr>
              <a:t>41,9%</a:t>
            </a:r>
            <a:r>
              <a:rPr lang="en-US" sz="1350" dirty="0">
                <a:solidFill>
                  <a:srgbClr val="1B2733"/>
                </a:solidFill>
                <a:latin typeface="Calibri" pitchFamily="34" charset="0"/>
                <a:ea typeface="Calibri" pitchFamily="34" charset="-122"/>
                <a:cs typeface="Calibri" pitchFamily="34" charset="-120"/>
              </a:rPr>
              <a:t> — cao nhất cả thang (≈ 3 lần CRF)</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Tăng ở lớp y khoa: DISEASESYMTOM, MEDDEVICETECHNIQUE, DIAGNOSTICS</a:t>
            </a:r>
            <a:endParaRPr lang="en-US" sz="1350" dirty="0"/>
          </a:p>
        </p:txBody>
      </p:sp>
      <p:sp>
        <p:nvSpPr>
          <p:cNvPr id="34" name="Shape 31"/>
          <p:cNvSpPr/>
          <p:nvPr/>
        </p:nvSpPr>
        <p:spPr>
          <a:xfrm>
            <a:off x="6217920" y="4663440"/>
            <a:ext cx="5440680" cy="1645920"/>
          </a:xfrm>
          <a:prstGeom prst="roundRect">
            <a:avLst>
              <a:gd name="adj" fmla="val 4444"/>
            </a:avLst>
          </a:prstGeom>
          <a:solidFill>
            <a:srgbClr val="FCE9E3"/>
          </a:solidFill>
          <a:ln w="12700">
            <a:solidFill>
              <a:srgbClr val="FCE9E3"/>
            </a:solidFill>
            <a:prstDash val="solid"/>
          </a:ln>
        </p:spPr>
      </p:sp>
      <p:sp>
        <p:nvSpPr>
          <p:cNvPr id="35" name="Text 32"/>
          <p:cNvSpPr txBox="1"/>
          <p:nvPr/>
        </p:nvSpPr>
        <p:spPr>
          <a:xfrm>
            <a:off x="6419088" y="4754880"/>
            <a:ext cx="5029200" cy="365760"/>
          </a:xfrm>
          <a:prstGeom prst="rect">
            <a:avLst/>
          </a:prstGeom>
          <a:noFill/>
          <a:ln/>
        </p:spPr>
        <p:txBody>
          <a:bodyPr wrap="square" lIns="0" tIns="0" rIns="0" bIns="0" rtlCol="0" anchor="ctr"/>
          <a:lstStyle/>
          <a:p>
            <a:pPr indent="0" marL="0">
              <a:buNone/>
            </a:pPr>
            <a:r>
              <a:rPr lang="en-US" sz="1600" b="1" dirty="0">
                <a:solidFill>
                  <a:srgbClr val="E4572E"/>
                </a:solidFill>
                <a:latin typeface="Cambria" pitchFamily="34" charset="0"/>
                <a:ea typeface="Cambria" pitchFamily="34" charset="-122"/>
                <a:cs typeface="Cambria" pitchFamily="34" charset="-120"/>
              </a:rPr>
              <a:t>Còn thiếu → bậc tiếp theo</a:t>
            </a:r>
            <a:endParaRPr lang="en-US" sz="1600" dirty="0"/>
          </a:p>
        </p:txBody>
      </p:sp>
      <p:sp>
        <p:nvSpPr>
          <p:cNvPr id="36" name="Text 33"/>
          <p:cNvSpPr txBox="1"/>
          <p:nvPr/>
        </p:nvSpPr>
        <p:spPr>
          <a:xfrm>
            <a:off x="6419088" y="5120640"/>
            <a:ext cx="5074920" cy="114300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F1 tổng chỉ </a:t>
            </a:r>
            <a:r>
              <a:rPr lang="en-US" sz="1350" b="1" dirty="0">
                <a:solidFill>
                  <a:srgbClr val="1B2733"/>
                </a:solidFill>
                <a:latin typeface="Calibri" pitchFamily="34" charset="0"/>
                <a:ea typeface="Calibri" pitchFamily="34" charset="-122"/>
                <a:cs typeface="Calibri" pitchFamily="34" charset="-120"/>
              </a:rPr>
              <a:t>+0,32</a:t>
            </a:r>
            <a:r>
              <a:rPr lang="en-US" sz="1350" dirty="0">
                <a:solidFill>
                  <a:srgbClr val="1B2733"/>
                </a:solidFill>
                <a:latin typeface="Calibri" pitchFamily="34" charset="0"/>
                <a:ea typeface="Calibri" pitchFamily="34" charset="-122"/>
                <a:cs typeface="Calibri" pitchFamily="34" charset="-120"/>
              </a:rPr>
              <a:t> so với PhoBERT, CI chứa 0 ⇒ ngang nhau</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Vẫn thua CRF 1,05 điểm strict ⇒ bậc tiếp theo: </a:t>
            </a:r>
            <a:r>
              <a:rPr lang="en-US" sz="1350" b="1" dirty="0">
                <a:solidFill>
                  <a:srgbClr val="1B2733"/>
                </a:solidFill>
                <a:latin typeface="Calibri" pitchFamily="34" charset="0"/>
                <a:ea typeface="Calibri" pitchFamily="34" charset="-122"/>
                <a:cs typeface="Calibri" pitchFamily="34" charset="-120"/>
              </a:rPr>
              <a:t>BERT-CRF</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Nhìn lại cả thang: hai đường đi lên khác nhau</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12 / 18</a:t>
            </a:r>
            <a:endParaRPr lang="en-US" sz="1000" dirty="0"/>
          </a:p>
        </p:txBody>
      </p:sp>
      <p:sp>
        <p:nvSpPr>
          <p:cNvPr id="4" name="Shape 2"/>
          <p:cNvSpPr/>
          <p:nvPr/>
        </p:nvSpPr>
        <p:spPr>
          <a:xfrm>
            <a:off x="8366760" y="868680"/>
            <a:ext cx="548640" cy="182880"/>
          </a:xfrm>
          <a:prstGeom prst="rect">
            <a:avLst/>
          </a:prstGeom>
          <a:solidFill>
            <a:srgbClr val="2A9D8F"/>
          </a:solidFill>
          <a:ln w="12700">
            <a:solidFill>
              <a:srgbClr val="2A9D8F"/>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2A9D8F"/>
          </a:solidFill>
          <a:ln w="12700">
            <a:solidFill>
              <a:srgbClr val="2A9D8F"/>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2A9D8F"/>
          </a:solidFill>
          <a:ln w="12700">
            <a:solidFill>
              <a:srgbClr val="2A9D8F"/>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2A9D8F"/>
          </a:solidFill>
          <a:ln w="12700">
            <a:solidFill>
              <a:srgbClr val="2A9D8F"/>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2A9D8F"/>
          </a:solidFill>
          <a:ln w="12700">
            <a:solidFill>
              <a:srgbClr val="2A9D8F"/>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E4572E"/>
          </a:solidFill>
          <a:ln w="12700">
            <a:solidFill>
              <a:srgbClr val="E4572E"/>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graphicFrame>
        <p:nvGraphicFramePr>
          <p:cNvPr id="16" name="Chart 0" descr=""/>
          <p:cNvGraphicFramePr/>
          <p:nvPr/>
        </p:nvGraphicFramePr>
        <p:xfrm>
          <a:off x="457200" y="1143000"/>
          <a:ext cx="6675120" cy="512064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60920" y="1188720"/>
          <a:ext cx="4297680" cy="914400"/>
        </p:xfrm>
        <a:graphic>
          <a:graphicData uri="http://schemas.openxmlformats.org/drawingml/2006/table">
            <a:tbl>
              <a:tblPr/>
              <a:tblGrid>
                <a:gridCol w="1737360"/>
                <a:gridCol w="777240"/>
                <a:gridCol w="1051560"/>
                <a:gridCol w="731520"/>
              </a:tblGrid>
              <a:tr h="38404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Bước</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Δ F1 test</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CI95</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Δ thực thể mới</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8404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LogReg → Linear SVM</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+1,87</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[+1,4; +2,4]</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+0,5</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8404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Linear SVM → CRF</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+5,70</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[+4,9; +6,5]</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+8,5</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150" b="1" dirty="0">
                          <a:solidFill>
                            <a:srgbClr val="1B2733"/>
                          </a:solidFill>
                          <a:latin typeface="Calibri" pitchFamily="34" charset="0"/>
                          <a:ea typeface="Calibri" pitchFamily="34" charset="-122"/>
                          <a:cs typeface="Calibri" pitchFamily="34" charset="-120"/>
                        </a:rPr>
                        <a:t>CRF → XLM-R</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150" b="1" dirty="0">
                          <a:solidFill>
                            <a:srgbClr val="1B2733"/>
                          </a:solidFill>
                          <a:latin typeface="Calibri" pitchFamily="34" charset="0"/>
                          <a:ea typeface="Calibri" pitchFamily="34" charset="-122"/>
                          <a:cs typeface="Calibri" pitchFamily="34" charset="-120"/>
                        </a:rPr>
                        <a:t>−5,17</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150" b="1" dirty="0">
                          <a:solidFill>
                            <a:srgbClr val="1B2733"/>
                          </a:solidFill>
                          <a:latin typeface="Calibri" pitchFamily="34" charset="0"/>
                          <a:ea typeface="Calibri" pitchFamily="34" charset="-122"/>
                          <a:cs typeface="Calibri" pitchFamily="34" charset="-120"/>
                        </a:rPr>
                        <a:t>[−6,3; −4,1]</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150" b="1" dirty="0">
                          <a:solidFill>
                            <a:srgbClr val="1B2733"/>
                          </a:solidFill>
                          <a:latin typeface="Calibri" pitchFamily="34" charset="0"/>
                          <a:ea typeface="Calibri" pitchFamily="34" charset="-122"/>
                          <a:cs typeface="Calibri" pitchFamily="34" charset="-120"/>
                        </a:rPr>
                        <a:t>+27,3</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r>
              <a:tr h="38404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XLM-R → PhoBERT</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+3,80</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[+2,9; +4,8]</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−5,6</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PhoBERT → ViHealthBERT</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+0,32</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[−0,4; +1,0]</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+6,3</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bl>
          </a:graphicData>
        </a:graphic>
      </p:graphicFrame>
      <p:sp>
        <p:nvSpPr>
          <p:cNvPr id="18" name="Shape 14"/>
          <p:cNvSpPr/>
          <p:nvPr/>
        </p:nvSpPr>
        <p:spPr>
          <a:xfrm>
            <a:off x="7360920" y="3749040"/>
            <a:ext cx="4297680" cy="2514600"/>
          </a:xfrm>
          <a:prstGeom prst="roundRect">
            <a:avLst>
              <a:gd name="adj" fmla="val 2909"/>
            </a:avLst>
          </a:prstGeom>
          <a:solidFill>
            <a:srgbClr val="E3F3F1"/>
          </a:solidFill>
          <a:ln w="12700">
            <a:solidFill>
              <a:srgbClr val="E3F3F1"/>
            </a:solidFill>
            <a:prstDash val="solid"/>
          </a:ln>
        </p:spPr>
      </p:sp>
      <p:sp>
        <p:nvSpPr>
          <p:cNvPr id="19" name="Text 15"/>
          <p:cNvSpPr txBox="1"/>
          <p:nvPr/>
        </p:nvSpPr>
        <p:spPr>
          <a:xfrm>
            <a:off x="7562088" y="3840480"/>
            <a:ext cx="3931920" cy="365760"/>
          </a:xfrm>
          <a:prstGeom prst="rect">
            <a:avLst/>
          </a:prstGeom>
          <a:noFill/>
          <a:ln/>
        </p:spPr>
        <p:txBody>
          <a:bodyPr wrap="square" lIns="0" tIns="0" rIns="0" bIns="0" rtlCol="0" anchor="ctr"/>
          <a:lstStyle/>
          <a:p>
            <a:pPr indent="0" marL="0">
              <a:buNone/>
            </a:pPr>
            <a:r>
              <a:rPr lang="en-US" sz="1600" b="1" dirty="0">
                <a:solidFill>
                  <a:srgbClr val="2A9D8F"/>
                </a:solidFill>
                <a:latin typeface="Cambria" pitchFamily="34" charset="0"/>
                <a:ea typeface="Cambria" pitchFamily="34" charset="-122"/>
                <a:cs typeface="Cambria" pitchFamily="34" charset="-120"/>
              </a:rPr>
              <a:t>Đọc biểu đồ</a:t>
            </a:r>
            <a:endParaRPr lang="en-US" sz="1600" dirty="0"/>
          </a:p>
        </p:txBody>
      </p:sp>
      <p:sp>
        <p:nvSpPr>
          <p:cNvPr id="20" name="Text 16"/>
          <p:cNvSpPr txBox="1"/>
          <p:nvPr/>
        </p:nvSpPr>
        <p:spPr>
          <a:xfrm>
            <a:off x="7562088" y="4224528"/>
            <a:ext cx="3977640" cy="1965960"/>
          </a:xfrm>
          <a:prstGeom prst="rect">
            <a:avLst/>
          </a:prstGeom>
          <a:noFill/>
          <a:ln/>
        </p:spPr>
        <p:txBody>
          <a:bodyPr wrap="square" lIns="635" tIns="635" rIns="635" bIns="635" rtlCol="0" anchor="t"/>
          <a:lstStyle/>
          <a:p>
            <a:pPr marL="203200" indent="-203200">
              <a:spcAft>
                <a:spcPts val="600"/>
              </a:spcAft>
              <a:buSzPct val="100000"/>
              <a:buChar char="•"/>
            </a:pPr>
            <a:r>
              <a:rPr lang="en-US" sz="1400" b="1" dirty="0">
                <a:solidFill>
                  <a:srgbClr val="1B2733"/>
                </a:solidFill>
                <a:latin typeface="Calibri" pitchFamily="34" charset="0"/>
                <a:ea typeface="Calibri" pitchFamily="34" charset="-122"/>
                <a:cs typeface="Calibri" pitchFamily="34" charset="-120"/>
              </a:rPr>
              <a:t>Đường ghi nhớ</a:t>
            </a:r>
            <a:r>
              <a:rPr lang="en-US" sz="1400" dirty="0">
                <a:solidFill>
                  <a:srgbClr val="1B2733"/>
                </a:solidFill>
                <a:latin typeface="Calibri" pitchFamily="34" charset="0"/>
                <a:ea typeface="Calibri" pitchFamily="34" charset="-122"/>
                <a:cs typeface="Calibri" pitchFamily="34" charset="-120"/>
              </a:rPr>
              <a:t> (F1 strict) đạt đỉnh ở </a:t>
            </a:r>
            <a:r>
              <a:rPr lang="en-US" sz="1400" b="1" dirty="0">
                <a:solidFill>
                  <a:srgbClr val="1B2733"/>
                </a:solidFill>
                <a:latin typeface="Calibri" pitchFamily="34" charset="0"/>
                <a:ea typeface="Calibri" pitchFamily="34" charset="-122"/>
                <a:cs typeface="Calibri" pitchFamily="34" charset="-120"/>
              </a:rPr>
              <a:t>CRF</a:t>
            </a:r>
            <a:endParaRPr lang="en-US" sz="1400" dirty="0"/>
          </a:p>
          <a:p>
            <a:pPr marL="203200" indent="-203200">
              <a:spcAft>
                <a:spcPts val="600"/>
              </a:spcAft>
              <a:buSzPct val="100000"/>
              <a:buChar char="•"/>
            </a:pPr>
            <a:r>
              <a:rPr lang="en-US" sz="1400" b="1" dirty="0">
                <a:solidFill>
                  <a:srgbClr val="1B2733"/>
                </a:solidFill>
                <a:latin typeface="Calibri" pitchFamily="34" charset="0"/>
                <a:ea typeface="Calibri" pitchFamily="34" charset="-122"/>
                <a:cs typeface="Calibri" pitchFamily="34" charset="-120"/>
              </a:rPr>
              <a:t>Đường hiểu</a:t>
            </a:r>
            <a:r>
              <a:rPr lang="en-US" sz="1400" dirty="0">
                <a:solidFill>
                  <a:srgbClr val="1B2733"/>
                </a:solidFill>
                <a:latin typeface="Calibri" pitchFamily="34" charset="0"/>
                <a:ea typeface="Calibri" pitchFamily="34" charset="-122"/>
                <a:cs typeface="Calibri" pitchFamily="34" charset="-120"/>
              </a:rPr>
              <a:t> (thực thể mới) vọt ở bậc 4 và đạt đỉnh ở </a:t>
            </a:r>
            <a:r>
              <a:rPr lang="en-US" sz="1400" b="1" dirty="0">
                <a:solidFill>
                  <a:srgbClr val="1B2733"/>
                </a:solidFill>
                <a:latin typeface="Calibri" pitchFamily="34" charset="0"/>
                <a:ea typeface="Calibri" pitchFamily="34" charset="-122"/>
                <a:cs typeface="Calibri" pitchFamily="34" charset="-120"/>
              </a:rPr>
              <a:t>ViHealthBERT</a:t>
            </a:r>
            <a:endParaRPr lang="en-US" sz="1400" dirty="0"/>
          </a:p>
          <a:p>
            <a:pPr marL="203200" indent="-2032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Bước duy nhất F1 giảm có ý nghĩa: CRF → XLM-R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Ghi nhớ hay hiểu: phân tích lỗi theo độ khó</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13 / 18</a:t>
            </a:r>
            <a:endParaRPr lang="en-US" sz="1000" dirty="0"/>
          </a:p>
        </p:txBody>
      </p:sp>
      <p:sp>
        <p:nvSpPr>
          <p:cNvPr id="4" name="Shape 2"/>
          <p:cNvSpPr/>
          <p:nvPr/>
        </p:nvSpPr>
        <p:spPr>
          <a:xfrm>
            <a:off x="8366760" y="868680"/>
            <a:ext cx="548640" cy="182880"/>
          </a:xfrm>
          <a:prstGeom prst="rect">
            <a:avLst/>
          </a:prstGeom>
          <a:solidFill>
            <a:srgbClr val="2A9D8F"/>
          </a:solidFill>
          <a:ln w="12700">
            <a:solidFill>
              <a:srgbClr val="2A9D8F"/>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2A9D8F"/>
          </a:solidFill>
          <a:ln w="12700">
            <a:solidFill>
              <a:srgbClr val="2A9D8F"/>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2A9D8F"/>
          </a:solidFill>
          <a:ln w="12700">
            <a:solidFill>
              <a:srgbClr val="2A9D8F"/>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2A9D8F"/>
          </a:solidFill>
          <a:ln w="12700">
            <a:solidFill>
              <a:srgbClr val="2A9D8F"/>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2A9D8F"/>
          </a:solidFill>
          <a:ln w="12700">
            <a:solidFill>
              <a:srgbClr val="2A9D8F"/>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E4572E"/>
          </a:solidFill>
          <a:ln w="12700">
            <a:solidFill>
              <a:srgbClr val="E4572E"/>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graphicFrame>
        <p:nvGraphicFramePr>
          <p:cNvPr id="16" name="Chart 0" descr=""/>
          <p:cNvGraphicFramePr/>
          <p:nvPr/>
        </p:nvGraphicFramePr>
        <p:xfrm>
          <a:off x="457200" y="1143000"/>
          <a:ext cx="6675120" cy="393192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548640" y="5212080"/>
            <a:ext cx="6583680" cy="1097280"/>
          </a:xfrm>
          <a:prstGeom prst="roundRect">
            <a:avLst>
              <a:gd name="adj" fmla="val 6667"/>
            </a:avLst>
          </a:prstGeom>
          <a:solidFill>
            <a:srgbClr val="EEF4F7"/>
          </a:solidFill>
          <a:ln w="12700">
            <a:solidFill>
              <a:srgbClr val="EEF4F7"/>
            </a:solidFill>
            <a:prstDash val="solid"/>
          </a:ln>
        </p:spPr>
      </p:sp>
      <p:sp>
        <p:nvSpPr>
          <p:cNvPr id="18" name="Text 15"/>
          <p:cNvSpPr txBox="1"/>
          <p:nvPr/>
        </p:nvSpPr>
        <p:spPr>
          <a:xfrm>
            <a:off x="731520" y="5257800"/>
            <a:ext cx="6263640" cy="1005840"/>
          </a:xfrm>
          <a:prstGeom prst="rect">
            <a:avLst/>
          </a:prstGeom>
          <a:noFill/>
          <a:ln/>
        </p:spPr>
        <p:txBody>
          <a:bodyPr wrap="square" lIns="0" tIns="0" rIns="0" bIns="0" rtlCol="0" anchor="ctr"/>
          <a:lstStyle/>
          <a:p>
            <a:pPr algn="l" indent="0" marL="0">
              <a:buNone/>
            </a:pPr>
            <a:r>
              <a:rPr lang="en-US" sz="1350" dirty="0">
                <a:solidFill>
                  <a:srgbClr val="1B2733"/>
                </a:solidFill>
                <a:latin typeface="Calibri" pitchFamily="34" charset="0"/>
                <a:ea typeface="Calibri" pitchFamily="34" charset="-122"/>
                <a:cs typeface="Calibri" pitchFamily="34" charset="-120"/>
              </a:rPr>
              <a:t>Test có </a:t>
            </a:r>
            <a:r>
              <a:rPr lang="en-US" sz="1350" b="1" dirty="0">
                <a:solidFill>
                  <a:srgbClr val="1B2733"/>
                </a:solidFill>
                <a:latin typeface="Calibri" pitchFamily="34" charset="0"/>
                <a:ea typeface="Calibri" pitchFamily="34" charset="-122"/>
                <a:cs typeface="Calibri" pitchFamily="34" charset="-120"/>
              </a:rPr>
              <a:t>5.782</a:t>
            </a:r>
            <a:r>
              <a:rPr lang="en-US" sz="1350" dirty="0">
                <a:solidFill>
                  <a:srgbClr val="1B2733"/>
                </a:solidFill>
                <a:latin typeface="Calibri" pitchFamily="34" charset="0"/>
                <a:ea typeface="Calibri" pitchFamily="34" charset="-122"/>
                <a:cs typeface="Calibri" pitchFamily="34" charset="-120"/>
              </a:rPr>
              <a:t> thực thể đã gặp (69%) và </a:t>
            </a:r>
            <a:r>
              <a:rPr lang="en-US" sz="1350" b="1" dirty="0">
                <a:solidFill>
                  <a:srgbClr val="1B2733"/>
                </a:solidFill>
                <a:latin typeface="Calibri" pitchFamily="34" charset="0"/>
                <a:ea typeface="Calibri" pitchFamily="34" charset="-122"/>
                <a:cs typeface="Calibri" pitchFamily="34" charset="-120"/>
              </a:rPr>
              <a:t>2.556</a:t>
            </a:r>
            <a:r>
              <a:rPr lang="en-US" sz="1350" dirty="0">
                <a:solidFill>
                  <a:srgbClr val="1B2733"/>
                </a:solidFill>
                <a:latin typeface="Calibri" pitchFamily="34" charset="0"/>
                <a:ea typeface="Calibri" pitchFamily="34" charset="-122"/>
                <a:cs typeface="Calibri" pitchFamily="34" charset="-120"/>
              </a:rPr>
              <a:t> chưa gặp. Với văn bản, "độ khó của mẫu" (như ảnh mờ/rõ) chính là thực thể có quen thuộc với mô hình hay không.</a:t>
            </a:r>
            <a:endParaRPr lang="en-US" sz="1350" dirty="0"/>
          </a:p>
        </p:txBody>
      </p:sp>
      <p:sp>
        <p:nvSpPr>
          <p:cNvPr id="19" name="Shape 16"/>
          <p:cNvSpPr/>
          <p:nvPr/>
        </p:nvSpPr>
        <p:spPr>
          <a:xfrm>
            <a:off x="7360920" y="1188720"/>
            <a:ext cx="4297680" cy="3291840"/>
          </a:xfrm>
          <a:prstGeom prst="roundRect">
            <a:avLst>
              <a:gd name="adj" fmla="val 2222"/>
            </a:avLst>
          </a:prstGeom>
          <a:solidFill>
            <a:srgbClr val="FFFFFF"/>
          </a:solidFill>
          <a:ln w="12700">
            <a:solidFill>
              <a:srgbClr val="D5DEE5"/>
            </a:solidFill>
            <a:prstDash val="solid"/>
          </a:ln>
        </p:spPr>
      </p:sp>
      <p:sp>
        <p:nvSpPr>
          <p:cNvPr id="20" name="Text 17"/>
          <p:cNvSpPr txBox="1"/>
          <p:nvPr/>
        </p:nvSpPr>
        <p:spPr>
          <a:xfrm>
            <a:off x="7562088" y="1307592"/>
            <a:ext cx="3931920" cy="365760"/>
          </a:xfrm>
          <a:prstGeom prst="rect">
            <a:avLst/>
          </a:prstGeom>
          <a:noFill/>
          <a:ln/>
        </p:spPr>
        <p:txBody>
          <a:bodyPr wrap="square" lIns="0" tIns="0" rIns="0" bIns="0" rtlCol="0" anchor="ctr"/>
          <a:lstStyle/>
          <a:p>
            <a:pPr indent="0" marL="0">
              <a:buNone/>
            </a:pPr>
            <a:r>
              <a:rPr lang="en-US" sz="1700" b="1" dirty="0">
                <a:solidFill>
                  <a:srgbClr val="0F2A3D"/>
                </a:solidFill>
                <a:latin typeface="Cambria" pitchFamily="34" charset="0"/>
                <a:ea typeface="Cambria" pitchFamily="34" charset="-122"/>
                <a:cs typeface="Cambria" pitchFamily="34" charset="-120"/>
              </a:rPr>
              <a:t>Ví dụ thật (thực thể chưa gặp)</a:t>
            </a:r>
            <a:endParaRPr lang="en-US" sz="1700" dirty="0"/>
          </a:p>
        </p:txBody>
      </p:sp>
      <p:sp>
        <p:nvSpPr>
          <p:cNvPr id="21" name="Text 18"/>
          <p:cNvSpPr txBox="1"/>
          <p:nvPr/>
        </p:nvSpPr>
        <p:spPr>
          <a:xfrm>
            <a:off x="7562088" y="1737360"/>
            <a:ext cx="3931920" cy="2651760"/>
          </a:xfrm>
          <a:prstGeom prst="rect">
            <a:avLst/>
          </a:prstGeom>
          <a:noFill/>
          <a:ln/>
        </p:spPr>
        <p:txBody>
          <a:bodyPr wrap="square" lIns="0" tIns="0" rIns="0" bIns="0" rtlCol="0" anchor="t"/>
          <a:lstStyle/>
          <a:p>
            <a:pPr indent="0" marL="0">
              <a:spcAft>
                <a:spcPts val="1000"/>
              </a:spcAft>
              <a:buNone/>
            </a:pPr>
            <a:r>
              <a:rPr lang="en-US" sz="1400" i="1" dirty="0">
                <a:solidFill>
                  <a:srgbClr val="1B2733"/>
                </a:solidFill>
                <a:latin typeface="Calibri" pitchFamily="34" charset="0"/>
                <a:ea typeface="Calibri" pitchFamily="34" charset="-122"/>
                <a:cs typeface="Calibri" pitchFamily="34" charset="-120"/>
              </a:rPr>
              <a:t>"rong huyết như vậy mình sẽ phân biệt với rong kinh và rong huyết"</a:t>
            </a:r>
            <a:endParaRPr lang="en-US" sz="1400" dirty="0"/>
          </a:p>
          <a:p>
            <a:pPr indent="0" marL="0">
              <a:spcAft>
                <a:spcPts val="1000"/>
              </a:spcAft>
              <a:buNone/>
            </a:pPr>
            <a:r>
              <a:rPr lang="en-US" sz="1400" b="1" dirty="0">
                <a:solidFill>
                  <a:srgbClr val="E4572E"/>
                </a:solidFill>
                <a:latin typeface="Calibri" pitchFamily="34" charset="0"/>
                <a:ea typeface="Calibri" pitchFamily="34" charset="-122"/>
                <a:cs typeface="Calibri" pitchFamily="34" charset="-120"/>
              </a:rPr>
              <a:t>Bậc 3 — CRF: "huyết" → ORGAN (×2)</a:t>
            </a:r>
            <a:endParaRPr lang="en-US" sz="1400" dirty="0"/>
          </a:p>
          <a:p>
            <a:pPr indent="0" marL="0">
              <a:spcAft>
                <a:spcPts val="1000"/>
              </a:spcAft>
              <a:buNone/>
            </a:pPr>
            <a:r>
              <a:rPr lang="en-US" sz="1400" b="1" dirty="0">
                <a:solidFill>
                  <a:srgbClr val="2A9D8F"/>
                </a:solidFill>
                <a:latin typeface="Calibri" pitchFamily="34" charset="0"/>
                <a:ea typeface="Calibri" pitchFamily="34" charset="-122"/>
                <a:cs typeface="Calibri" pitchFamily="34" charset="-120"/>
              </a:rPr>
              <a:t>Bậc 6 — ViHealthBERT: đúng cả 3 thực thể</a:t>
            </a:r>
            <a:endParaRPr lang="en-US" sz="1400" dirty="0"/>
          </a:p>
        </p:txBody>
      </p:sp>
      <p:sp>
        <p:nvSpPr>
          <p:cNvPr id="22" name="Shape 19"/>
          <p:cNvSpPr/>
          <p:nvPr/>
        </p:nvSpPr>
        <p:spPr>
          <a:xfrm>
            <a:off x="7360920" y="4663440"/>
            <a:ext cx="4297680" cy="1645920"/>
          </a:xfrm>
          <a:prstGeom prst="roundRect">
            <a:avLst>
              <a:gd name="adj" fmla="val 4444"/>
            </a:avLst>
          </a:prstGeom>
          <a:solidFill>
            <a:srgbClr val="FBF1DF"/>
          </a:solidFill>
          <a:ln w="12700">
            <a:solidFill>
              <a:srgbClr val="FBF1DF"/>
            </a:solidFill>
            <a:prstDash val="solid"/>
          </a:ln>
        </p:spPr>
      </p:sp>
      <p:sp>
        <p:nvSpPr>
          <p:cNvPr id="23" name="Text 20"/>
          <p:cNvSpPr txBox="1"/>
          <p:nvPr/>
        </p:nvSpPr>
        <p:spPr>
          <a:xfrm>
            <a:off x="7562088" y="4754880"/>
            <a:ext cx="3931920" cy="1463040"/>
          </a:xfrm>
          <a:prstGeom prst="rect">
            <a:avLst/>
          </a:prstGeom>
          <a:noFill/>
          <a:ln/>
        </p:spPr>
        <p:txBody>
          <a:bodyPr wrap="square" lIns="0" tIns="0" rIns="0" bIns="0" rtlCol="0" anchor="ctr"/>
          <a:lstStyle/>
          <a:p>
            <a:pPr algn="l" indent="0" marL="0">
              <a:buNone/>
            </a:pPr>
            <a:r>
              <a:rPr lang="en-US" sz="1400" b="1" dirty="0">
                <a:solidFill>
                  <a:srgbClr val="1B2733"/>
                </a:solidFill>
                <a:latin typeface="Calibri" pitchFamily="34" charset="0"/>
                <a:ea typeface="Calibri" pitchFamily="34" charset="-122"/>
                <a:cs typeface="Calibri" pitchFamily="34" charset="-120"/>
              </a:rPr>
              <a:t>Chọn theo dữ liệu:</a:t>
            </a:r>
            <a:r>
              <a:rPr lang="en-US" sz="1400" dirty="0">
                <a:solidFill>
                  <a:srgbClr val="1B2733"/>
                </a:solidFill>
                <a:latin typeface="Calibri" pitchFamily="34" charset="0"/>
                <a:ea typeface="Calibri" pitchFamily="34" charset="-122"/>
                <a:cs typeface="Calibri" pitchFamily="34" charset="-120"/>
              </a:rPr>
              <a:t> thuật ngữ lặp lại như train → CRF (rẻ, chính xác nhất theo strict). Chủ đề bệnh mới như test → ViHealthBERT.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Mỗi bậc đều overfit? Train, validation và test</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14 / 18</a:t>
            </a:r>
            <a:endParaRPr lang="en-US" sz="1000" dirty="0"/>
          </a:p>
        </p:txBody>
      </p:sp>
      <p:sp>
        <p:nvSpPr>
          <p:cNvPr id="4" name="Shape 2"/>
          <p:cNvSpPr/>
          <p:nvPr/>
        </p:nvSpPr>
        <p:spPr>
          <a:xfrm>
            <a:off x="8366760" y="868680"/>
            <a:ext cx="548640" cy="182880"/>
          </a:xfrm>
          <a:prstGeom prst="rect">
            <a:avLst/>
          </a:prstGeom>
          <a:solidFill>
            <a:srgbClr val="2A9D8F"/>
          </a:solidFill>
          <a:ln w="12700">
            <a:solidFill>
              <a:srgbClr val="2A9D8F"/>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2A9D8F"/>
          </a:solidFill>
          <a:ln w="12700">
            <a:solidFill>
              <a:srgbClr val="2A9D8F"/>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2A9D8F"/>
          </a:solidFill>
          <a:ln w="12700">
            <a:solidFill>
              <a:srgbClr val="2A9D8F"/>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2A9D8F"/>
          </a:solidFill>
          <a:ln w="12700">
            <a:solidFill>
              <a:srgbClr val="2A9D8F"/>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2A9D8F"/>
          </a:solidFill>
          <a:ln w="12700">
            <a:solidFill>
              <a:srgbClr val="2A9D8F"/>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E4572E"/>
          </a:solidFill>
          <a:ln w="12700">
            <a:solidFill>
              <a:srgbClr val="E4572E"/>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graphicFrame>
        <p:nvGraphicFramePr>
          <p:cNvPr id="16" name="Chart 0" descr=""/>
          <p:cNvGraphicFramePr/>
          <p:nvPr/>
        </p:nvGraphicFramePr>
        <p:xfrm>
          <a:off x="457200" y="1143000"/>
          <a:ext cx="585216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Chart 1" descr=""/>
          <p:cNvGraphicFramePr/>
          <p:nvPr/>
        </p:nvGraphicFramePr>
        <p:xfrm>
          <a:off x="6400800" y="1143000"/>
          <a:ext cx="5303520" cy="3200400"/>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548640" y="4572000"/>
            <a:ext cx="3593592" cy="1737360"/>
          </a:xfrm>
          <a:prstGeom prst="roundRect">
            <a:avLst>
              <a:gd name="adj" fmla="val 4211"/>
            </a:avLst>
          </a:prstGeom>
          <a:solidFill>
            <a:srgbClr val="FCE9E3"/>
          </a:solidFill>
          <a:ln w="12700">
            <a:solidFill>
              <a:srgbClr val="FCE9E3"/>
            </a:solidFill>
            <a:prstDash val="solid"/>
          </a:ln>
        </p:spPr>
      </p:sp>
      <p:sp>
        <p:nvSpPr>
          <p:cNvPr id="19" name="Text 15"/>
          <p:cNvSpPr txBox="1"/>
          <p:nvPr/>
        </p:nvSpPr>
        <p:spPr>
          <a:xfrm>
            <a:off x="731520" y="4663440"/>
            <a:ext cx="3246120" cy="365760"/>
          </a:xfrm>
          <a:prstGeom prst="rect">
            <a:avLst/>
          </a:prstGeom>
          <a:noFill/>
          <a:ln/>
        </p:spPr>
        <p:txBody>
          <a:bodyPr wrap="square" lIns="0" tIns="0" rIns="0" bIns="0" rtlCol="0" anchor="ctr"/>
          <a:lstStyle/>
          <a:p>
            <a:pPr indent="0" marL="0">
              <a:buNone/>
            </a:pPr>
            <a:r>
              <a:rPr lang="en-US" sz="1600" b="1" dirty="0">
                <a:solidFill>
                  <a:srgbClr val="E4572E"/>
                </a:solidFill>
                <a:latin typeface="Cambria" pitchFamily="34" charset="0"/>
                <a:ea typeface="Cambria" pitchFamily="34" charset="-122"/>
                <a:cs typeface="Cambria" pitchFamily="34" charset="-120"/>
              </a:rPr>
              <a:t>Overfitting</a:t>
            </a:r>
            <a:endParaRPr lang="en-US" sz="1600" dirty="0"/>
          </a:p>
        </p:txBody>
      </p:sp>
      <p:sp>
        <p:nvSpPr>
          <p:cNvPr id="20" name="Text 16"/>
          <p:cNvSpPr txBox="1"/>
          <p:nvPr/>
        </p:nvSpPr>
        <p:spPr>
          <a:xfrm>
            <a:off x="731520" y="5047488"/>
            <a:ext cx="3246120" cy="1216152"/>
          </a:xfrm>
          <a:prstGeom prst="rect">
            <a:avLst/>
          </a:prstGeom>
          <a:noFill/>
          <a:ln/>
        </p:spPr>
        <p:txBody>
          <a:bodyPr wrap="square" lIns="0" tIns="0" rIns="0" bIns="0" rtlCol="0" anchor="t"/>
          <a:lstStyle/>
          <a:p>
            <a:pPr algn="l" indent="0" marL="0">
              <a:buNone/>
            </a:pPr>
            <a:r>
              <a:rPr lang="en-US" sz="1250" dirty="0">
                <a:solidFill>
                  <a:srgbClr val="1B2733"/>
                </a:solidFill>
                <a:latin typeface="Calibri" pitchFamily="34" charset="0"/>
                <a:ea typeface="Calibri" pitchFamily="34" charset="-122"/>
                <a:cs typeface="Calibri" pitchFamily="34" charset="-120"/>
              </a:rPr>
              <a:t>Train cao hơn val 9,6–16,2 điểm ở cả 5 mô hình nhóm huấn luyện; CRF train ≈ 100% ở mọi cỡ dữ liệu. ViHealthBERT epoch 8: 96,8% vs 85,1%.</a:t>
            </a:r>
            <a:endParaRPr lang="en-US" sz="1250" dirty="0"/>
          </a:p>
        </p:txBody>
      </p:sp>
      <p:sp>
        <p:nvSpPr>
          <p:cNvPr id="21" name="Shape 17"/>
          <p:cNvSpPr/>
          <p:nvPr/>
        </p:nvSpPr>
        <p:spPr>
          <a:xfrm>
            <a:off x="4297680" y="4572000"/>
            <a:ext cx="3593592" cy="1737360"/>
          </a:xfrm>
          <a:prstGeom prst="roundRect">
            <a:avLst>
              <a:gd name="adj" fmla="val 4211"/>
            </a:avLst>
          </a:prstGeom>
          <a:solidFill>
            <a:srgbClr val="FBF1DF"/>
          </a:solidFill>
          <a:ln w="12700">
            <a:solidFill>
              <a:srgbClr val="FBF1DF"/>
            </a:solidFill>
            <a:prstDash val="solid"/>
          </a:ln>
        </p:spPr>
      </p:sp>
      <p:sp>
        <p:nvSpPr>
          <p:cNvPr id="22" name="Text 18"/>
          <p:cNvSpPr txBox="1"/>
          <p:nvPr/>
        </p:nvSpPr>
        <p:spPr>
          <a:xfrm>
            <a:off x="4480560" y="4663440"/>
            <a:ext cx="3246120" cy="365760"/>
          </a:xfrm>
          <a:prstGeom prst="rect">
            <a:avLst/>
          </a:prstGeom>
          <a:noFill/>
          <a:ln/>
        </p:spPr>
        <p:txBody>
          <a:bodyPr wrap="square" lIns="0" tIns="0" rIns="0" bIns="0" rtlCol="0" anchor="ctr"/>
          <a:lstStyle/>
          <a:p>
            <a:pPr indent="0" marL="0">
              <a:buNone/>
            </a:pPr>
            <a:r>
              <a:rPr lang="en-US" sz="1600" b="1" dirty="0">
                <a:solidFill>
                  <a:srgbClr val="E9A23B"/>
                </a:solidFill>
                <a:latin typeface="Cambria" pitchFamily="34" charset="0"/>
                <a:ea typeface="Cambria" pitchFamily="34" charset="-122"/>
                <a:cs typeface="Cambria" pitchFamily="34" charset="-120"/>
              </a:rPr>
              <a:t>Underfitting</a:t>
            </a:r>
            <a:endParaRPr lang="en-US" sz="1600" dirty="0"/>
          </a:p>
        </p:txBody>
      </p:sp>
      <p:sp>
        <p:nvSpPr>
          <p:cNvPr id="23" name="Text 19"/>
          <p:cNvSpPr txBox="1"/>
          <p:nvPr/>
        </p:nvSpPr>
        <p:spPr>
          <a:xfrm>
            <a:off x="4480560" y="5047488"/>
            <a:ext cx="3246120" cy="1216152"/>
          </a:xfrm>
          <a:prstGeom prst="rect">
            <a:avLst/>
          </a:prstGeom>
          <a:noFill/>
          <a:ln/>
        </p:spPr>
        <p:txBody>
          <a:bodyPr wrap="square" lIns="0" tIns="0" rIns="0" bIns="0" rtlCol="0" anchor="t"/>
          <a:lstStyle/>
          <a:p>
            <a:pPr algn="l" indent="0" marL="0">
              <a:buNone/>
            </a:pPr>
            <a:r>
              <a:rPr lang="en-US" sz="1250" dirty="0">
                <a:solidFill>
                  <a:srgbClr val="1B2733"/>
                </a:solidFill>
                <a:latin typeface="Calibri" pitchFamily="34" charset="0"/>
                <a:ea typeface="Calibri" pitchFamily="34" charset="-122"/>
                <a:cs typeface="Calibri" pitchFamily="34" charset="-120"/>
              </a:rPr>
              <a:t>ViHealthBERT epoch 1: train 60,0%, val 58,5%. LogReg C = 0,1; SVM C = 0,01; PhoBERT lr 5e-6 × 4 epoch.</a:t>
            </a:r>
            <a:endParaRPr lang="en-US" sz="1250" dirty="0"/>
          </a:p>
        </p:txBody>
      </p:sp>
      <p:sp>
        <p:nvSpPr>
          <p:cNvPr id="24" name="Shape 20"/>
          <p:cNvSpPr/>
          <p:nvPr/>
        </p:nvSpPr>
        <p:spPr>
          <a:xfrm>
            <a:off x="8046720" y="4572000"/>
            <a:ext cx="3593592" cy="1737360"/>
          </a:xfrm>
          <a:prstGeom prst="roundRect">
            <a:avLst>
              <a:gd name="adj" fmla="val 4211"/>
            </a:avLst>
          </a:prstGeom>
          <a:solidFill>
            <a:srgbClr val="E3F3F1"/>
          </a:solidFill>
          <a:ln w="12700">
            <a:solidFill>
              <a:srgbClr val="E3F3F1"/>
            </a:solidFill>
            <a:prstDash val="solid"/>
          </a:ln>
        </p:spPr>
      </p:sp>
      <p:sp>
        <p:nvSpPr>
          <p:cNvPr id="25" name="Text 21"/>
          <p:cNvSpPr txBox="1"/>
          <p:nvPr/>
        </p:nvSpPr>
        <p:spPr>
          <a:xfrm>
            <a:off x="8229600" y="4663440"/>
            <a:ext cx="3246120" cy="365760"/>
          </a:xfrm>
          <a:prstGeom prst="rect">
            <a:avLst/>
          </a:prstGeom>
          <a:noFill/>
          <a:ln/>
        </p:spPr>
        <p:txBody>
          <a:bodyPr wrap="square" lIns="0" tIns="0" rIns="0" bIns="0" rtlCol="0" anchor="ctr"/>
          <a:lstStyle/>
          <a:p>
            <a:pPr indent="0" marL="0">
              <a:buNone/>
            </a:pPr>
            <a:r>
              <a:rPr lang="en-US" sz="1600" b="1" dirty="0">
                <a:solidFill>
                  <a:srgbClr val="2A9D8F"/>
                </a:solidFill>
                <a:latin typeface="Cambria" pitchFamily="34" charset="0"/>
                <a:ea typeface="Cambria" pitchFamily="34" charset="-122"/>
                <a:cs typeface="Cambria" pitchFamily="34" charset="-120"/>
              </a:rPr>
              <a:t>Nguyên nhân chính</a:t>
            </a:r>
            <a:endParaRPr lang="en-US" sz="1600" dirty="0"/>
          </a:p>
        </p:txBody>
      </p:sp>
      <p:sp>
        <p:nvSpPr>
          <p:cNvPr id="26" name="Text 22"/>
          <p:cNvSpPr txBox="1"/>
          <p:nvPr/>
        </p:nvSpPr>
        <p:spPr>
          <a:xfrm>
            <a:off x="8229600" y="5047488"/>
            <a:ext cx="3246120" cy="1216152"/>
          </a:xfrm>
          <a:prstGeom prst="rect">
            <a:avLst/>
          </a:prstGeom>
          <a:noFill/>
          <a:ln/>
        </p:spPr>
        <p:txBody>
          <a:bodyPr wrap="square" lIns="0" tIns="0" rIns="0" bIns="0" rtlCol="0" anchor="t"/>
          <a:lstStyle/>
          <a:p>
            <a:pPr algn="l" indent="0" marL="0">
              <a:buNone/>
            </a:pPr>
            <a:r>
              <a:rPr lang="en-US" sz="1250" dirty="0">
                <a:solidFill>
                  <a:srgbClr val="1B2733"/>
                </a:solidFill>
                <a:latin typeface="Calibri" pitchFamily="34" charset="0"/>
                <a:ea typeface="Calibri" pitchFamily="34" charset="-122"/>
                <a:cs typeface="Calibri" pitchFamily="34" charset="-120"/>
              </a:rPr>
              <a:t>Val → test mất 21–27 điểm, lớn hơn train → val ⇒ </a:t>
            </a:r>
            <a:r>
              <a:rPr lang="en-US" sz="1250" b="1" dirty="0">
                <a:solidFill>
                  <a:srgbClr val="1B2733"/>
                </a:solidFill>
                <a:latin typeface="Calibri" pitchFamily="34" charset="0"/>
                <a:ea typeface="Calibri" pitchFamily="34" charset="-122"/>
                <a:cs typeface="Calibri" pitchFamily="34" charset="-120"/>
              </a:rPr>
              <a:t>lệch miền</a:t>
            </a:r>
            <a:r>
              <a:rPr lang="en-US" sz="1250" dirty="0">
                <a:solidFill>
                  <a:srgbClr val="1B2733"/>
                </a:solidFill>
                <a:latin typeface="Calibri" pitchFamily="34" charset="0"/>
                <a:ea typeface="Calibri" pitchFamily="34" charset="-122"/>
                <a:cs typeface="Calibri" pitchFamily="34" charset="-120"/>
              </a:rPr>
              <a:t>. CRF test vẫn tăng theo dữ liệu (41,1% → 63,8%).</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Confusion matrix: bậc 6 còn nhầm ở đâu?</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15 / 18</a:t>
            </a:r>
            <a:endParaRPr lang="en-US" sz="1000" dirty="0"/>
          </a:p>
        </p:txBody>
      </p:sp>
      <p:sp>
        <p:nvSpPr>
          <p:cNvPr id="4" name="Shape 2"/>
          <p:cNvSpPr/>
          <p:nvPr/>
        </p:nvSpPr>
        <p:spPr>
          <a:xfrm>
            <a:off x="8366760" y="868680"/>
            <a:ext cx="548640" cy="182880"/>
          </a:xfrm>
          <a:prstGeom prst="rect">
            <a:avLst/>
          </a:prstGeom>
          <a:solidFill>
            <a:srgbClr val="2A9D8F"/>
          </a:solidFill>
          <a:ln w="12700">
            <a:solidFill>
              <a:srgbClr val="2A9D8F"/>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2A9D8F"/>
          </a:solidFill>
          <a:ln w="12700">
            <a:solidFill>
              <a:srgbClr val="2A9D8F"/>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2A9D8F"/>
          </a:solidFill>
          <a:ln w="12700">
            <a:solidFill>
              <a:srgbClr val="2A9D8F"/>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2A9D8F"/>
          </a:solidFill>
          <a:ln w="12700">
            <a:solidFill>
              <a:srgbClr val="2A9D8F"/>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2A9D8F"/>
          </a:solidFill>
          <a:ln w="12700">
            <a:solidFill>
              <a:srgbClr val="2A9D8F"/>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E4572E"/>
          </a:solidFill>
          <a:ln w="12700">
            <a:solidFill>
              <a:srgbClr val="E4572E"/>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pic>
        <p:nvPicPr>
          <p:cNvPr id="16" name="Image 0" descr="fig_confusion_vihealthbert.png">    </p:cNvPr>
          <p:cNvPicPr>
            <a:picLocks noChangeAspect="1"/>
          </p:cNvPicPr>
          <p:nvPr/>
        </p:nvPicPr>
        <p:blipFill>
          <a:blip r:embed="rId1"/>
          <a:stretch>
            <a:fillRect/>
          </a:stretch>
        </p:blipFill>
        <p:spPr>
          <a:xfrm>
            <a:off x="457200" y="1097280"/>
            <a:ext cx="5669280" cy="4638502"/>
          </a:xfrm>
          <a:prstGeom prst="rect">
            <a:avLst/>
          </a:prstGeom>
        </p:spPr>
      </p:pic>
      <p:sp>
        <p:nvSpPr>
          <p:cNvPr id="17" name="Shape 14"/>
          <p:cNvSpPr/>
          <p:nvPr/>
        </p:nvSpPr>
        <p:spPr>
          <a:xfrm>
            <a:off x="6400800" y="1188720"/>
            <a:ext cx="5257800" cy="2240280"/>
          </a:xfrm>
          <a:prstGeom prst="roundRect">
            <a:avLst>
              <a:gd name="adj" fmla="val 3265"/>
            </a:avLst>
          </a:prstGeom>
          <a:solidFill>
            <a:srgbClr val="EEF4F7"/>
          </a:solidFill>
          <a:ln w="12700">
            <a:solidFill>
              <a:srgbClr val="EEF4F7"/>
            </a:solidFill>
            <a:prstDash val="solid"/>
          </a:ln>
        </p:spPr>
      </p:sp>
      <p:sp>
        <p:nvSpPr>
          <p:cNvPr id="18" name="Text 15"/>
          <p:cNvSpPr txBox="1"/>
          <p:nvPr/>
        </p:nvSpPr>
        <p:spPr>
          <a:xfrm>
            <a:off x="6601968" y="1298448"/>
            <a:ext cx="4846320" cy="365760"/>
          </a:xfrm>
          <a:prstGeom prst="rect">
            <a:avLst/>
          </a:prstGeom>
          <a:noFill/>
          <a:ln/>
        </p:spPr>
        <p:txBody>
          <a:bodyPr wrap="square" lIns="0" tIns="0" rIns="0" bIns="0" rtlCol="0" anchor="ctr"/>
          <a:lstStyle/>
          <a:p>
            <a:pPr indent="0" marL="0">
              <a:buNone/>
            </a:pPr>
            <a:r>
              <a:rPr lang="en-US" sz="1700" b="1" dirty="0">
                <a:solidFill>
                  <a:srgbClr val="0F2A3D"/>
                </a:solidFill>
                <a:latin typeface="Cambria" pitchFamily="34" charset="0"/>
                <a:ea typeface="Cambria" pitchFamily="34" charset="-122"/>
                <a:cs typeface="Cambria" pitchFamily="34" charset="-120"/>
              </a:rPr>
              <a:t>Cặp hay nhầm (ViHealthBERT, test)</a:t>
            </a:r>
            <a:endParaRPr lang="en-US" sz="1700" dirty="0"/>
          </a:p>
        </p:txBody>
      </p:sp>
      <p:sp>
        <p:nvSpPr>
          <p:cNvPr id="19" name="Text 16"/>
          <p:cNvSpPr txBox="1"/>
          <p:nvPr/>
        </p:nvSpPr>
        <p:spPr>
          <a:xfrm>
            <a:off x="6601968" y="1719072"/>
            <a:ext cx="4892040" cy="1645920"/>
          </a:xfrm>
          <a:prstGeom prst="rect">
            <a:avLst/>
          </a:prstGeom>
          <a:noFill/>
          <a:ln/>
        </p:spPr>
        <p:txBody>
          <a:bodyPr wrap="square" lIns="635" tIns="635" rIns="635" bIns="635" rtlCol="0" anchor="t"/>
          <a:lstStyle/>
          <a:p>
            <a:pPr marL="203200" indent="-2032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"tiêu xương" → "xương": </a:t>
            </a:r>
            <a:r>
              <a:rPr lang="en-US" sz="1400" b="1" dirty="0">
                <a:solidFill>
                  <a:srgbClr val="1B2733"/>
                </a:solidFill>
                <a:latin typeface="Calibri" pitchFamily="34" charset="0"/>
                <a:ea typeface="Calibri" pitchFamily="34" charset="-122"/>
                <a:cs typeface="Calibri" pitchFamily="34" charset="-120"/>
              </a:rPr>
              <a:t>DISEASESYMTOM → ORGAN</a:t>
            </a:r>
            <a:r>
              <a:rPr lang="en-US" sz="1400" dirty="0">
                <a:solidFill>
                  <a:srgbClr val="1B2733"/>
                </a:solidFill>
                <a:latin typeface="Calibri" pitchFamily="34" charset="0"/>
                <a:ea typeface="Calibri" pitchFamily="34" charset="-122"/>
                <a:cs typeface="Calibri" pitchFamily="34" charset="-120"/>
              </a:rPr>
              <a:t> (24 lần)</a:t>
            </a:r>
            <a:endParaRPr lang="en-US" sz="1400" dirty="0"/>
          </a:p>
          <a:p>
            <a:pPr marL="203200" indent="-2032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"implant": </a:t>
            </a:r>
            <a:r>
              <a:rPr lang="en-US" sz="1400" b="1" dirty="0">
                <a:solidFill>
                  <a:srgbClr val="1B2733"/>
                </a:solidFill>
                <a:latin typeface="Calibri" pitchFamily="34" charset="0"/>
                <a:ea typeface="Calibri" pitchFamily="34" charset="-122"/>
                <a:cs typeface="Calibri" pitchFamily="34" charset="-120"/>
              </a:rPr>
              <a:t>SURGERY → MEDDEVICETECHNIQUE</a:t>
            </a:r>
            <a:r>
              <a:rPr lang="en-US" sz="1400" dirty="0">
                <a:solidFill>
                  <a:srgbClr val="1B2733"/>
                </a:solidFill>
                <a:latin typeface="Calibri" pitchFamily="34" charset="0"/>
                <a:ea typeface="Calibri" pitchFamily="34" charset="-122"/>
                <a:cs typeface="Calibri" pitchFamily="34" charset="-120"/>
              </a:rPr>
              <a:t> (40 lần)</a:t>
            </a:r>
            <a:endParaRPr lang="en-US" sz="1400" dirty="0"/>
          </a:p>
          <a:p>
            <a:pPr marL="203200" indent="-2032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"chính phủ": </a:t>
            </a:r>
            <a:r>
              <a:rPr lang="en-US" sz="1400" b="1" dirty="0">
                <a:solidFill>
                  <a:srgbClr val="1B2733"/>
                </a:solidFill>
                <a:latin typeface="Calibri" pitchFamily="34" charset="0"/>
                <a:ea typeface="Calibri" pitchFamily="34" charset="-122"/>
                <a:cs typeface="Calibri" pitchFamily="34" charset="-120"/>
              </a:rPr>
              <a:t>ORGANIZATION → LOCATION</a:t>
            </a:r>
            <a:r>
              <a:rPr lang="en-US" sz="1400" dirty="0">
                <a:solidFill>
                  <a:srgbClr val="1B2733"/>
                </a:solidFill>
                <a:latin typeface="Calibri" pitchFamily="34" charset="0"/>
                <a:ea typeface="Calibri" pitchFamily="34" charset="-122"/>
                <a:cs typeface="Calibri" pitchFamily="34" charset="-120"/>
              </a:rPr>
              <a:t> (9 lần)</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0" y="3611880"/>
          <a:ext cx="5257800" cy="914400"/>
        </p:xfrm>
        <a:graphic>
          <a:graphicData uri="http://schemas.openxmlformats.org/drawingml/2006/table">
            <a:tbl>
              <a:tblPr/>
              <a:tblGrid>
                <a:gridCol w="1508760"/>
                <a:gridCol w="731520"/>
                <a:gridCol w="822960"/>
                <a:gridCol w="731520"/>
                <a:gridCol w="731520"/>
                <a:gridCol w="731520"/>
              </a:tblGrid>
              <a:tr h="30175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Mức thực thể</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Khớp</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Lệch biên</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Sai loại</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Bỏ sót</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Thừa</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01752">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1. LogReg</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4.820</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1.871</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1.447</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1.420</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01752">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2. Linear SVM</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5.177</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1.865</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189</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1.107</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1.640</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01752">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3. CRF</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5.164</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1.429</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171</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1.574</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1.052</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01752">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4. XLM-R</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5.523</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1.797</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463</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555</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2.177</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01752">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5. PhoBERT</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5.786</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1.644</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424</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484</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1.796</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01752">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6. ViHealthBERT</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5.923</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1.622</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441</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352</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2.089</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sp>
        <p:nvSpPr>
          <p:cNvPr id="21" name="Text 17"/>
          <p:cNvSpPr txBox="1"/>
          <p:nvPr/>
        </p:nvSpPr>
        <p:spPr>
          <a:xfrm>
            <a:off x="6400800" y="5806440"/>
            <a:ext cx="5257800" cy="548640"/>
          </a:xfrm>
          <a:prstGeom prst="rect">
            <a:avLst/>
          </a:prstGeom>
          <a:noFill/>
          <a:ln/>
        </p:spPr>
        <p:txBody>
          <a:bodyPr wrap="square" lIns="0" tIns="0" rIns="0" bIns="0" rtlCol="0" anchor="t"/>
          <a:lstStyle/>
          <a:p>
            <a:pPr algn="l" indent="0" marL="0">
              <a:buNone/>
            </a:pPr>
            <a:r>
              <a:rPr lang="en-US" sz="1250" i="1" dirty="0">
                <a:solidFill>
                  <a:srgbClr val="5B6B7A"/>
                </a:solidFill>
                <a:latin typeface="Calibri" pitchFamily="34" charset="0"/>
                <a:ea typeface="Calibri" pitchFamily="34" charset="-122"/>
                <a:cs typeface="Calibri" pitchFamily="34" charset="-120"/>
              </a:rPr>
              <a:t>Lên thang: bỏ sót giảm mạnh, nhưng đoán thừa tăng ⇒ lỗi còn lại chủ yếu là </a:t>
            </a:r>
            <a:r>
              <a:rPr lang="en-US" sz="1250" b="1" i="1" dirty="0">
                <a:solidFill>
                  <a:srgbClr val="5B6B7A"/>
                </a:solidFill>
                <a:latin typeface="Calibri" pitchFamily="34" charset="0"/>
                <a:ea typeface="Calibri" pitchFamily="34" charset="-122"/>
                <a:cs typeface="Calibri" pitchFamily="34" charset="-120"/>
              </a:rPr>
              <a:t>ranh giới</a:t>
            </a:r>
            <a:r>
              <a:rPr lang="en-US" sz="1250" i="1" dirty="0">
                <a:solidFill>
                  <a:srgbClr val="5B6B7A"/>
                </a:solidFill>
                <a:latin typeface="Calibri" pitchFamily="34" charset="0"/>
                <a:ea typeface="Calibri" pitchFamily="34" charset="-122"/>
                <a:cs typeface="Calibri" pitchFamily="34" charset="-120"/>
              </a:rPr>
              <a:t> và </a:t>
            </a:r>
            <a:r>
              <a:rPr lang="en-US" sz="1250" b="1" i="1" dirty="0">
                <a:solidFill>
                  <a:srgbClr val="5B6B7A"/>
                </a:solidFill>
                <a:latin typeface="Calibri" pitchFamily="34" charset="0"/>
                <a:ea typeface="Calibri" pitchFamily="34" charset="-122"/>
                <a:cs typeface="Calibri" pitchFamily="34" charset="-120"/>
              </a:rPr>
              <a:t>đoán thừa</a:t>
            </a:r>
            <a:r>
              <a:rPr lang="en-US" sz="1250" i="1" dirty="0">
                <a:solidFill>
                  <a:srgbClr val="5B6B7A"/>
                </a:solidFill>
                <a:latin typeface="Calibri" pitchFamily="34" charset="0"/>
                <a:ea typeface="Calibri" pitchFamily="34" charset="-122"/>
                <a:cs typeface="Calibri" pitchFamily="34" charset="-120"/>
              </a:rPr>
              <a:t>, không phải sai loại.</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Thước đo quyết định bậc nào "cao nhất"</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16 / 18</a:t>
            </a:r>
            <a:endParaRPr lang="en-US" sz="1000" dirty="0"/>
          </a:p>
        </p:txBody>
      </p:sp>
      <p:sp>
        <p:nvSpPr>
          <p:cNvPr id="4" name="Shape 2"/>
          <p:cNvSpPr/>
          <p:nvPr/>
        </p:nvSpPr>
        <p:spPr>
          <a:xfrm>
            <a:off x="8366760" y="868680"/>
            <a:ext cx="548640" cy="182880"/>
          </a:xfrm>
          <a:prstGeom prst="rect">
            <a:avLst/>
          </a:prstGeom>
          <a:solidFill>
            <a:srgbClr val="2A9D8F"/>
          </a:solidFill>
          <a:ln w="12700">
            <a:solidFill>
              <a:srgbClr val="2A9D8F"/>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2A9D8F"/>
          </a:solidFill>
          <a:ln w="12700">
            <a:solidFill>
              <a:srgbClr val="2A9D8F"/>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2A9D8F"/>
          </a:solidFill>
          <a:ln w="12700">
            <a:solidFill>
              <a:srgbClr val="2A9D8F"/>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2A9D8F"/>
          </a:solidFill>
          <a:ln w="12700">
            <a:solidFill>
              <a:srgbClr val="2A9D8F"/>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2A9D8F"/>
          </a:solidFill>
          <a:ln w="12700">
            <a:solidFill>
              <a:srgbClr val="2A9D8F"/>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E4572E"/>
          </a:solidFill>
          <a:ln w="12700">
            <a:solidFill>
              <a:srgbClr val="E4572E"/>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6309360" cy="914400"/>
        </p:xfrm>
        <a:graphic>
          <a:graphicData uri="http://schemas.openxmlformats.org/drawingml/2006/table">
            <a:tbl>
              <a:tblPr/>
              <a:tblGrid>
                <a:gridCol w="2011680"/>
                <a:gridCol w="1463040"/>
                <a:gridCol w="1737360"/>
                <a:gridCol w="109728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Bậc</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F1 strict (%)</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F1 kiểu SLUE (%)</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Bài báo</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1. LogReg</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56,23</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66,71</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2. Linear SVM</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58,10</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67,59</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B2733"/>
                          </a:solidFill>
                          <a:latin typeface="Calibri" pitchFamily="34" charset="0"/>
                          <a:ea typeface="Calibri" pitchFamily="34" charset="-122"/>
                          <a:cs typeface="Calibri" pitchFamily="34" charset="-120"/>
                        </a:rPr>
                        <a:t>3. CRF</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400" b="1" dirty="0">
                          <a:solidFill>
                            <a:srgbClr val="1B2733"/>
                          </a:solidFill>
                          <a:latin typeface="Calibri" pitchFamily="34" charset="0"/>
                          <a:ea typeface="Calibri" pitchFamily="34" charset="-122"/>
                          <a:cs typeface="Calibri" pitchFamily="34" charset="-120"/>
                        </a:rPr>
                        <a:t>63,80</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400" b="1" dirty="0">
                          <a:solidFill>
                            <a:srgbClr val="1B2733"/>
                          </a:solidFill>
                          <a:latin typeface="Calibri" pitchFamily="34" charset="0"/>
                          <a:ea typeface="Calibri" pitchFamily="34" charset="-122"/>
                          <a:cs typeface="Calibri" pitchFamily="34" charset="-120"/>
                        </a:rPr>
                        <a:t>68,22</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400" b="1" dirty="0">
                          <a:solidFill>
                            <a:srgbClr val="1B27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4. XLM-R</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58,62</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68,53</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69</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5. PhoBERT</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62,42</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70,58</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74</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6. ViHealthBERT</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62,74</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71,82</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sp>
        <p:nvSpPr>
          <p:cNvPr id="17" name="Shape 14"/>
          <p:cNvSpPr/>
          <p:nvPr/>
        </p:nvSpPr>
        <p:spPr>
          <a:xfrm>
            <a:off x="7132320" y="1234440"/>
            <a:ext cx="4526280" cy="3246120"/>
          </a:xfrm>
          <a:prstGeom prst="roundRect">
            <a:avLst>
              <a:gd name="adj" fmla="val 2254"/>
            </a:avLst>
          </a:prstGeom>
          <a:solidFill>
            <a:srgbClr val="EEF4F7"/>
          </a:solidFill>
          <a:ln w="12700">
            <a:solidFill>
              <a:srgbClr val="EEF4F7"/>
            </a:solidFill>
            <a:prstDash val="solid"/>
          </a:ln>
        </p:spPr>
      </p:sp>
      <p:sp>
        <p:nvSpPr>
          <p:cNvPr id="18" name="Text 15"/>
          <p:cNvSpPr txBox="1"/>
          <p:nvPr/>
        </p:nvSpPr>
        <p:spPr>
          <a:xfrm>
            <a:off x="7333488" y="1353312"/>
            <a:ext cx="4114800" cy="365760"/>
          </a:xfrm>
          <a:prstGeom prst="rect">
            <a:avLst/>
          </a:prstGeom>
          <a:noFill/>
          <a:ln/>
        </p:spPr>
        <p:txBody>
          <a:bodyPr wrap="square" lIns="0" tIns="0" rIns="0" bIns="0" rtlCol="0" anchor="ctr"/>
          <a:lstStyle/>
          <a:p>
            <a:pPr indent="0" marL="0">
              <a:buNone/>
            </a:pPr>
            <a:r>
              <a:rPr lang="en-US" sz="1700" b="1" dirty="0">
                <a:solidFill>
                  <a:srgbClr val="0F2A3D"/>
                </a:solidFill>
                <a:latin typeface="Cambria" pitchFamily="34" charset="0"/>
                <a:ea typeface="Cambria" pitchFamily="34" charset="-122"/>
                <a:cs typeface="Cambria" pitchFamily="34" charset="-120"/>
              </a:rPr>
              <a:t>Hai cách chấm</a:t>
            </a:r>
            <a:endParaRPr lang="en-US" sz="1700" dirty="0"/>
          </a:p>
        </p:txBody>
      </p:sp>
      <p:sp>
        <p:nvSpPr>
          <p:cNvPr id="19" name="Text 16"/>
          <p:cNvSpPr txBox="1"/>
          <p:nvPr/>
        </p:nvSpPr>
        <p:spPr>
          <a:xfrm>
            <a:off x="7333488" y="1783080"/>
            <a:ext cx="4160520" cy="2651760"/>
          </a:xfrm>
          <a:prstGeom prst="rect">
            <a:avLst/>
          </a:prstGeom>
          <a:noFill/>
          <a:ln/>
        </p:spPr>
        <p:txBody>
          <a:bodyPr wrap="square" lIns="635" tIns="635" rIns="635" bIns="635" rtlCol="0" anchor="t"/>
          <a:lstStyle/>
          <a:p>
            <a:pPr marL="203200" indent="-203200">
              <a:spcAft>
                <a:spcPts val="600"/>
              </a:spcAft>
              <a:buSzPct val="100000"/>
              <a:buChar char="•"/>
            </a:pPr>
            <a:r>
              <a:rPr lang="en-US" sz="1400" b="1" dirty="0">
                <a:solidFill>
                  <a:srgbClr val="1B2733"/>
                </a:solidFill>
                <a:latin typeface="Calibri" pitchFamily="34" charset="0"/>
                <a:ea typeface="Calibri" pitchFamily="34" charset="-122"/>
                <a:cs typeface="Calibri" pitchFamily="34" charset="-120"/>
              </a:rPr>
              <a:t>Strict:</a:t>
            </a:r>
            <a:r>
              <a:rPr lang="en-US" sz="1400" dirty="0">
                <a:solidFill>
                  <a:srgbClr val="1B2733"/>
                </a:solidFill>
                <a:latin typeface="Calibri" pitchFamily="34" charset="0"/>
                <a:ea typeface="Calibri" pitchFamily="34" charset="-122"/>
                <a:cs typeface="Calibri" pitchFamily="34" charset="-120"/>
              </a:rPr>
              <a:t> khớp chính xác ranh giới và loại — CRF cao nhất</a:t>
            </a:r>
            <a:endParaRPr lang="en-US" sz="1400" dirty="0"/>
          </a:p>
          <a:p>
            <a:pPr marL="203200" indent="-203200">
              <a:spcAft>
                <a:spcPts val="600"/>
              </a:spcAft>
              <a:buSzPct val="100000"/>
              <a:buChar char="•"/>
            </a:pPr>
            <a:r>
              <a:rPr lang="en-US" sz="1400" b="1" dirty="0">
                <a:solidFill>
                  <a:srgbClr val="1B2733"/>
                </a:solidFill>
                <a:latin typeface="Calibri" pitchFamily="34" charset="0"/>
                <a:ea typeface="Calibri" pitchFamily="34" charset="-122"/>
                <a:cs typeface="Calibri" pitchFamily="34" charset="-120"/>
              </a:rPr>
              <a:t>SLUE</a:t>
            </a:r>
            <a:r>
              <a:rPr lang="en-US" sz="1400" dirty="0">
                <a:solidFill>
                  <a:srgbClr val="1B2733"/>
                </a:solidFill>
                <a:latin typeface="Calibri" pitchFamily="34" charset="0"/>
                <a:ea typeface="Calibri" pitchFamily="34" charset="-122"/>
                <a:cs typeface="Calibri" pitchFamily="34" charset="-120"/>
              </a:rPr>
              <a:t> (bài báo dùng): so khớp tập (loại, âm tiết), không xét ranh giới — </a:t>
            </a:r>
            <a:r>
              <a:rPr lang="en-US" sz="1400" b="1" dirty="0">
                <a:solidFill>
                  <a:srgbClr val="1B2733"/>
                </a:solidFill>
                <a:latin typeface="Calibri" pitchFamily="34" charset="0"/>
                <a:ea typeface="Calibri" pitchFamily="34" charset="-122"/>
                <a:cs typeface="Calibri" pitchFamily="34" charset="-120"/>
              </a:rPr>
              <a:t>ViHealthBERT</a:t>
            </a:r>
            <a:r>
              <a:rPr lang="en-US" sz="1400" dirty="0">
                <a:solidFill>
                  <a:srgbClr val="1B2733"/>
                </a:solidFill>
                <a:latin typeface="Calibri" pitchFamily="34" charset="0"/>
                <a:ea typeface="Calibri" pitchFamily="34" charset="-122"/>
                <a:cs typeface="Calibri" pitchFamily="34" charset="-120"/>
              </a:rPr>
              <a:t> cao nhất</a:t>
            </a:r>
            <a:endParaRPr lang="en-US" sz="1400" dirty="0"/>
          </a:p>
          <a:p>
            <a:pPr marL="203200" indent="-2032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Cùng checkpoint XLM-R: SLUE 68,53% ≈ 69% bài báo</a:t>
            </a:r>
            <a:endParaRPr lang="en-US" sz="1400" dirty="0"/>
          </a:p>
        </p:txBody>
      </p:sp>
      <p:sp>
        <p:nvSpPr>
          <p:cNvPr id="20" name="Shape 17"/>
          <p:cNvSpPr/>
          <p:nvPr/>
        </p:nvSpPr>
        <p:spPr>
          <a:xfrm>
            <a:off x="548640" y="4663440"/>
            <a:ext cx="11109960" cy="1645920"/>
          </a:xfrm>
          <a:prstGeom prst="roundRect">
            <a:avLst>
              <a:gd name="adj" fmla="val 4444"/>
            </a:avLst>
          </a:prstGeom>
          <a:solidFill>
            <a:srgbClr val="FCE9E3"/>
          </a:solidFill>
          <a:ln w="12700">
            <a:solidFill>
              <a:srgbClr val="FCE9E3"/>
            </a:solidFill>
            <a:prstDash val="solid"/>
          </a:ln>
        </p:spPr>
      </p:sp>
      <p:sp>
        <p:nvSpPr>
          <p:cNvPr id="21" name="Text 18"/>
          <p:cNvSpPr txBox="1"/>
          <p:nvPr/>
        </p:nvSpPr>
        <p:spPr>
          <a:xfrm>
            <a:off x="777240" y="4709160"/>
            <a:ext cx="10698480" cy="1554480"/>
          </a:xfrm>
          <a:prstGeom prst="rect">
            <a:avLst/>
          </a:prstGeom>
          <a:noFill/>
          <a:ln/>
        </p:spPr>
        <p:txBody>
          <a:bodyPr wrap="square" lIns="0" tIns="0" rIns="0" bIns="0" rtlCol="0" anchor="ctr"/>
          <a:lstStyle/>
          <a:p>
            <a:pPr algn="l" indent="0" marL="0">
              <a:buNone/>
            </a:pPr>
            <a:r>
              <a:rPr lang="en-US" sz="1500" b="1" dirty="0">
                <a:solidFill>
                  <a:srgbClr val="1B2733"/>
                </a:solidFill>
                <a:latin typeface="Calibri" pitchFamily="34" charset="0"/>
                <a:ea typeface="Calibri" pitchFamily="34" charset="-122"/>
                <a:cs typeface="Calibri" pitchFamily="34" charset="-120"/>
              </a:rPr>
              <a:t>Nhóm chọn strict làm thước đo chính</a:t>
            </a:r>
            <a:r>
              <a:rPr lang="en-US" sz="1500" dirty="0">
                <a:solidFill>
                  <a:srgbClr val="1B2733"/>
                </a:solidFill>
                <a:latin typeface="Calibri" pitchFamily="34" charset="0"/>
                <a:ea typeface="Calibri" pitchFamily="34" charset="-122"/>
                <a:cs typeface="Calibri" pitchFamily="34" charset="-120"/>
              </a:rPr>
              <a:t> vì ứng dụng cần trích xuất đúng cả cụm thực thể để ghi vào hồ sơ. Nhưng câu trả lời "bậc nào cao nhất" phụ thuộc thước đo: Transformer nhận ra nhiều âm tiết thuộc thực thể hơn dù ranh giới chưa chính xác.</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589520" cy="685800"/>
          </a:xfrm>
          <a:prstGeom prst="rect">
            <a:avLst/>
          </a:prstGeom>
          <a:noFill/>
          <a:ln/>
        </p:spPr>
        <p:txBody>
          <a:bodyPr wrap="square" lIns="0" tIns="0" rIns="0" bIns="0" rtlCol="0" anchor="ctr"/>
          <a:lstStyle/>
          <a:p>
            <a:pPr indent="0" marL="0">
              <a:buNone/>
            </a:pPr>
            <a:r>
              <a:rPr lang="en-US" sz="2800" b="1" dirty="0">
                <a:solidFill>
                  <a:srgbClr val="0F2A3D"/>
                </a:solidFill>
                <a:latin typeface="Cambria" pitchFamily="34" charset="0"/>
                <a:ea typeface="Cambria" pitchFamily="34" charset="-122"/>
                <a:cs typeface="Cambria" pitchFamily="34" charset="-120"/>
              </a:rPr>
              <a:t>Kết luận: mỗi bậc dạy một bài học</a:t>
            </a:r>
            <a:endParaRPr lang="en-US" sz="28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17 / 18</a:t>
            </a:r>
            <a:endParaRPr lang="en-US" sz="1000" dirty="0"/>
          </a:p>
        </p:txBody>
      </p:sp>
      <p:sp>
        <p:nvSpPr>
          <p:cNvPr id="4" name="Shape 2"/>
          <p:cNvSpPr/>
          <p:nvPr/>
        </p:nvSpPr>
        <p:spPr>
          <a:xfrm>
            <a:off x="8366760" y="868680"/>
            <a:ext cx="548640" cy="182880"/>
          </a:xfrm>
          <a:prstGeom prst="rect">
            <a:avLst/>
          </a:prstGeom>
          <a:solidFill>
            <a:srgbClr val="2A9D8F"/>
          </a:solidFill>
          <a:ln w="12700">
            <a:solidFill>
              <a:srgbClr val="2A9D8F"/>
            </a:solidFill>
            <a:prstDash val="solid"/>
          </a:ln>
        </p:spPr>
      </p:sp>
      <p:sp>
        <p:nvSpPr>
          <p:cNvPr id="5" name="Text 3"/>
          <p:cNvSpPr txBox="1"/>
          <p:nvPr/>
        </p:nvSpPr>
        <p:spPr>
          <a:xfrm>
            <a:off x="8366760" y="868680"/>
            <a:ext cx="54864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8951976" y="749808"/>
            <a:ext cx="548640" cy="301752"/>
          </a:xfrm>
          <a:prstGeom prst="rect">
            <a:avLst/>
          </a:prstGeom>
          <a:solidFill>
            <a:srgbClr val="2A9D8F"/>
          </a:solidFill>
          <a:ln w="12700">
            <a:solidFill>
              <a:srgbClr val="2A9D8F"/>
            </a:solidFill>
            <a:prstDash val="solid"/>
          </a:ln>
        </p:spPr>
      </p:sp>
      <p:sp>
        <p:nvSpPr>
          <p:cNvPr id="7" name="Text 5"/>
          <p:cNvSpPr txBox="1"/>
          <p:nvPr/>
        </p:nvSpPr>
        <p:spPr>
          <a:xfrm>
            <a:off x="8951976" y="749808"/>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9537192" y="630936"/>
            <a:ext cx="548640" cy="420624"/>
          </a:xfrm>
          <a:prstGeom prst="rect">
            <a:avLst/>
          </a:prstGeom>
          <a:solidFill>
            <a:srgbClr val="2A9D8F"/>
          </a:solidFill>
          <a:ln w="12700">
            <a:solidFill>
              <a:srgbClr val="2A9D8F"/>
            </a:solidFill>
            <a:prstDash val="solid"/>
          </a:ln>
        </p:spPr>
      </p:sp>
      <p:sp>
        <p:nvSpPr>
          <p:cNvPr id="9" name="Text 7"/>
          <p:cNvSpPr txBox="1"/>
          <p:nvPr/>
        </p:nvSpPr>
        <p:spPr>
          <a:xfrm>
            <a:off x="9537192" y="630936"/>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0" name="Shape 8"/>
          <p:cNvSpPr/>
          <p:nvPr/>
        </p:nvSpPr>
        <p:spPr>
          <a:xfrm>
            <a:off x="10122408" y="512064"/>
            <a:ext cx="548640" cy="539496"/>
          </a:xfrm>
          <a:prstGeom prst="rect">
            <a:avLst/>
          </a:prstGeom>
          <a:solidFill>
            <a:srgbClr val="2A9D8F"/>
          </a:solidFill>
          <a:ln w="12700">
            <a:solidFill>
              <a:srgbClr val="2A9D8F"/>
            </a:solidFill>
            <a:prstDash val="solid"/>
          </a:ln>
        </p:spPr>
      </p:sp>
      <p:sp>
        <p:nvSpPr>
          <p:cNvPr id="11" name="Text 9"/>
          <p:cNvSpPr txBox="1"/>
          <p:nvPr/>
        </p:nvSpPr>
        <p:spPr>
          <a:xfrm>
            <a:off x="10122408" y="512064"/>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2" name="Shape 10"/>
          <p:cNvSpPr/>
          <p:nvPr/>
        </p:nvSpPr>
        <p:spPr>
          <a:xfrm>
            <a:off x="10707624" y="393192"/>
            <a:ext cx="548640" cy="658368"/>
          </a:xfrm>
          <a:prstGeom prst="rect">
            <a:avLst/>
          </a:prstGeom>
          <a:solidFill>
            <a:srgbClr val="2A9D8F"/>
          </a:solidFill>
          <a:ln w="12700">
            <a:solidFill>
              <a:srgbClr val="2A9D8F"/>
            </a:solidFill>
            <a:prstDash val="solid"/>
          </a:ln>
        </p:spPr>
      </p:sp>
      <p:sp>
        <p:nvSpPr>
          <p:cNvPr id="13" name="Text 11"/>
          <p:cNvSpPr txBox="1"/>
          <p:nvPr/>
        </p:nvSpPr>
        <p:spPr>
          <a:xfrm>
            <a:off x="10707624" y="393192"/>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4" name="Shape 12"/>
          <p:cNvSpPr/>
          <p:nvPr/>
        </p:nvSpPr>
        <p:spPr>
          <a:xfrm>
            <a:off x="11292840" y="274320"/>
            <a:ext cx="548640" cy="777240"/>
          </a:xfrm>
          <a:prstGeom prst="rect">
            <a:avLst/>
          </a:prstGeom>
          <a:solidFill>
            <a:srgbClr val="E4572E"/>
          </a:solidFill>
          <a:ln w="12700">
            <a:solidFill>
              <a:srgbClr val="E4572E"/>
            </a:solidFill>
            <a:prstDash val="solid"/>
          </a:ln>
        </p:spPr>
      </p:sp>
      <p:sp>
        <p:nvSpPr>
          <p:cNvPr id="15" name="Text 13"/>
          <p:cNvSpPr txBox="1"/>
          <p:nvPr/>
        </p:nvSpPr>
        <p:spPr>
          <a:xfrm>
            <a:off x="11292840" y="274320"/>
            <a:ext cx="548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16" name="Shape 14"/>
          <p:cNvSpPr/>
          <p:nvPr/>
        </p:nvSpPr>
        <p:spPr>
          <a:xfrm>
            <a:off x="548640" y="1261872"/>
            <a:ext cx="502920" cy="502920"/>
          </a:xfrm>
          <a:prstGeom prst="ellipse">
            <a:avLst/>
          </a:prstGeom>
          <a:solidFill>
            <a:srgbClr val="17384F"/>
          </a:solidFill>
          <a:ln w="12700">
            <a:solidFill>
              <a:srgbClr val="FFFFFF"/>
            </a:solidFill>
            <a:prstDash val="solid"/>
          </a:ln>
        </p:spPr>
      </p:sp>
      <p:sp>
        <p:nvSpPr>
          <p:cNvPr id="17" name="Text 15"/>
          <p:cNvSpPr txBox="1"/>
          <p:nvPr/>
        </p:nvSpPr>
        <p:spPr>
          <a:xfrm>
            <a:off x="548640" y="126187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8" name="Text 16"/>
          <p:cNvSpPr txBox="1"/>
          <p:nvPr/>
        </p:nvSpPr>
        <p:spPr>
          <a:xfrm>
            <a:off x="1234440" y="1188720"/>
            <a:ext cx="5760720" cy="640080"/>
          </a:xfrm>
          <a:prstGeom prst="rect">
            <a:avLst/>
          </a:prstGeom>
          <a:noFill/>
          <a:ln/>
        </p:spPr>
        <p:txBody>
          <a:bodyPr wrap="square" lIns="0" tIns="0" rIns="0" bIns="0" rtlCol="0" anchor="ctr"/>
          <a:lstStyle/>
          <a:p>
            <a:pPr indent="0" marL="0">
              <a:buNone/>
            </a:pPr>
            <a:r>
              <a:rPr lang="en-US" sz="1700" b="1" dirty="0">
                <a:solidFill>
                  <a:srgbClr val="0F2A3D"/>
                </a:solidFill>
                <a:latin typeface="Calibri" pitchFamily="34" charset="0"/>
                <a:ea typeface="Calibri" pitchFamily="34" charset="-122"/>
                <a:cs typeface="Calibri" pitchFamily="34" charset="-120"/>
              </a:rPr>
              <a:t>LogReg: </a:t>
            </a:r>
            <a:r>
              <a:rPr lang="en-US" sz="1700" dirty="0">
                <a:solidFill>
                  <a:srgbClr val="1B2733"/>
                </a:solidFill>
                <a:latin typeface="Calibri" pitchFamily="34" charset="0"/>
                <a:ea typeface="Calibri" pitchFamily="34" charset="-122"/>
                <a:cs typeface="Calibri" pitchFamily="34" charset="-120"/>
              </a:rPr>
              <a:t>Đặc trưng từ vựng đã đi được xa (83% val)</a:t>
            </a:r>
            <a:endParaRPr lang="en-US" sz="1700" dirty="0"/>
          </a:p>
        </p:txBody>
      </p:sp>
      <p:sp>
        <p:nvSpPr>
          <p:cNvPr id="19" name="Shape 17"/>
          <p:cNvSpPr/>
          <p:nvPr/>
        </p:nvSpPr>
        <p:spPr>
          <a:xfrm>
            <a:off x="548640" y="1975104"/>
            <a:ext cx="502920" cy="502920"/>
          </a:xfrm>
          <a:prstGeom prst="ellipse">
            <a:avLst/>
          </a:prstGeom>
          <a:solidFill>
            <a:srgbClr val="17384F"/>
          </a:solidFill>
          <a:ln w="12700">
            <a:solidFill>
              <a:srgbClr val="FFFFFF"/>
            </a:solidFill>
            <a:prstDash val="solid"/>
          </a:ln>
        </p:spPr>
      </p:sp>
      <p:sp>
        <p:nvSpPr>
          <p:cNvPr id="20" name="Text 18"/>
          <p:cNvSpPr txBox="1"/>
          <p:nvPr/>
        </p:nvSpPr>
        <p:spPr>
          <a:xfrm>
            <a:off x="548640" y="197510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1" name="Text 19"/>
          <p:cNvSpPr txBox="1"/>
          <p:nvPr/>
        </p:nvSpPr>
        <p:spPr>
          <a:xfrm>
            <a:off x="1234440" y="1901952"/>
            <a:ext cx="5760720" cy="640080"/>
          </a:xfrm>
          <a:prstGeom prst="rect">
            <a:avLst/>
          </a:prstGeom>
          <a:noFill/>
          <a:ln/>
        </p:spPr>
        <p:txBody>
          <a:bodyPr wrap="square" lIns="0" tIns="0" rIns="0" bIns="0" rtlCol="0" anchor="ctr"/>
          <a:lstStyle/>
          <a:p>
            <a:pPr indent="0" marL="0">
              <a:buNone/>
            </a:pPr>
            <a:r>
              <a:rPr lang="en-US" sz="1700" b="1" dirty="0">
                <a:solidFill>
                  <a:srgbClr val="0F2A3D"/>
                </a:solidFill>
                <a:latin typeface="Calibri" pitchFamily="34" charset="0"/>
                <a:ea typeface="Calibri" pitchFamily="34" charset="-122"/>
                <a:cs typeface="Calibri" pitchFamily="34" charset="-120"/>
              </a:rPr>
              <a:t>Linear SVM: </a:t>
            </a:r>
            <a:r>
              <a:rPr lang="en-US" sz="1700" dirty="0">
                <a:solidFill>
                  <a:srgbClr val="1B2733"/>
                </a:solidFill>
                <a:latin typeface="Calibri" pitchFamily="34" charset="0"/>
                <a:ea typeface="Calibri" pitchFamily="34" charset="-122"/>
                <a:cs typeface="Calibri" pitchFamily="34" charset="-120"/>
              </a:rPr>
              <a:t>Đổi thuật toán: +1,9 điểm, không sửa lỗi cấu trúc</a:t>
            </a:r>
            <a:endParaRPr lang="en-US" sz="1700" dirty="0"/>
          </a:p>
        </p:txBody>
      </p:sp>
      <p:sp>
        <p:nvSpPr>
          <p:cNvPr id="22" name="Shape 20"/>
          <p:cNvSpPr/>
          <p:nvPr/>
        </p:nvSpPr>
        <p:spPr>
          <a:xfrm>
            <a:off x="548640" y="2688336"/>
            <a:ext cx="502920" cy="502920"/>
          </a:xfrm>
          <a:prstGeom prst="ellipse">
            <a:avLst/>
          </a:prstGeom>
          <a:solidFill>
            <a:srgbClr val="17384F"/>
          </a:solidFill>
          <a:ln w="12700">
            <a:solidFill>
              <a:srgbClr val="FFFFFF"/>
            </a:solidFill>
            <a:prstDash val="solid"/>
          </a:ln>
        </p:spPr>
      </p:sp>
      <p:sp>
        <p:nvSpPr>
          <p:cNvPr id="23" name="Text 21"/>
          <p:cNvSpPr txBox="1"/>
          <p:nvPr/>
        </p:nvSpPr>
        <p:spPr>
          <a:xfrm>
            <a:off x="548640" y="268833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4" name="Text 22"/>
          <p:cNvSpPr txBox="1"/>
          <p:nvPr/>
        </p:nvSpPr>
        <p:spPr>
          <a:xfrm>
            <a:off x="1234440" y="2615184"/>
            <a:ext cx="5760720" cy="640080"/>
          </a:xfrm>
          <a:prstGeom prst="rect">
            <a:avLst/>
          </a:prstGeom>
          <a:noFill/>
          <a:ln/>
        </p:spPr>
        <p:txBody>
          <a:bodyPr wrap="square" lIns="0" tIns="0" rIns="0" bIns="0" rtlCol="0" anchor="ctr"/>
          <a:lstStyle/>
          <a:p>
            <a:pPr indent="0" marL="0">
              <a:buNone/>
            </a:pPr>
            <a:r>
              <a:rPr lang="en-US" sz="1700" b="1" dirty="0">
                <a:solidFill>
                  <a:srgbClr val="0F2A3D"/>
                </a:solidFill>
                <a:latin typeface="Calibri" pitchFamily="34" charset="0"/>
                <a:ea typeface="Calibri" pitchFamily="34" charset="-122"/>
                <a:cs typeface="Calibri" pitchFamily="34" charset="-120"/>
              </a:rPr>
              <a:t>CRF: </a:t>
            </a:r>
            <a:r>
              <a:rPr lang="en-US" sz="1700" dirty="0">
                <a:solidFill>
                  <a:srgbClr val="1B2733"/>
                </a:solidFill>
                <a:latin typeface="Calibri" pitchFamily="34" charset="0"/>
                <a:ea typeface="Calibri" pitchFamily="34" charset="-122"/>
                <a:cs typeface="Calibri" pitchFamily="34" charset="-120"/>
              </a:rPr>
              <a:t>Mô hình hoá chuỗi: +5,7 điểm, cao nhất theo strict</a:t>
            </a:r>
            <a:endParaRPr lang="en-US" sz="1700" dirty="0"/>
          </a:p>
        </p:txBody>
      </p:sp>
      <p:sp>
        <p:nvSpPr>
          <p:cNvPr id="25" name="Shape 23"/>
          <p:cNvSpPr/>
          <p:nvPr/>
        </p:nvSpPr>
        <p:spPr>
          <a:xfrm>
            <a:off x="548640" y="3401568"/>
            <a:ext cx="502920" cy="502920"/>
          </a:xfrm>
          <a:prstGeom prst="ellipse">
            <a:avLst/>
          </a:prstGeom>
          <a:solidFill>
            <a:srgbClr val="2A9D8F"/>
          </a:solidFill>
          <a:ln w="12700">
            <a:solidFill>
              <a:srgbClr val="FFFFFF"/>
            </a:solidFill>
            <a:prstDash val="solid"/>
          </a:ln>
        </p:spPr>
      </p:sp>
      <p:sp>
        <p:nvSpPr>
          <p:cNvPr id="26" name="Text 24"/>
          <p:cNvSpPr txBox="1"/>
          <p:nvPr/>
        </p:nvSpPr>
        <p:spPr>
          <a:xfrm>
            <a:off x="548640" y="34015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7" name="Text 25"/>
          <p:cNvSpPr txBox="1"/>
          <p:nvPr/>
        </p:nvSpPr>
        <p:spPr>
          <a:xfrm>
            <a:off x="1234440" y="3328416"/>
            <a:ext cx="5760720" cy="640080"/>
          </a:xfrm>
          <a:prstGeom prst="rect">
            <a:avLst/>
          </a:prstGeom>
          <a:noFill/>
          <a:ln/>
        </p:spPr>
        <p:txBody>
          <a:bodyPr wrap="square" lIns="0" tIns="0" rIns="0" bIns="0" rtlCol="0" anchor="ctr"/>
          <a:lstStyle/>
          <a:p>
            <a:pPr indent="0" marL="0">
              <a:buNone/>
            </a:pPr>
            <a:r>
              <a:rPr lang="en-US" sz="1700" b="1" dirty="0">
                <a:solidFill>
                  <a:srgbClr val="0F2A3D"/>
                </a:solidFill>
                <a:latin typeface="Calibri" pitchFamily="34" charset="0"/>
                <a:ea typeface="Calibri" pitchFamily="34" charset="-122"/>
                <a:cs typeface="Calibri" pitchFamily="34" charset="-120"/>
              </a:rPr>
              <a:t>XLM-R: </a:t>
            </a:r>
            <a:r>
              <a:rPr lang="en-US" sz="1700" dirty="0">
                <a:solidFill>
                  <a:srgbClr val="1B2733"/>
                </a:solidFill>
                <a:latin typeface="Calibri" pitchFamily="34" charset="0"/>
                <a:ea typeface="Calibri" pitchFamily="34" charset="-122"/>
                <a:cs typeface="Calibri" pitchFamily="34" charset="-120"/>
              </a:rPr>
              <a:t>Pretraining: F1 giảm nhưng nhận ra thực thể mới gấp 3</a:t>
            </a:r>
            <a:endParaRPr lang="en-US" sz="1700" dirty="0"/>
          </a:p>
        </p:txBody>
      </p:sp>
      <p:sp>
        <p:nvSpPr>
          <p:cNvPr id="28" name="Shape 26"/>
          <p:cNvSpPr/>
          <p:nvPr/>
        </p:nvSpPr>
        <p:spPr>
          <a:xfrm>
            <a:off x="548640" y="4114800"/>
            <a:ext cx="502920" cy="502920"/>
          </a:xfrm>
          <a:prstGeom prst="ellipse">
            <a:avLst/>
          </a:prstGeom>
          <a:solidFill>
            <a:srgbClr val="2A9D8F"/>
          </a:solidFill>
          <a:ln w="12700">
            <a:solidFill>
              <a:srgbClr val="FFFFFF"/>
            </a:solidFill>
            <a:prstDash val="solid"/>
          </a:ln>
        </p:spPr>
      </p:sp>
      <p:sp>
        <p:nvSpPr>
          <p:cNvPr id="29" name="Text 27"/>
          <p:cNvSpPr txBox="1"/>
          <p:nvPr/>
        </p:nvSpPr>
        <p:spPr>
          <a:xfrm>
            <a:off x="548640" y="4114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0" name="Text 28"/>
          <p:cNvSpPr txBox="1"/>
          <p:nvPr/>
        </p:nvSpPr>
        <p:spPr>
          <a:xfrm>
            <a:off x="1234440" y="4041648"/>
            <a:ext cx="5760720" cy="640080"/>
          </a:xfrm>
          <a:prstGeom prst="rect">
            <a:avLst/>
          </a:prstGeom>
          <a:noFill/>
          <a:ln/>
        </p:spPr>
        <p:txBody>
          <a:bodyPr wrap="square" lIns="0" tIns="0" rIns="0" bIns="0" rtlCol="0" anchor="ctr"/>
          <a:lstStyle/>
          <a:p>
            <a:pPr indent="0" marL="0">
              <a:buNone/>
            </a:pPr>
            <a:r>
              <a:rPr lang="en-US" sz="1700" b="1" dirty="0">
                <a:solidFill>
                  <a:srgbClr val="0F2A3D"/>
                </a:solidFill>
                <a:latin typeface="Calibri" pitchFamily="34" charset="0"/>
                <a:ea typeface="Calibri" pitchFamily="34" charset="-122"/>
                <a:cs typeface="Calibri" pitchFamily="34" charset="-120"/>
              </a:rPr>
              <a:t>PhoBERT: </a:t>
            </a:r>
            <a:r>
              <a:rPr lang="en-US" sz="1700" dirty="0">
                <a:solidFill>
                  <a:srgbClr val="1B2733"/>
                </a:solidFill>
                <a:latin typeface="Calibri" pitchFamily="34" charset="0"/>
                <a:ea typeface="Calibri" pitchFamily="34" charset="-122"/>
                <a:cs typeface="Calibri" pitchFamily="34" charset="-120"/>
              </a:rPr>
              <a:t>Đúng ngôn ngữ: +3,8 điểm so với XLM-R</a:t>
            </a:r>
            <a:endParaRPr lang="en-US" sz="1700" dirty="0"/>
          </a:p>
        </p:txBody>
      </p:sp>
      <p:sp>
        <p:nvSpPr>
          <p:cNvPr id="31" name="Shape 29"/>
          <p:cNvSpPr/>
          <p:nvPr/>
        </p:nvSpPr>
        <p:spPr>
          <a:xfrm>
            <a:off x="548640" y="4828032"/>
            <a:ext cx="502920" cy="502920"/>
          </a:xfrm>
          <a:prstGeom prst="ellipse">
            <a:avLst/>
          </a:prstGeom>
          <a:solidFill>
            <a:srgbClr val="E4572E"/>
          </a:solidFill>
          <a:ln w="12700">
            <a:solidFill>
              <a:srgbClr val="FFFFFF"/>
            </a:solidFill>
            <a:prstDash val="solid"/>
          </a:ln>
        </p:spPr>
      </p:sp>
      <p:sp>
        <p:nvSpPr>
          <p:cNvPr id="32" name="Text 30"/>
          <p:cNvSpPr txBox="1"/>
          <p:nvPr/>
        </p:nvSpPr>
        <p:spPr>
          <a:xfrm>
            <a:off x="548640" y="48280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3" name="Text 31"/>
          <p:cNvSpPr txBox="1"/>
          <p:nvPr/>
        </p:nvSpPr>
        <p:spPr>
          <a:xfrm>
            <a:off x="1234440" y="4754880"/>
            <a:ext cx="5760720" cy="640080"/>
          </a:xfrm>
          <a:prstGeom prst="rect">
            <a:avLst/>
          </a:prstGeom>
          <a:noFill/>
          <a:ln/>
        </p:spPr>
        <p:txBody>
          <a:bodyPr wrap="square" lIns="0" tIns="0" rIns="0" bIns="0" rtlCol="0" anchor="ctr"/>
          <a:lstStyle/>
          <a:p>
            <a:pPr indent="0" marL="0">
              <a:buNone/>
            </a:pPr>
            <a:r>
              <a:rPr lang="en-US" sz="1700" b="1" dirty="0">
                <a:solidFill>
                  <a:srgbClr val="0F2A3D"/>
                </a:solidFill>
                <a:latin typeface="Calibri" pitchFamily="34" charset="0"/>
                <a:ea typeface="Calibri" pitchFamily="34" charset="-122"/>
                <a:cs typeface="Calibri" pitchFamily="34" charset="-120"/>
              </a:rPr>
              <a:t>ViHealthBERT: </a:t>
            </a:r>
            <a:r>
              <a:rPr lang="en-US" sz="1700" dirty="0">
                <a:solidFill>
                  <a:srgbClr val="1B2733"/>
                </a:solidFill>
                <a:latin typeface="Calibri" pitchFamily="34" charset="0"/>
                <a:ea typeface="Calibri" pitchFamily="34" charset="-122"/>
                <a:cs typeface="Calibri" pitchFamily="34" charset="-120"/>
              </a:rPr>
              <a:t>Đúng miền y tế: tổng quát hoá tốt nhất</a:t>
            </a:r>
            <a:endParaRPr lang="en-US" sz="1700" dirty="0"/>
          </a:p>
        </p:txBody>
      </p:sp>
      <p:sp>
        <p:nvSpPr>
          <p:cNvPr id="34" name="Shape 32"/>
          <p:cNvSpPr/>
          <p:nvPr/>
        </p:nvSpPr>
        <p:spPr>
          <a:xfrm>
            <a:off x="7223760" y="1188720"/>
            <a:ext cx="4434840" cy="2651760"/>
          </a:xfrm>
          <a:prstGeom prst="roundRect">
            <a:avLst>
              <a:gd name="adj" fmla="val 2759"/>
            </a:avLst>
          </a:prstGeom>
          <a:solidFill>
            <a:srgbClr val="FCE9E3"/>
          </a:solidFill>
          <a:ln w="12700">
            <a:solidFill>
              <a:srgbClr val="FCE9E3"/>
            </a:solidFill>
            <a:prstDash val="solid"/>
          </a:ln>
        </p:spPr>
      </p:sp>
      <p:sp>
        <p:nvSpPr>
          <p:cNvPr id="35" name="Text 33"/>
          <p:cNvSpPr txBox="1"/>
          <p:nvPr/>
        </p:nvSpPr>
        <p:spPr>
          <a:xfrm>
            <a:off x="7424928" y="1298448"/>
            <a:ext cx="4023360" cy="365760"/>
          </a:xfrm>
          <a:prstGeom prst="rect">
            <a:avLst/>
          </a:prstGeom>
          <a:noFill/>
          <a:ln/>
        </p:spPr>
        <p:txBody>
          <a:bodyPr wrap="square" lIns="0" tIns="0" rIns="0" bIns="0" rtlCol="0" anchor="ctr"/>
          <a:lstStyle/>
          <a:p>
            <a:pPr indent="0" marL="0">
              <a:buNone/>
            </a:pPr>
            <a:r>
              <a:rPr lang="en-US" sz="1700" b="1" dirty="0">
                <a:solidFill>
                  <a:srgbClr val="E4572E"/>
                </a:solidFill>
                <a:latin typeface="Cambria" pitchFamily="34" charset="0"/>
                <a:ea typeface="Cambria" pitchFamily="34" charset="-122"/>
                <a:cs typeface="Cambria" pitchFamily="34" charset="-120"/>
              </a:rPr>
              <a:t>Bậc 7 (hướng phát triển)</a:t>
            </a:r>
            <a:endParaRPr lang="en-US" sz="1700" dirty="0"/>
          </a:p>
        </p:txBody>
      </p:sp>
      <p:sp>
        <p:nvSpPr>
          <p:cNvPr id="36" name="Text 34"/>
          <p:cNvSpPr txBox="1"/>
          <p:nvPr/>
        </p:nvSpPr>
        <p:spPr>
          <a:xfrm>
            <a:off x="7424928" y="1719072"/>
            <a:ext cx="4069080" cy="2057400"/>
          </a:xfrm>
          <a:prstGeom prst="rect">
            <a:avLst/>
          </a:prstGeom>
          <a:noFill/>
          <a:ln/>
        </p:spPr>
        <p:txBody>
          <a:bodyPr wrap="square" lIns="635" tIns="635" rIns="635" bIns="635" rtlCol="0" anchor="t"/>
          <a:lstStyle/>
          <a:p>
            <a:pPr marL="203200" indent="-203200">
              <a:spcAft>
                <a:spcPts val="600"/>
              </a:spcAft>
              <a:buSzPct val="100000"/>
              <a:buChar char="•"/>
            </a:pPr>
            <a:r>
              <a:rPr lang="en-US" sz="1600" b="1" dirty="0">
                <a:solidFill>
                  <a:srgbClr val="1B2733"/>
                </a:solidFill>
                <a:latin typeface="Calibri" pitchFamily="34" charset="0"/>
                <a:ea typeface="Calibri" pitchFamily="34" charset="-122"/>
                <a:cs typeface="Calibri" pitchFamily="34" charset="-120"/>
              </a:rPr>
              <a:t>BERT-CRF:</a:t>
            </a:r>
            <a:r>
              <a:rPr lang="en-US" sz="1600" dirty="0">
                <a:solidFill>
                  <a:srgbClr val="1B2733"/>
                </a:solidFill>
                <a:latin typeface="Calibri" pitchFamily="34" charset="0"/>
                <a:ea typeface="Calibri" pitchFamily="34" charset="-122"/>
                <a:cs typeface="Calibri" pitchFamily="34" charset="-120"/>
              </a:rPr>
              <a:t> hiểu của ViHealthBERT + ranh giới của CRF</a:t>
            </a:r>
            <a:endParaRPr lang="en-US" sz="1600" dirty="0"/>
          </a:p>
          <a:p>
            <a:pPr marL="203200" indent="-2032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Trọng số lớp / oversampling cho lớp hiếm</a:t>
            </a:r>
            <a:endParaRPr lang="en-US" sz="1600" dirty="0"/>
          </a:p>
          <a:p>
            <a:pPr marL="203200" indent="-2032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Dữ liệu cùng miền test, từ điển thuật ngữ y khoa</a:t>
            </a:r>
            <a:endParaRPr lang="en-US" sz="1600" dirty="0"/>
          </a:p>
        </p:txBody>
      </p:sp>
      <p:sp>
        <p:nvSpPr>
          <p:cNvPr id="37" name="Shape 35"/>
          <p:cNvSpPr/>
          <p:nvPr/>
        </p:nvSpPr>
        <p:spPr>
          <a:xfrm>
            <a:off x="7223760" y="4023360"/>
            <a:ext cx="4434840" cy="2286000"/>
          </a:xfrm>
          <a:prstGeom prst="roundRect">
            <a:avLst>
              <a:gd name="adj" fmla="val 3200"/>
            </a:avLst>
          </a:prstGeom>
          <a:solidFill>
            <a:srgbClr val="E3F3F1"/>
          </a:solidFill>
          <a:ln w="12700">
            <a:solidFill>
              <a:srgbClr val="E3F3F1"/>
            </a:solidFill>
            <a:prstDash val="solid"/>
          </a:ln>
        </p:spPr>
      </p:sp>
      <p:sp>
        <p:nvSpPr>
          <p:cNvPr id="38" name="Text 36"/>
          <p:cNvSpPr txBox="1"/>
          <p:nvPr/>
        </p:nvSpPr>
        <p:spPr>
          <a:xfrm>
            <a:off x="7424928" y="4133088"/>
            <a:ext cx="4023360" cy="365760"/>
          </a:xfrm>
          <a:prstGeom prst="rect">
            <a:avLst/>
          </a:prstGeom>
          <a:noFill/>
          <a:ln/>
        </p:spPr>
        <p:txBody>
          <a:bodyPr wrap="square" lIns="0" tIns="0" rIns="0" bIns="0" rtlCol="0" anchor="ctr"/>
          <a:lstStyle/>
          <a:p>
            <a:pPr indent="0" marL="0">
              <a:buNone/>
            </a:pPr>
            <a:r>
              <a:rPr lang="en-US" sz="1700" b="1" dirty="0">
                <a:solidFill>
                  <a:srgbClr val="2A9D8F"/>
                </a:solidFill>
                <a:latin typeface="Cambria" pitchFamily="34" charset="0"/>
                <a:ea typeface="Cambria" pitchFamily="34" charset="-122"/>
                <a:cs typeface="Cambria" pitchFamily="34" charset="-120"/>
              </a:rPr>
              <a:t>Thông điệp</a:t>
            </a:r>
            <a:endParaRPr lang="en-US" sz="1700" dirty="0"/>
          </a:p>
        </p:txBody>
      </p:sp>
      <p:sp>
        <p:nvSpPr>
          <p:cNvPr id="39" name="Text 37"/>
          <p:cNvSpPr txBox="1"/>
          <p:nvPr/>
        </p:nvSpPr>
        <p:spPr>
          <a:xfrm>
            <a:off x="7424928" y="4553712"/>
            <a:ext cx="4069080" cy="1691640"/>
          </a:xfrm>
          <a:prstGeom prst="rect">
            <a:avLst/>
          </a:prstGeom>
          <a:noFill/>
          <a:ln/>
        </p:spPr>
        <p:txBody>
          <a:bodyPr wrap="square" lIns="0" tIns="0" rIns="0" bIns="0" rtlCol="0" anchor="t"/>
          <a:lstStyle/>
          <a:p>
            <a:pPr algn="l" indent="0" marL="0">
              <a:buNone/>
            </a:pPr>
            <a:r>
              <a:rPr lang="en-US" sz="1600" dirty="0">
                <a:solidFill>
                  <a:srgbClr val="1B2733"/>
                </a:solidFill>
                <a:latin typeface="Calibri" pitchFamily="34" charset="0"/>
                <a:ea typeface="Calibri" pitchFamily="34" charset="-122"/>
                <a:cs typeface="Calibri" pitchFamily="34" charset="-120"/>
              </a:rPr>
              <a:t>Nút thắt không nằm ở việc chọn mô hình mà ở </a:t>
            </a:r>
            <a:r>
              <a:rPr lang="en-US" sz="1600" b="1" dirty="0">
                <a:solidFill>
                  <a:srgbClr val="1B2733"/>
                </a:solidFill>
                <a:latin typeface="Calibri" pitchFamily="34" charset="0"/>
                <a:ea typeface="Calibri" pitchFamily="34" charset="-122"/>
                <a:cs typeface="Calibri" pitchFamily="34" charset="-120"/>
              </a:rPr>
              <a:t>dữ liệu</a:t>
            </a:r>
            <a:r>
              <a:rPr lang="en-US" sz="1600" dirty="0">
                <a:solidFill>
                  <a:srgbClr val="1B2733"/>
                </a:solidFill>
                <a:latin typeface="Calibri" pitchFamily="34" charset="0"/>
                <a:ea typeface="Calibri" pitchFamily="34" charset="-122"/>
                <a:cs typeface="Calibri" pitchFamily="34" charset="-120"/>
              </a:rPr>
              <a:t>: lệch miền, mất cân bằng, ranh giới nhãn mơ hồ. Leo thang giúp đo được đóng góp của từng yếu tố.</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2A3D"/>
        </a:solidFill>
      </p:bgPr>
    </p:bg>
    <p:spTree>
      <p:nvGrpSpPr>
        <p:cNvPr id="1" name=""/>
        <p:cNvGrpSpPr/>
        <p:nvPr/>
      </p:nvGrpSpPr>
      <p:grpSpPr>
        <a:xfrm>
          <a:off x="0" y="0"/>
          <a:ext cx="0" cy="0"/>
          <a:chOff x="0" y="0"/>
          <a:chExt cx="0" cy="0"/>
        </a:xfrm>
      </p:grpSpPr>
      <p:sp>
        <p:nvSpPr>
          <p:cNvPr id="2" name="Text 0"/>
          <p:cNvSpPr txBox="1"/>
          <p:nvPr/>
        </p:nvSpPr>
        <p:spPr>
          <a:xfrm>
            <a:off x="731520" y="2377440"/>
            <a:ext cx="10728655" cy="118872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Cảm ơn Thầy và Anh Chị đã lắng nghe!</a:t>
            </a:r>
            <a:endParaRPr lang="en-US" sz="4200" dirty="0"/>
          </a:p>
        </p:txBody>
      </p:sp>
      <p:sp>
        <p:nvSpPr>
          <p:cNvPr id="3" name="Text 1"/>
          <p:cNvSpPr txBox="1"/>
          <p:nvPr/>
        </p:nvSpPr>
        <p:spPr>
          <a:xfrm>
            <a:off x="731520" y="3657600"/>
            <a:ext cx="10728655" cy="548640"/>
          </a:xfrm>
          <a:prstGeom prst="rect">
            <a:avLst/>
          </a:prstGeom>
          <a:noFill/>
          <a:ln/>
        </p:spPr>
        <p:txBody>
          <a:bodyPr wrap="square" lIns="0" tIns="0" rIns="0" bIns="0" rtlCol="0" anchor="ctr"/>
          <a:lstStyle/>
          <a:p>
            <a:pPr algn="ctr" indent="0" marL="0">
              <a:buNone/>
            </a:pPr>
            <a:r>
              <a:rPr lang="en-US" sz="2200" dirty="0">
                <a:solidFill>
                  <a:srgbClr val="9FD8CF"/>
                </a:solidFill>
                <a:latin typeface="Calibri" pitchFamily="34" charset="0"/>
                <a:ea typeface="Calibri" pitchFamily="34" charset="-122"/>
                <a:cs typeface="Calibri" pitchFamily="34" charset="-120"/>
              </a:rPr>
              <a:t>Hỏi &amp; đáp</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Leo từng bậc: 6 mô hình nhận dạng thực thể y tế</dc:title>
  <dc:subject>PptxGenJS Presentation</dc:subject>
  <dc:creator>PptxGenJS</dc:creator>
  <cp:lastModifiedBy>PptxGenJS</cp:lastModifiedBy>
  <cp:revision>1</cp:revision>
  <dcterms:created xsi:type="dcterms:W3CDTF">2026-09-24T07:14:05Z</dcterms:created>
  <dcterms:modified xsi:type="dcterms:W3CDTF">2026-09-24T07:14:05Z</dcterms:modified>
</cp:coreProperties>
</file>